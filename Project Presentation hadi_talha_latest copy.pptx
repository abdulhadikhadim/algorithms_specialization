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4"/>
  </p:notesMasterIdLst>
  <p:handoutMasterIdLst>
    <p:handoutMasterId r:id="rId75"/>
  </p:handoutMasterIdLst>
  <p:sldIdLst>
    <p:sldId id="256" r:id="rId2"/>
    <p:sldId id="258" r:id="rId3"/>
    <p:sldId id="453" r:id="rId4"/>
    <p:sldId id="553" r:id="rId5"/>
    <p:sldId id="478" r:id="rId6"/>
    <p:sldId id="541" r:id="rId7"/>
    <p:sldId id="539" r:id="rId8"/>
    <p:sldId id="552" r:id="rId9"/>
    <p:sldId id="550" r:id="rId10"/>
    <p:sldId id="540" r:id="rId11"/>
    <p:sldId id="575" r:id="rId12"/>
    <p:sldId id="560" r:id="rId13"/>
    <p:sldId id="583" r:id="rId14"/>
    <p:sldId id="584" r:id="rId15"/>
    <p:sldId id="585" r:id="rId16"/>
    <p:sldId id="578" r:id="rId17"/>
    <p:sldId id="551" r:id="rId18"/>
    <p:sldId id="270" r:id="rId19"/>
    <p:sldId id="545" r:id="rId20"/>
    <p:sldId id="556" r:id="rId21"/>
    <p:sldId id="577" r:id="rId22"/>
    <p:sldId id="546" r:id="rId23"/>
    <p:sldId id="569" r:id="rId24"/>
    <p:sldId id="567" r:id="rId25"/>
    <p:sldId id="557" r:id="rId26"/>
    <p:sldId id="548" r:id="rId27"/>
    <p:sldId id="582" r:id="rId28"/>
    <p:sldId id="600" r:id="rId29"/>
    <p:sldId id="558" r:id="rId30"/>
    <p:sldId id="547" r:id="rId31"/>
    <p:sldId id="565" r:id="rId32"/>
    <p:sldId id="501" r:id="rId33"/>
    <p:sldId id="580" r:id="rId34"/>
    <p:sldId id="590" r:id="rId35"/>
    <p:sldId id="589" r:id="rId36"/>
    <p:sldId id="591" r:id="rId37"/>
    <p:sldId id="587" r:id="rId38"/>
    <p:sldId id="581" r:id="rId39"/>
    <p:sldId id="592" r:id="rId40"/>
    <p:sldId id="549" r:id="rId41"/>
    <p:sldId id="493" r:id="rId42"/>
    <p:sldId id="574" r:id="rId43"/>
    <p:sldId id="607" r:id="rId44"/>
    <p:sldId id="608" r:id="rId45"/>
    <p:sldId id="604" r:id="rId46"/>
    <p:sldId id="609" r:id="rId47"/>
    <p:sldId id="612" r:id="rId48"/>
    <p:sldId id="613" r:id="rId49"/>
    <p:sldId id="614" r:id="rId50"/>
    <p:sldId id="605" r:id="rId51"/>
    <p:sldId id="606" r:id="rId52"/>
    <p:sldId id="610" r:id="rId53"/>
    <p:sldId id="616" r:id="rId54"/>
    <p:sldId id="573" r:id="rId55"/>
    <p:sldId id="618" r:id="rId56"/>
    <p:sldId id="620" r:id="rId57"/>
    <p:sldId id="619" r:id="rId58"/>
    <p:sldId id="617" r:id="rId59"/>
    <p:sldId id="564" r:id="rId60"/>
    <p:sldId id="563" r:id="rId61"/>
    <p:sldId id="598" r:id="rId62"/>
    <p:sldId id="597" r:id="rId63"/>
    <p:sldId id="596" r:id="rId64"/>
    <p:sldId id="542" r:id="rId65"/>
    <p:sldId id="603" r:id="rId66"/>
    <p:sldId id="595" r:id="rId67"/>
    <p:sldId id="593" r:id="rId68"/>
    <p:sldId id="601" r:id="rId69"/>
    <p:sldId id="448" r:id="rId70"/>
    <p:sldId id="499" r:id="rId71"/>
    <p:sldId id="502" r:id="rId72"/>
    <p:sldId id="428" r:id="rId7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lha Farhat" initials="TF" lastIdx="1" clrIdx="0">
    <p:extLst>
      <p:ext uri="{19B8F6BF-5375-455C-9EA6-DF929625EA0E}">
        <p15:presenceInfo xmlns:p15="http://schemas.microsoft.com/office/powerpoint/2012/main" userId="S::talha.farhat@curemd.com::feddd1bc-556e-4875-8e0d-8195e5fd38b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CC5D12"/>
    <a:srgbClr val="34A6DC"/>
    <a:srgbClr val="6CBEE6"/>
    <a:srgbClr val="2EA2DB"/>
    <a:srgbClr val="57C3EA"/>
    <a:srgbClr val="84BAF1"/>
    <a:srgbClr val="66C6E8"/>
    <a:srgbClr val="57BCE6"/>
    <a:srgbClr val="57C3E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01" autoAdjust="0"/>
    <p:restoredTop sz="96323" autoAdjust="0"/>
  </p:normalViewPr>
  <p:slideViewPr>
    <p:cSldViewPr snapToGrid="0" snapToObjects="1">
      <p:cViewPr>
        <p:scale>
          <a:sx n="100" d="100"/>
          <a:sy n="100" d="100"/>
        </p:scale>
        <p:origin x="714" y="37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napToObjects="1">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5FEB92-9794-4C7C-8C57-A93208C96200}" type="datetimeFigureOut">
              <a:rPr lang="en-US" smtClean="0"/>
              <a:t>1/31/2025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44879C3-5D69-4D58-AD1C-C5425233C818}" type="slidenum">
              <a:rPr lang="en-US" smtClean="0"/>
              <a:t>‹#›</a:t>
            </a:fld>
            <a:endParaRPr lang="en-US"/>
          </a:p>
        </p:txBody>
      </p:sp>
    </p:spTree>
    <p:extLst>
      <p:ext uri="{BB962C8B-B14F-4D97-AF65-F5344CB8AC3E}">
        <p14:creationId xmlns:p14="http://schemas.microsoft.com/office/powerpoint/2010/main" val="8797676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9E92B92-7896-6246-9CC5-687CE76BB093}" type="datetimeFigureOut">
              <a:rPr lang="en-US" smtClean="0"/>
              <a:t>1/31/2025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63AA729-FF79-1146-A286-CCEF9A183414}" type="slidenum">
              <a:rPr lang="en-US" smtClean="0"/>
              <a:t>‹#›</a:t>
            </a:fld>
            <a:endParaRPr lang="en-US"/>
          </a:p>
        </p:txBody>
      </p:sp>
    </p:spTree>
    <p:extLst>
      <p:ext uri="{BB962C8B-B14F-4D97-AF65-F5344CB8AC3E}">
        <p14:creationId xmlns:p14="http://schemas.microsoft.com/office/powerpoint/2010/main" val="147459352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247e6f99ba_4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2247e6f99ba_4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9778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247e6f99ba_4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2247e6f99ba_4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9177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2.1 Predictive Models for Dengue Outbreaks: </a:t>
            </a:r>
            <a:r>
              <a:rPr lang="en-US" dirty="0" err="1"/>
              <a:t>Benedum</a:t>
            </a:r>
            <a:r>
              <a:rPr lang="en-US" dirty="0"/>
              <a:t> et al. (2020) investigated predictive models for dengue outbreaks in endemic regions such as Iquitos, Peru; San Juan, Puerto Rico; and Singapore. Their study compared the performance of machine learning models with traditional regression and time series models in forecasting weekly dengue case counts. Results demonstrated that ML models reduced prediction errors by 21% and 33% compared to regression and time series models, respectively, when using dengue surveillance data. Additionally, ML models excelled at long-term outbreak predictions, achieving a maximum Matthew’s Correlation Coefficient (MCC) of 0.61 for 12-week forecasts without relying on surveillance data. The findings underscored the adaptability of ML models in handling high-dimensional data and nonlinear relationships, positioning them as valuable tools for early warning systems in resource-limited settings [1]. </a:t>
            </a:r>
          </a:p>
          <a:p>
            <a:r>
              <a:rPr lang="en-US" b="1" dirty="0"/>
              <a:t>2.2 Predictive Models for Influenza Outbreaks: </a:t>
            </a:r>
            <a:r>
              <a:rPr lang="en-US" dirty="0"/>
              <a:t>Shaman and </a:t>
            </a:r>
            <a:r>
              <a:rPr lang="en-US" dirty="0" err="1"/>
              <a:t>Karspeck</a:t>
            </a:r>
            <a:r>
              <a:rPr lang="en-US" dirty="0"/>
              <a:t> (2012) presented a data assimilation framework for influenza outbreak forecasting using the ensemble adjustment Kalman filter (EAKF). The study incorporated real-time Google Flu Trends data to constrain a susceptible infectious-recovered-susceptible (SIRS) model, achieving reliable forecasts of peak timing up to seven weeks in advance. The integration of absolute humidity as a predictor highlighted its role in influenza transmission, aligning with the nonlinear dynamics of disease spread. Their results validated the utility of iterative data assimilation techniques in real-time forecasting, providing actionable insights for public health interventions [3]. </a:t>
            </a:r>
          </a:p>
          <a:p>
            <a:r>
              <a:rPr lang="en-US" b="1" dirty="0"/>
              <a:t>2.3 Transfer Learning in Low-Data Settings:</a:t>
            </a:r>
            <a:r>
              <a:rPr lang="en-US" dirty="0"/>
              <a:t> Roster et al. (2022) explored transfer learning to predict outbreaks of novel diseases such as Zika and COVID-19 in low-data settings. By leveraging knowledge from related diseases (e.g., dengue for Zika and influenza for COVID-19), the study demonstrated the potential of transfer learning to bridge data gaps during early outbreak stages. Techniques such as </a:t>
            </a:r>
            <a:r>
              <a:rPr lang="en-US" dirty="0" err="1"/>
              <a:t>TrAdaBoost</a:t>
            </a:r>
            <a:r>
              <a:rPr lang="en-US" dirty="0"/>
              <a:t> and fine-tuned neural networks improved prediction accuracy compared to models trained exclusively on target diseases. For instance, a random forest model trained on dengue data accurately predicted Zika outbreaks, while re-trained neural networks effectively forecasted COVID-19 cases using influenza data. The study emphasized the importance of selecting appropriate source diseases to maximize knowledge transfer effectiveness [2].</a:t>
            </a:r>
          </a:p>
        </p:txBody>
      </p:sp>
      <p:sp>
        <p:nvSpPr>
          <p:cNvPr id="4" name="Slide Number Placeholder 3"/>
          <p:cNvSpPr>
            <a:spLocks noGrp="1"/>
          </p:cNvSpPr>
          <p:nvPr>
            <p:ph type="sldNum" sz="quarter" idx="5"/>
          </p:nvPr>
        </p:nvSpPr>
        <p:spPr/>
        <p:txBody>
          <a:bodyPr/>
          <a:lstStyle/>
          <a:p>
            <a:fld id="{C63AA729-FF79-1146-A286-CCEF9A183414}" type="slidenum">
              <a:rPr lang="en-US" smtClean="0"/>
              <a:t>7</a:t>
            </a:fld>
            <a:endParaRPr lang="en-US"/>
          </a:p>
        </p:txBody>
      </p:sp>
    </p:spTree>
    <p:extLst>
      <p:ext uri="{BB962C8B-B14F-4D97-AF65-F5344CB8AC3E}">
        <p14:creationId xmlns:p14="http://schemas.microsoft.com/office/powerpoint/2010/main" val="547326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247e6f99ba_4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2247e6f99ba_4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4600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247e6f99ba_4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2247e6f99ba_4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6298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247e6f99ba_4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2247e6f99ba_4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7754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247e6f99ba_4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2247e6f99ba_4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247e6f99ba_4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2247e6f99ba_4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71922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247e6f99ba_4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2247e6f99ba_4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6577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247e6f99ba_4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2247e6f99ba_4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1303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247e6f99ba_4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2247e6f99ba_4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37615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247e6f99ba_4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2247e6f99ba_4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4953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247e6f99ba_4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2247e6f99ba_4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11940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247e6f99ba_4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2247e6f99ba_4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0461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2247e6f99ba_6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5" name="Google Shape;385;g2247e6f99ba_6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640934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January 22, 2025</a:t>
            </a: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88279435-30EF-C241-87D1-8D13B984C0EB}" type="slidenum">
              <a:rPr lang="en-US" smtClean="0"/>
              <a:t>‹#›</a:t>
            </a:fld>
            <a:endParaRPr lang="en-US"/>
          </a:p>
        </p:txBody>
      </p:sp>
      <p:sp>
        <p:nvSpPr>
          <p:cNvPr id="7" name="Rectangle 6"/>
          <p:cNvSpPr/>
          <p:nvPr userDrawn="1"/>
        </p:nvSpPr>
        <p:spPr>
          <a:xfrm>
            <a:off x="8925" y="5245768"/>
            <a:ext cx="12192000" cy="1612232"/>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bg1"/>
              </a:solidFill>
            </a:endParaRPr>
          </a:p>
        </p:txBody>
      </p:sp>
      <p:sp>
        <p:nvSpPr>
          <p:cNvPr id="17" name="Title 1"/>
          <p:cNvSpPr>
            <a:spLocks noGrp="1"/>
          </p:cNvSpPr>
          <p:nvPr>
            <p:ph type="ctrTitle"/>
          </p:nvPr>
        </p:nvSpPr>
        <p:spPr>
          <a:xfrm>
            <a:off x="886714" y="2140770"/>
            <a:ext cx="10363200" cy="1470025"/>
          </a:xfrm>
        </p:spPr>
        <p:txBody>
          <a:bodyPr/>
          <a:lstStyle>
            <a:lvl1pPr>
              <a:defRPr>
                <a:solidFill>
                  <a:schemeClr val="tx1"/>
                </a:solidFill>
              </a:defRPr>
            </a:lvl1pPr>
          </a:lstStyle>
          <a:p>
            <a:r>
              <a:rPr lang="en-US" dirty="0"/>
              <a:t>Click to edit Master title style</a:t>
            </a:r>
          </a:p>
        </p:txBody>
      </p:sp>
      <p:sp>
        <p:nvSpPr>
          <p:cNvPr id="18"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22" name="Picture 21"/>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0" y="-486526"/>
            <a:ext cx="12192000" cy="2351891"/>
          </a:xfrm>
          <a:prstGeom prst="rect">
            <a:avLst/>
          </a:prstGeom>
        </p:spPr>
      </p:pic>
      <p:grpSp>
        <p:nvGrpSpPr>
          <p:cNvPr id="24" name="Group 9"/>
          <p:cNvGrpSpPr>
            <a:grpSpLocks noChangeAspect="1"/>
          </p:cNvGrpSpPr>
          <p:nvPr userDrawn="1"/>
        </p:nvGrpSpPr>
        <p:grpSpPr bwMode="hidden">
          <a:xfrm flipH="1">
            <a:off x="0" y="860931"/>
            <a:ext cx="12192000" cy="101504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sz="1800"/>
            </a:p>
          </p:txBody>
        </p:sp>
        <p:sp useBgFill="1">
          <p:nvSpPr>
            <p:cNvPr id="29"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sz="1800" dirty="0"/>
            </a:p>
          </p:txBody>
        </p:sp>
      </p:grpSp>
      <p:pic>
        <p:nvPicPr>
          <p:cNvPr id="19" name="Picture 18">
            <a:extLst>
              <a:ext uri="{FF2B5EF4-FFF2-40B4-BE49-F238E27FC236}">
                <a16:creationId xmlns:a16="http://schemas.microsoft.com/office/drawing/2014/main" id="{6918C9B6-A29F-7C4A-A83A-CABDDEA1F9BF}"/>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contrast="-40000"/>
                    </a14:imgEffect>
                  </a14:imgLayer>
                </a14:imgProps>
              </a:ext>
            </a:extLst>
          </a:blip>
          <a:srcRect/>
          <a:stretch/>
        </p:blipFill>
        <p:spPr>
          <a:xfrm>
            <a:off x="10363729" y="6298250"/>
            <a:ext cx="1284797" cy="284345"/>
          </a:xfrm>
          <a:prstGeom prst="rect">
            <a:avLst/>
          </a:prstGeom>
        </p:spPr>
      </p:pic>
    </p:spTree>
    <p:extLst>
      <p:ext uri="{BB962C8B-B14F-4D97-AF65-F5344CB8AC3E}">
        <p14:creationId xmlns:p14="http://schemas.microsoft.com/office/powerpoint/2010/main" val="2398555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7D9D4D0F-0B89-49D7-8B1E-A93CD70A0CCB}"/>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0" y="2"/>
            <a:ext cx="12192000" cy="444843"/>
          </a:xfrm>
          <a:prstGeom prst="rect">
            <a:avLst/>
          </a:prstGeom>
        </p:spPr>
      </p:pic>
      <p:sp>
        <p:nvSpPr>
          <p:cNvPr id="3" name="Content Placeholder 2"/>
          <p:cNvSpPr>
            <a:spLocks noGrp="1"/>
          </p:cNvSpPr>
          <p:nvPr>
            <p:ph idx="1"/>
          </p:nvPr>
        </p:nvSpPr>
        <p:spPr>
          <a:xfrm>
            <a:off x="609600" y="988383"/>
            <a:ext cx="10972800" cy="498635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en-US" dirty="0"/>
              <a:t>January 22, 2025</a:t>
            </a:r>
          </a:p>
        </p:txBody>
      </p:sp>
      <p:sp>
        <p:nvSpPr>
          <p:cNvPr id="6" name="Slide Number Placeholder 5"/>
          <p:cNvSpPr>
            <a:spLocks noGrp="1"/>
          </p:cNvSpPr>
          <p:nvPr>
            <p:ph type="sldNum" sz="quarter" idx="12"/>
          </p:nvPr>
        </p:nvSpPr>
        <p:spPr>
          <a:xfrm>
            <a:off x="4673600" y="6356350"/>
            <a:ext cx="2844800" cy="365125"/>
          </a:xfrm>
        </p:spPr>
        <p:txBody>
          <a:bodyPr/>
          <a:lstStyle>
            <a:lvl1pPr algn="ctr">
              <a:defRPr/>
            </a:lvl1pPr>
          </a:lstStyle>
          <a:p>
            <a:fld id="{88279435-30EF-C241-87D1-8D13B984C0EB}" type="slidenum">
              <a:rPr lang="en-US" smtClean="0"/>
              <a:pPr/>
              <a:t>‹#›</a:t>
            </a:fld>
            <a:endParaRPr lang="en-US"/>
          </a:p>
        </p:txBody>
      </p:sp>
      <p:pic>
        <p:nvPicPr>
          <p:cNvPr id="16" name="Picture 15">
            <a:extLst>
              <a:ext uri="{FF2B5EF4-FFF2-40B4-BE49-F238E27FC236}">
                <a16:creationId xmlns:a16="http://schemas.microsoft.com/office/drawing/2014/main" id="{095D00C3-9D6E-1340-9EBD-DD3D424F3FE9}"/>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contrast="-40000"/>
                    </a14:imgEffect>
                  </a14:imgLayer>
                </a14:imgProps>
              </a:ext>
            </a:extLst>
          </a:blip>
          <a:srcRect/>
          <a:stretch/>
        </p:blipFill>
        <p:spPr>
          <a:xfrm>
            <a:off x="10363729" y="6298250"/>
            <a:ext cx="1284797" cy="284345"/>
          </a:xfrm>
          <a:prstGeom prst="rect">
            <a:avLst/>
          </a:prstGeom>
        </p:spPr>
      </p:pic>
      <p:pic>
        <p:nvPicPr>
          <p:cNvPr id="45" name="Picture 44">
            <a:extLst>
              <a:ext uri="{FF2B5EF4-FFF2-40B4-BE49-F238E27FC236}">
                <a16:creationId xmlns:a16="http://schemas.microsoft.com/office/drawing/2014/main" id="{5B57C765-4AE1-424A-B6E6-3E036EBE8FC3}"/>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0" y="2"/>
            <a:ext cx="12192000" cy="862012"/>
          </a:xfrm>
          <a:prstGeom prst="rect">
            <a:avLst/>
          </a:prstGeom>
        </p:spPr>
      </p:pic>
      <p:sp>
        <p:nvSpPr>
          <p:cNvPr id="47" name="Title Placeholder 1">
            <a:extLst>
              <a:ext uri="{FF2B5EF4-FFF2-40B4-BE49-F238E27FC236}">
                <a16:creationId xmlns:a16="http://schemas.microsoft.com/office/drawing/2014/main" id="{D2B83DE4-60DC-43FF-A807-226486F322C4}"/>
              </a:ext>
            </a:extLst>
          </p:cNvPr>
          <p:cNvSpPr>
            <a:spLocks noGrp="1"/>
          </p:cNvSpPr>
          <p:nvPr>
            <p:ph type="title"/>
          </p:nvPr>
        </p:nvSpPr>
        <p:spPr>
          <a:xfrm>
            <a:off x="643467" y="126371"/>
            <a:ext cx="10972800" cy="607722"/>
          </a:xfrm>
          <a:prstGeom prst="rect">
            <a:avLst/>
          </a:prstGeom>
        </p:spPr>
        <p:txBody>
          <a:bodyPr vert="horz" lIns="91440" tIns="45720" rIns="91440" bIns="45720" rtlCol="0" anchor="ctr">
            <a:noAutofit/>
          </a:bodyPr>
          <a:lstStyle/>
          <a:p>
            <a:r>
              <a:rPr lang="en-US" dirty="0"/>
              <a:t>Click to edit Master title style</a:t>
            </a:r>
          </a:p>
        </p:txBody>
      </p:sp>
    </p:spTree>
    <p:extLst>
      <p:ext uri="{BB962C8B-B14F-4D97-AF65-F5344CB8AC3E}">
        <p14:creationId xmlns:p14="http://schemas.microsoft.com/office/powerpoint/2010/main" val="3448063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dirty="0"/>
              <a:t>January 22, 2025</a:t>
            </a:r>
          </a:p>
        </p:txBody>
      </p:sp>
      <p:sp>
        <p:nvSpPr>
          <p:cNvPr id="6" name="Slide Number Placeholder 5"/>
          <p:cNvSpPr>
            <a:spLocks noGrp="1"/>
          </p:cNvSpPr>
          <p:nvPr>
            <p:ph type="sldNum" sz="quarter" idx="12"/>
          </p:nvPr>
        </p:nvSpPr>
        <p:spPr/>
        <p:txBody>
          <a:bodyPr/>
          <a:lstStyle/>
          <a:p>
            <a:fld id="{88279435-30EF-C241-87D1-8D13B984C0EB}" type="slidenum">
              <a:rPr lang="en-US" smtClean="0"/>
              <a:t>‹#›</a:t>
            </a:fld>
            <a:endParaRPr lang="en-US" dirty="0"/>
          </a:p>
        </p:txBody>
      </p:sp>
    </p:spTree>
    <p:extLst>
      <p:ext uri="{BB962C8B-B14F-4D97-AF65-F5344CB8AC3E}">
        <p14:creationId xmlns:p14="http://schemas.microsoft.com/office/powerpoint/2010/main" val="2299305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dirty="0"/>
              <a:t>January 22, 2025</a:t>
            </a:r>
          </a:p>
        </p:txBody>
      </p:sp>
      <p:sp>
        <p:nvSpPr>
          <p:cNvPr id="7" name="Slide Number Placeholder 6"/>
          <p:cNvSpPr>
            <a:spLocks noGrp="1"/>
          </p:cNvSpPr>
          <p:nvPr>
            <p:ph type="sldNum" sz="quarter" idx="12"/>
          </p:nvPr>
        </p:nvSpPr>
        <p:spPr/>
        <p:txBody>
          <a:bodyPr/>
          <a:lstStyle/>
          <a:p>
            <a:fld id="{88279435-30EF-C241-87D1-8D13B984C0EB}" type="slidenum">
              <a:rPr lang="en-US" smtClean="0"/>
              <a:t>‹#›</a:t>
            </a:fld>
            <a:endParaRPr lang="en-US"/>
          </a:p>
        </p:txBody>
      </p:sp>
    </p:spTree>
    <p:extLst>
      <p:ext uri="{BB962C8B-B14F-4D97-AF65-F5344CB8AC3E}">
        <p14:creationId xmlns:p14="http://schemas.microsoft.com/office/powerpoint/2010/main" val="1137448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dirty="0"/>
              <a:t>January 22, 2025</a:t>
            </a:r>
          </a:p>
        </p:txBody>
      </p:sp>
      <p:sp>
        <p:nvSpPr>
          <p:cNvPr id="9" name="Slide Number Placeholder 8"/>
          <p:cNvSpPr>
            <a:spLocks noGrp="1"/>
          </p:cNvSpPr>
          <p:nvPr>
            <p:ph type="sldNum" sz="quarter" idx="12"/>
          </p:nvPr>
        </p:nvSpPr>
        <p:spPr/>
        <p:txBody>
          <a:bodyPr/>
          <a:lstStyle/>
          <a:p>
            <a:fld id="{88279435-30EF-C241-87D1-8D13B984C0EB}" type="slidenum">
              <a:rPr lang="en-US" smtClean="0"/>
              <a:t>‹#›</a:t>
            </a:fld>
            <a:endParaRPr lang="en-US"/>
          </a:p>
        </p:txBody>
      </p:sp>
    </p:spTree>
    <p:extLst>
      <p:ext uri="{BB962C8B-B14F-4D97-AF65-F5344CB8AC3E}">
        <p14:creationId xmlns:p14="http://schemas.microsoft.com/office/powerpoint/2010/main" val="3102219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userDrawn="1"/>
        </p:nvSpPr>
        <p:spPr>
          <a:xfrm>
            <a:off x="0" y="5622878"/>
            <a:ext cx="12192000" cy="123512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dirty="0"/>
              <a:t>January 22, 2025</a:t>
            </a:r>
          </a:p>
        </p:txBody>
      </p:sp>
      <p:sp>
        <p:nvSpPr>
          <p:cNvPr id="5" name="Slide Number Placeholder 4"/>
          <p:cNvSpPr>
            <a:spLocks noGrp="1"/>
          </p:cNvSpPr>
          <p:nvPr>
            <p:ph type="sldNum" sz="quarter" idx="12"/>
          </p:nvPr>
        </p:nvSpPr>
        <p:spPr/>
        <p:txBody>
          <a:bodyPr/>
          <a:lstStyle/>
          <a:p>
            <a:fld id="{88279435-30EF-C241-87D1-8D13B984C0EB}" type="slidenum">
              <a:rPr lang="en-US" smtClean="0"/>
              <a:t>‹#›</a:t>
            </a:fld>
            <a:endParaRPr lang="en-US"/>
          </a:p>
        </p:txBody>
      </p:sp>
      <p:pic>
        <p:nvPicPr>
          <p:cNvPr id="7" name="Picture 6">
            <a:extLst>
              <a:ext uri="{FF2B5EF4-FFF2-40B4-BE49-F238E27FC236}">
                <a16:creationId xmlns:a16="http://schemas.microsoft.com/office/drawing/2014/main" id="{27C3EDF7-D7E7-4268-8C0C-0D74B3422564}"/>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rcRect/>
          <a:stretch/>
        </p:blipFill>
        <p:spPr>
          <a:xfrm>
            <a:off x="10460441" y="6271874"/>
            <a:ext cx="1284797" cy="284345"/>
          </a:xfrm>
          <a:prstGeom prst="rect">
            <a:avLst/>
          </a:prstGeom>
        </p:spPr>
      </p:pic>
    </p:spTree>
    <p:extLst>
      <p:ext uri="{BB962C8B-B14F-4D97-AF65-F5344CB8AC3E}">
        <p14:creationId xmlns:p14="http://schemas.microsoft.com/office/powerpoint/2010/main" val="3517078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dirty="0"/>
              <a:t>January 22, 2025</a:t>
            </a:r>
          </a:p>
        </p:txBody>
      </p:sp>
      <p:sp>
        <p:nvSpPr>
          <p:cNvPr id="4" name="Slide Number Placeholder 3"/>
          <p:cNvSpPr>
            <a:spLocks noGrp="1"/>
          </p:cNvSpPr>
          <p:nvPr>
            <p:ph type="sldNum" sz="quarter" idx="12"/>
          </p:nvPr>
        </p:nvSpPr>
        <p:spPr/>
        <p:txBody>
          <a:bodyPr/>
          <a:lstStyle/>
          <a:p>
            <a:fld id="{88279435-30EF-C241-87D1-8D13B984C0EB}" type="slidenum">
              <a:rPr lang="en-US" smtClean="0"/>
              <a:t>‹#›</a:t>
            </a:fld>
            <a:endParaRPr lang="en-US"/>
          </a:p>
        </p:txBody>
      </p:sp>
    </p:spTree>
    <p:extLst>
      <p:ext uri="{BB962C8B-B14F-4D97-AF65-F5344CB8AC3E}">
        <p14:creationId xmlns:p14="http://schemas.microsoft.com/office/powerpoint/2010/main" val="2864472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January 22, 2025</a:t>
            </a:r>
          </a:p>
        </p:txBody>
      </p:sp>
      <p:sp>
        <p:nvSpPr>
          <p:cNvPr id="7" name="Slide Number Placeholder 6"/>
          <p:cNvSpPr>
            <a:spLocks noGrp="1"/>
          </p:cNvSpPr>
          <p:nvPr>
            <p:ph type="sldNum" sz="quarter" idx="12"/>
          </p:nvPr>
        </p:nvSpPr>
        <p:spPr/>
        <p:txBody>
          <a:bodyPr/>
          <a:lstStyle/>
          <a:p>
            <a:fld id="{88279435-30EF-C241-87D1-8D13B984C0EB}" type="slidenum">
              <a:rPr lang="en-US" smtClean="0"/>
              <a:t>‹#›</a:t>
            </a:fld>
            <a:endParaRPr lang="en-US"/>
          </a:p>
        </p:txBody>
      </p:sp>
    </p:spTree>
    <p:extLst>
      <p:ext uri="{BB962C8B-B14F-4D97-AF65-F5344CB8AC3E}">
        <p14:creationId xmlns:p14="http://schemas.microsoft.com/office/powerpoint/2010/main" val="2167766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January 22, 2025</a:t>
            </a:r>
          </a:p>
        </p:txBody>
      </p:sp>
      <p:sp>
        <p:nvSpPr>
          <p:cNvPr id="7" name="Slide Number Placeholder 6"/>
          <p:cNvSpPr>
            <a:spLocks noGrp="1"/>
          </p:cNvSpPr>
          <p:nvPr>
            <p:ph type="sldNum" sz="quarter" idx="12"/>
          </p:nvPr>
        </p:nvSpPr>
        <p:spPr/>
        <p:txBody>
          <a:bodyPr/>
          <a:lstStyle/>
          <a:p>
            <a:fld id="{88279435-30EF-C241-87D1-8D13B984C0EB}" type="slidenum">
              <a:rPr lang="en-US" smtClean="0"/>
              <a:t>‹#›</a:t>
            </a:fld>
            <a:endParaRPr lang="en-US"/>
          </a:p>
        </p:txBody>
      </p:sp>
    </p:spTree>
    <p:extLst>
      <p:ext uri="{BB962C8B-B14F-4D97-AF65-F5344CB8AC3E}">
        <p14:creationId xmlns:p14="http://schemas.microsoft.com/office/powerpoint/2010/main" val="2920785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dirty="0"/>
              <a:t>January 22, 2025</a:t>
            </a:r>
          </a:p>
        </p:txBody>
      </p:sp>
      <p:sp>
        <p:nvSpPr>
          <p:cNvPr id="6" name="Slide Number Placeholder 5"/>
          <p:cNvSpPr>
            <a:spLocks noGrp="1"/>
          </p:cNvSpPr>
          <p:nvPr>
            <p:ph type="sldNum" sz="quarter" idx="12"/>
          </p:nvPr>
        </p:nvSpPr>
        <p:spPr/>
        <p:txBody>
          <a:bodyPr/>
          <a:lstStyle/>
          <a:p>
            <a:fld id="{88279435-30EF-C241-87D1-8D13B984C0EB}" type="slidenum">
              <a:rPr lang="en-US" smtClean="0"/>
              <a:t>‹#›</a:t>
            </a:fld>
            <a:endParaRPr lang="en-US"/>
          </a:p>
        </p:txBody>
      </p:sp>
    </p:spTree>
    <p:extLst>
      <p:ext uri="{BB962C8B-B14F-4D97-AF65-F5344CB8AC3E}">
        <p14:creationId xmlns:p14="http://schemas.microsoft.com/office/powerpoint/2010/main" val="238535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dirty="0"/>
              <a:t>January 22, 2025</a:t>
            </a:r>
          </a:p>
        </p:txBody>
      </p:sp>
      <p:sp>
        <p:nvSpPr>
          <p:cNvPr id="6" name="Slide Number Placeholder 5"/>
          <p:cNvSpPr>
            <a:spLocks noGrp="1"/>
          </p:cNvSpPr>
          <p:nvPr>
            <p:ph type="sldNum" sz="quarter" idx="12"/>
          </p:nvPr>
        </p:nvSpPr>
        <p:spPr/>
        <p:txBody>
          <a:bodyPr/>
          <a:lstStyle/>
          <a:p>
            <a:fld id="{88279435-30EF-C241-87D1-8D13B984C0EB}" type="slidenum">
              <a:rPr lang="en-US" smtClean="0"/>
              <a:t>‹#›</a:t>
            </a:fld>
            <a:endParaRPr lang="en-US"/>
          </a:p>
        </p:txBody>
      </p:sp>
    </p:spTree>
    <p:extLst>
      <p:ext uri="{BB962C8B-B14F-4D97-AF65-F5344CB8AC3E}">
        <p14:creationId xmlns:p14="http://schemas.microsoft.com/office/powerpoint/2010/main" val="1214720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January 22, 2025</a:t>
            </a: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88279435-30EF-C241-87D1-8D13B984C0EB}" type="slidenum">
              <a:rPr lang="en-US" smtClean="0"/>
              <a:t>‹#›</a:t>
            </a:fld>
            <a:endParaRPr lang="en-US"/>
          </a:p>
        </p:txBody>
      </p:sp>
      <p:sp>
        <p:nvSpPr>
          <p:cNvPr id="7" name="Rectangle 6"/>
          <p:cNvSpPr/>
          <p:nvPr userDrawn="1"/>
        </p:nvSpPr>
        <p:spPr>
          <a:xfrm>
            <a:off x="0" y="5245768"/>
            <a:ext cx="12192000" cy="1612232"/>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bg1"/>
              </a:solidFill>
            </a:endParaRPr>
          </a:p>
        </p:txBody>
      </p:sp>
      <p:sp>
        <p:nvSpPr>
          <p:cNvPr id="17" name="Title 1"/>
          <p:cNvSpPr>
            <a:spLocks noGrp="1"/>
          </p:cNvSpPr>
          <p:nvPr>
            <p:ph type="ctrTitle"/>
          </p:nvPr>
        </p:nvSpPr>
        <p:spPr>
          <a:xfrm>
            <a:off x="914400" y="2130426"/>
            <a:ext cx="10363200" cy="1470025"/>
          </a:xfrm>
        </p:spPr>
        <p:txBody>
          <a:bodyPr/>
          <a:lstStyle/>
          <a:p>
            <a:r>
              <a:rPr lang="en-US"/>
              <a:t>Click to edit Master title style</a:t>
            </a:r>
          </a:p>
        </p:txBody>
      </p:sp>
      <p:sp>
        <p:nvSpPr>
          <p:cNvPr id="18"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21" name="Slide Number Placeholder 5"/>
          <p:cNvSpPr txBox="1">
            <a:spLocks/>
          </p:cNvSpPr>
          <p:nvPr userDrawn="1"/>
        </p:nvSpPr>
        <p:spPr>
          <a:xfrm>
            <a:off x="8737600" y="6356351"/>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FE35DC9-8D54-45EF-A345-7AC5A9ADAFE8}" type="slidenum">
              <a:rPr lang="en-US" altLang="en-US" sz="1200" smtClean="0"/>
              <a:pPr/>
              <a:t>‹#›</a:t>
            </a:fld>
            <a:endParaRPr lang="en-US" altLang="en-US" sz="1200"/>
          </a:p>
        </p:txBody>
      </p:sp>
      <p:pic>
        <p:nvPicPr>
          <p:cNvPr id="22" name="Picture 21"/>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0" y="25400"/>
            <a:ext cx="12192000" cy="3327400"/>
          </a:xfrm>
          <a:prstGeom prst="rect">
            <a:avLst/>
          </a:prstGeom>
        </p:spPr>
      </p:pic>
      <p:grpSp>
        <p:nvGrpSpPr>
          <p:cNvPr id="24" name="Group 9"/>
          <p:cNvGrpSpPr>
            <a:grpSpLocks noChangeAspect="1"/>
          </p:cNvGrpSpPr>
          <p:nvPr userDrawn="1"/>
        </p:nvGrpSpPr>
        <p:grpSpPr bwMode="hidden">
          <a:xfrm flipH="1">
            <a:off x="-1" y="2819400"/>
            <a:ext cx="12192000" cy="101504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sz="1800"/>
            </a:p>
          </p:txBody>
        </p:sp>
        <p:sp useBgFill="1">
          <p:nvSpPr>
            <p:cNvPr id="29"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sz="1800" dirty="0"/>
            </a:p>
          </p:txBody>
        </p:sp>
      </p:grpSp>
      <p:pic>
        <p:nvPicPr>
          <p:cNvPr id="19" name="Picture 18">
            <a:extLst>
              <a:ext uri="{FF2B5EF4-FFF2-40B4-BE49-F238E27FC236}">
                <a16:creationId xmlns:a16="http://schemas.microsoft.com/office/drawing/2014/main" id="{6918C9B6-A29F-7C4A-A83A-CABDDEA1F9BF}"/>
              </a:ext>
            </a:extLst>
          </p:cNvPr>
          <p:cNvPicPr>
            <a:picLocks noChangeAspect="1"/>
          </p:cNvPicPr>
          <p:nvPr userDrawn="1"/>
        </p:nvPicPr>
        <p:blipFill>
          <a:blip r:embed="rId4"/>
          <a:srcRect/>
          <a:stretch/>
        </p:blipFill>
        <p:spPr>
          <a:xfrm>
            <a:off x="10363729" y="6298250"/>
            <a:ext cx="1284797" cy="284345"/>
          </a:xfrm>
          <a:prstGeom prst="rect">
            <a:avLst/>
          </a:prstGeom>
        </p:spPr>
      </p:pic>
    </p:spTree>
    <p:extLst>
      <p:ext uri="{BB962C8B-B14F-4D97-AF65-F5344CB8AC3E}">
        <p14:creationId xmlns:p14="http://schemas.microsoft.com/office/powerpoint/2010/main" val="1059362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p:cSld name="2_Title Slide">
    <p:spTree>
      <p:nvGrpSpPr>
        <p:cNvPr id="1" name="Shape 57"/>
        <p:cNvGrpSpPr/>
        <p:nvPr/>
      </p:nvGrpSpPr>
      <p:grpSpPr>
        <a:xfrm>
          <a:off x="0" y="0"/>
          <a:ext cx="0" cy="0"/>
          <a:chOff x="0" y="0"/>
          <a:chExt cx="0" cy="0"/>
        </a:xfrm>
      </p:grpSpPr>
      <p:sp>
        <p:nvSpPr>
          <p:cNvPr id="58" name="Google Shape;58;p14"/>
          <p:cNvSpPr txBox="1">
            <a:spLocks noGrp="1"/>
          </p:cNvSpPr>
          <p:nvPr>
            <p:ph type="dt" idx="10"/>
          </p:nvPr>
        </p:nvSpPr>
        <p:spPr>
          <a:xfrm>
            <a:off x="609600" y="6356351"/>
            <a:ext cx="2844800" cy="365125"/>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Google Shape;59;p14"/>
          <p:cNvSpPr txBox="1">
            <a:spLocks noGrp="1"/>
          </p:cNvSpPr>
          <p:nvPr>
            <p:ph type="ftr" idx="11"/>
          </p:nvPr>
        </p:nvSpPr>
        <p:spPr>
          <a:xfrm>
            <a:off x="4165600" y="6356351"/>
            <a:ext cx="3860800" cy="365125"/>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867" b="0" i="0" u="none" strike="noStrike" cap="none">
                <a:solidFill>
                  <a:schemeClr val="dk1"/>
                </a:solidFill>
                <a:latin typeface="Calibri"/>
                <a:ea typeface="Calibri"/>
                <a:cs typeface="Calibri"/>
                <a:sym typeface="Calibri"/>
              </a:defRPr>
            </a:lvl1pPr>
            <a:lvl2pPr marR="0" lvl="1" algn="l" rtl="0">
              <a:spcBef>
                <a:spcPts val="0"/>
              </a:spcBef>
              <a:spcAft>
                <a:spcPts val="0"/>
              </a:spcAft>
              <a:buSzPts val="1100"/>
              <a:buNone/>
              <a:defRPr sz="1867"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867"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867"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867"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867"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867"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867"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867" b="0" i="0" u="none" strike="noStrike" cap="none">
                <a:solidFill>
                  <a:schemeClr val="dk1"/>
                </a:solidFill>
                <a:latin typeface="Calibri"/>
                <a:ea typeface="Calibri"/>
                <a:cs typeface="Calibri"/>
                <a:sym typeface="Calibri"/>
              </a:defRPr>
            </a:lvl9pPr>
          </a:lstStyle>
          <a:p>
            <a:endParaRPr/>
          </a:p>
        </p:txBody>
      </p:sp>
      <p:sp>
        <p:nvSpPr>
          <p:cNvPr id="60" name="Google Shape;60;p14"/>
          <p:cNvSpPr txBox="1">
            <a:spLocks noGrp="1"/>
          </p:cNvSpPr>
          <p:nvPr>
            <p:ph type="sldNum" idx="12"/>
          </p:nvPr>
        </p:nvSpPr>
        <p:spPr>
          <a:xfrm>
            <a:off x="4673600" y="6356351"/>
            <a:ext cx="2844800" cy="365125"/>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n" smtClean="0"/>
              <a:pPr/>
              <a:t>‹#›</a:t>
            </a:fld>
            <a:endParaRPr lang="en"/>
          </a:p>
        </p:txBody>
      </p:sp>
      <p:sp>
        <p:nvSpPr>
          <p:cNvPr id="61" name="Google Shape;61;p14"/>
          <p:cNvSpPr/>
          <p:nvPr/>
        </p:nvSpPr>
        <p:spPr>
          <a:xfrm>
            <a:off x="8925" y="5245768"/>
            <a:ext cx="12192000" cy="1612232"/>
          </a:xfrm>
          <a:prstGeom prst="rect">
            <a:avLst/>
          </a:prstGeom>
          <a:solidFill>
            <a:schemeClr val="lt1"/>
          </a:solidFill>
          <a:ln w="9525" cap="flat" cmpd="sng">
            <a:solidFill>
              <a:schemeClr val="lt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sp>
        <p:nvSpPr>
          <p:cNvPr id="62" name="Google Shape;62;p14"/>
          <p:cNvSpPr txBox="1">
            <a:spLocks noGrp="1"/>
          </p:cNvSpPr>
          <p:nvPr>
            <p:ph type="ctrTitle"/>
          </p:nvPr>
        </p:nvSpPr>
        <p:spPr>
          <a:xfrm>
            <a:off x="886713" y="2140772"/>
            <a:ext cx="10363200" cy="1470025"/>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Clr>
                <a:schemeClr val="dk1"/>
              </a:buClr>
              <a:buSzPts val="2700"/>
              <a:buFont typeface="Arial"/>
              <a:buNone/>
              <a:defRPr>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Google Shape;63;p14"/>
          <p:cNvSpPr txBox="1">
            <a:spLocks noGrp="1"/>
          </p:cNvSpPr>
          <p:nvPr>
            <p:ph type="subTitle" idx="1"/>
          </p:nvPr>
        </p:nvSpPr>
        <p:spPr>
          <a:xfrm>
            <a:off x="1828800" y="3886200"/>
            <a:ext cx="8534400" cy="1752600"/>
          </a:xfrm>
          <a:prstGeom prst="rect">
            <a:avLst/>
          </a:prstGeom>
          <a:noFill/>
          <a:ln>
            <a:noFill/>
          </a:ln>
        </p:spPr>
        <p:txBody>
          <a:bodyPr spcFirstLastPara="1" wrap="square" lIns="68575" tIns="34275" rIns="68575" bIns="34275" anchor="t" anchorCtr="0">
            <a:normAutofit/>
          </a:bodyPr>
          <a:lstStyle>
            <a:lvl1pPr lvl="0" algn="ctr">
              <a:spcBef>
                <a:spcPts val="667"/>
              </a:spcBef>
              <a:spcAft>
                <a:spcPts val="0"/>
              </a:spcAft>
              <a:buClr>
                <a:srgbClr val="888888"/>
              </a:buClr>
              <a:buSzPts val="2400"/>
              <a:buNone/>
              <a:defRPr>
                <a:solidFill>
                  <a:srgbClr val="888888"/>
                </a:solidFill>
              </a:defRPr>
            </a:lvl1pPr>
            <a:lvl2pPr lvl="1" algn="ctr">
              <a:spcBef>
                <a:spcPts val="533"/>
              </a:spcBef>
              <a:spcAft>
                <a:spcPts val="0"/>
              </a:spcAft>
              <a:buClr>
                <a:srgbClr val="888888"/>
              </a:buClr>
              <a:buSzPts val="2100"/>
              <a:buNone/>
              <a:defRPr>
                <a:solidFill>
                  <a:srgbClr val="888888"/>
                </a:solidFill>
              </a:defRPr>
            </a:lvl2pPr>
            <a:lvl3pPr lvl="2" algn="ctr">
              <a:spcBef>
                <a:spcPts val="533"/>
              </a:spcBef>
              <a:spcAft>
                <a:spcPts val="0"/>
              </a:spcAft>
              <a:buClr>
                <a:srgbClr val="888888"/>
              </a:buClr>
              <a:buSzPts val="1800"/>
              <a:buNone/>
              <a:defRPr>
                <a:solidFill>
                  <a:srgbClr val="888888"/>
                </a:solidFill>
              </a:defRPr>
            </a:lvl3pPr>
            <a:lvl4pPr lvl="3" algn="ctr">
              <a:spcBef>
                <a:spcPts val="400"/>
              </a:spcBef>
              <a:spcAft>
                <a:spcPts val="0"/>
              </a:spcAft>
              <a:buClr>
                <a:srgbClr val="888888"/>
              </a:buClr>
              <a:buSzPts val="1500"/>
              <a:buNone/>
              <a:defRPr>
                <a:solidFill>
                  <a:srgbClr val="888888"/>
                </a:solidFill>
              </a:defRPr>
            </a:lvl4pPr>
            <a:lvl5pPr lvl="4" algn="ctr">
              <a:spcBef>
                <a:spcPts val="400"/>
              </a:spcBef>
              <a:spcAft>
                <a:spcPts val="0"/>
              </a:spcAft>
              <a:buClr>
                <a:srgbClr val="888888"/>
              </a:buClr>
              <a:buSzPts val="1500"/>
              <a:buNone/>
              <a:defRPr>
                <a:solidFill>
                  <a:srgbClr val="888888"/>
                </a:solidFill>
              </a:defRPr>
            </a:lvl5pPr>
            <a:lvl6pPr lvl="5" algn="ctr">
              <a:spcBef>
                <a:spcPts val="400"/>
              </a:spcBef>
              <a:spcAft>
                <a:spcPts val="0"/>
              </a:spcAft>
              <a:buClr>
                <a:srgbClr val="888888"/>
              </a:buClr>
              <a:buSzPts val="1500"/>
              <a:buNone/>
              <a:defRPr>
                <a:solidFill>
                  <a:srgbClr val="888888"/>
                </a:solidFill>
              </a:defRPr>
            </a:lvl6pPr>
            <a:lvl7pPr lvl="6" algn="ctr">
              <a:spcBef>
                <a:spcPts val="400"/>
              </a:spcBef>
              <a:spcAft>
                <a:spcPts val="0"/>
              </a:spcAft>
              <a:buClr>
                <a:srgbClr val="888888"/>
              </a:buClr>
              <a:buSzPts val="1500"/>
              <a:buNone/>
              <a:defRPr>
                <a:solidFill>
                  <a:srgbClr val="888888"/>
                </a:solidFill>
              </a:defRPr>
            </a:lvl7pPr>
            <a:lvl8pPr lvl="7" algn="ctr">
              <a:spcBef>
                <a:spcPts val="400"/>
              </a:spcBef>
              <a:spcAft>
                <a:spcPts val="0"/>
              </a:spcAft>
              <a:buClr>
                <a:srgbClr val="888888"/>
              </a:buClr>
              <a:buSzPts val="1500"/>
              <a:buNone/>
              <a:defRPr>
                <a:solidFill>
                  <a:srgbClr val="888888"/>
                </a:solidFill>
              </a:defRPr>
            </a:lvl8pPr>
            <a:lvl9pPr lvl="8" algn="ctr">
              <a:spcBef>
                <a:spcPts val="400"/>
              </a:spcBef>
              <a:spcAft>
                <a:spcPts val="0"/>
              </a:spcAft>
              <a:buClr>
                <a:srgbClr val="888888"/>
              </a:buClr>
              <a:buSzPts val="1500"/>
              <a:buNone/>
              <a:defRPr>
                <a:solidFill>
                  <a:srgbClr val="888888"/>
                </a:solidFill>
              </a:defRPr>
            </a:lvl9pPr>
          </a:lstStyle>
          <a:p>
            <a:endParaRPr/>
          </a:p>
        </p:txBody>
      </p:sp>
      <p:pic>
        <p:nvPicPr>
          <p:cNvPr id="64" name="Google Shape;64;p14"/>
          <p:cNvPicPr preferRelativeResize="0"/>
          <p:nvPr/>
        </p:nvPicPr>
        <p:blipFill rotWithShape="1">
          <a:blip r:embed="rId2">
            <a:alphaModFix/>
          </a:blip>
          <a:srcRect/>
          <a:stretch/>
        </p:blipFill>
        <p:spPr>
          <a:xfrm>
            <a:off x="0" y="-486526"/>
            <a:ext cx="12192000" cy="2351891"/>
          </a:xfrm>
          <a:prstGeom prst="rect">
            <a:avLst/>
          </a:prstGeom>
          <a:noFill/>
          <a:ln>
            <a:noFill/>
          </a:ln>
        </p:spPr>
      </p:pic>
      <p:grpSp>
        <p:nvGrpSpPr>
          <p:cNvPr id="65" name="Google Shape;65;p14"/>
          <p:cNvGrpSpPr/>
          <p:nvPr/>
        </p:nvGrpSpPr>
        <p:grpSpPr>
          <a:xfrm flipH="1">
            <a:off x="0" y="860931"/>
            <a:ext cx="12192000" cy="1015040"/>
            <a:chOff x="-3905250" y="4294188"/>
            <a:chExt cx="13011150" cy="1892300"/>
          </a:xfrm>
        </p:grpSpPr>
        <p:sp>
          <p:nvSpPr>
            <p:cNvPr id="66" name="Google Shape;66;p14"/>
            <p:cNvSpPr/>
            <p:nvPr/>
          </p:nvSpPr>
          <p:spPr>
            <a:xfrm>
              <a:off x="4810125" y="4500563"/>
              <a:ext cx="4295775" cy="1016000"/>
            </a:xfrm>
            <a:custGeom>
              <a:avLst/>
              <a:gdLst/>
              <a:ahLst/>
              <a:cxnLst/>
              <a:rect l="l" t="t" r="r" b="b"/>
              <a:pathLst>
                <a:path w="2706" h="640" extrusionOk="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8627"/>
              </a:schemeClr>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67">
                <a:solidFill>
                  <a:schemeClr val="dk1"/>
                </a:solidFill>
                <a:latin typeface="Calibri"/>
                <a:ea typeface="Calibri"/>
                <a:cs typeface="Calibri"/>
                <a:sym typeface="Calibri"/>
              </a:endParaRPr>
            </a:p>
          </p:txBody>
        </p:sp>
        <p:sp>
          <p:nvSpPr>
            <p:cNvPr id="67" name="Google Shape;67;p14"/>
            <p:cNvSpPr/>
            <p:nvPr/>
          </p:nvSpPr>
          <p:spPr>
            <a:xfrm>
              <a:off x="-309563" y="4318000"/>
              <a:ext cx="8280401" cy="1209675"/>
            </a:xfrm>
            <a:custGeom>
              <a:avLst/>
              <a:gdLst/>
              <a:ahLst/>
              <a:cxnLst/>
              <a:rect l="l" t="t" r="r" b="b"/>
              <a:pathLst>
                <a:path w="5216" h="762" extrusionOk="0">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67">
                <a:solidFill>
                  <a:schemeClr val="dk1"/>
                </a:solidFill>
                <a:latin typeface="Calibri"/>
                <a:ea typeface="Calibri"/>
                <a:cs typeface="Calibri"/>
                <a:sym typeface="Calibri"/>
              </a:endParaRPr>
            </a:p>
          </p:txBody>
        </p:sp>
        <p:sp>
          <p:nvSpPr>
            <p:cNvPr id="68" name="Google Shape;68;p14"/>
            <p:cNvSpPr/>
            <p:nvPr/>
          </p:nvSpPr>
          <p:spPr>
            <a:xfrm>
              <a:off x="3175" y="4335463"/>
              <a:ext cx="8166100" cy="1101725"/>
            </a:xfrm>
            <a:custGeom>
              <a:avLst/>
              <a:gdLst/>
              <a:ahLst/>
              <a:cxnLst/>
              <a:rect l="l" t="t" r="r" b="b"/>
              <a:pathLst>
                <a:path w="5144" h="694" extrusionOk="0">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9525" cap="flat" cmpd="sng">
              <a:solidFill>
                <a:srgbClr val="FFFFFF"/>
              </a:solidFill>
              <a:prstDash val="solid"/>
              <a:round/>
              <a:headEnd type="none" w="med" len="med"/>
              <a:tailEnd type="none" w="med" len="med"/>
            </a:ln>
          </p:spPr>
          <p:txBody>
            <a:bodyPr spcFirstLastPara="1" wrap="square" lIns="68575" tIns="34275" rIns="68575" bIns="34275" anchor="t" anchorCtr="0">
              <a:noAutofit/>
            </a:bodyPr>
            <a:lstStyle/>
            <a:p>
              <a:pPr marL="0" marR="0" lvl="0" indent="0" algn="l" rtl="0">
                <a:spcBef>
                  <a:spcPts val="0"/>
                </a:spcBef>
                <a:spcAft>
                  <a:spcPts val="0"/>
                </a:spcAft>
                <a:buNone/>
              </a:pPr>
              <a:endParaRPr sz="1867">
                <a:solidFill>
                  <a:schemeClr val="dk1"/>
                </a:solidFill>
                <a:latin typeface="Calibri"/>
                <a:ea typeface="Calibri"/>
                <a:cs typeface="Calibri"/>
                <a:sym typeface="Calibri"/>
              </a:endParaRPr>
            </a:p>
          </p:txBody>
        </p:sp>
        <p:sp>
          <p:nvSpPr>
            <p:cNvPr id="69" name="Google Shape;69;p14"/>
            <p:cNvSpPr/>
            <p:nvPr/>
          </p:nvSpPr>
          <p:spPr>
            <a:xfrm>
              <a:off x="4156075" y="4316413"/>
              <a:ext cx="4940300" cy="927100"/>
            </a:xfrm>
            <a:custGeom>
              <a:avLst/>
              <a:gdLst/>
              <a:ahLst/>
              <a:cxnLst/>
              <a:rect l="l" t="t" r="r" b="b"/>
              <a:pathLst>
                <a:path w="3112" h="584" extrusionOk="0">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9525" cap="flat" cmpd="sng">
              <a:solidFill>
                <a:srgbClr val="FFFFFF"/>
              </a:solidFill>
              <a:prstDash val="solid"/>
              <a:round/>
              <a:headEnd type="none" w="med" len="med"/>
              <a:tailEnd type="none" w="med" len="med"/>
            </a:ln>
          </p:spPr>
          <p:txBody>
            <a:bodyPr spcFirstLastPara="1" wrap="square" lIns="68575" tIns="34275" rIns="68575" bIns="34275" anchor="t" anchorCtr="0">
              <a:noAutofit/>
            </a:bodyPr>
            <a:lstStyle/>
            <a:p>
              <a:pPr marL="0" marR="0" lvl="0" indent="0" algn="l" rtl="0">
                <a:spcBef>
                  <a:spcPts val="0"/>
                </a:spcBef>
                <a:spcAft>
                  <a:spcPts val="0"/>
                </a:spcAft>
                <a:buNone/>
              </a:pPr>
              <a:endParaRPr sz="1867">
                <a:solidFill>
                  <a:schemeClr val="dk1"/>
                </a:solidFill>
                <a:latin typeface="Calibri"/>
                <a:ea typeface="Calibri"/>
                <a:cs typeface="Calibri"/>
                <a:sym typeface="Calibri"/>
              </a:endParaRPr>
            </a:p>
          </p:txBody>
        </p:sp>
        <p:sp>
          <p:nvSpPr>
            <p:cNvPr id="70" name="Google Shape;70;p14"/>
            <p:cNvSpPr/>
            <p:nvPr/>
          </p:nvSpPr>
          <p:spPr>
            <a:xfrm>
              <a:off x="-3905250" y="4294188"/>
              <a:ext cx="13011150" cy="1892300"/>
            </a:xfrm>
            <a:custGeom>
              <a:avLst/>
              <a:gdLst/>
              <a:ahLst/>
              <a:cxnLst/>
              <a:rect l="l" t="t" r="r" b="b"/>
              <a:pathLst>
                <a:path w="8196" h="1192" extrusionOk="0">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867">
                <a:solidFill>
                  <a:schemeClr val="dk1"/>
                </a:solidFill>
                <a:latin typeface="Calibri"/>
                <a:ea typeface="Calibri"/>
                <a:cs typeface="Calibri"/>
                <a:sym typeface="Calibri"/>
              </a:endParaRPr>
            </a:p>
          </p:txBody>
        </p:sp>
      </p:grpSp>
      <p:pic>
        <p:nvPicPr>
          <p:cNvPr id="71" name="Google Shape;71;p14"/>
          <p:cNvPicPr preferRelativeResize="0"/>
          <p:nvPr/>
        </p:nvPicPr>
        <p:blipFill rotWithShape="1">
          <a:blip r:embed="rId3">
            <a:alphaModFix/>
          </a:blip>
          <a:srcRect/>
          <a:stretch/>
        </p:blipFill>
        <p:spPr>
          <a:xfrm>
            <a:off x="10363730" y="6298252"/>
            <a:ext cx="1284797" cy="284345"/>
          </a:xfrm>
          <a:prstGeom prst="rect">
            <a:avLst/>
          </a:prstGeom>
          <a:noFill/>
          <a:ln>
            <a:noFill/>
          </a:ln>
        </p:spPr>
      </p:pic>
    </p:spTree>
    <p:extLst>
      <p:ext uri="{BB962C8B-B14F-4D97-AF65-F5344CB8AC3E}">
        <p14:creationId xmlns:p14="http://schemas.microsoft.com/office/powerpoint/2010/main" val="1816510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and Content">
  <p:cSld name="1_Title and Content">
    <p:spTree>
      <p:nvGrpSpPr>
        <p:cNvPr id="1" name="Shape 72"/>
        <p:cNvGrpSpPr/>
        <p:nvPr/>
      </p:nvGrpSpPr>
      <p:grpSpPr>
        <a:xfrm>
          <a:off x="0" y="0"/>
          <a:ext cx="0" cy="0"/>
          <a:chOff x="0" y="0"/>
          <a:chExt cx="0" cy="0"/>
        </a:xfrm>
      </p:grpSpPr>
      <p:pic>
        <p:nvPicPr>
          <p:cNvPr id="73" name="Google Shape;73;p15"/>
          <p:cNvPicPr preferRelativeResize="0"/>
          <p:nvPr/>
        </p:nvPicPr>
        <p:blipFill rotWithShape="1">
          <a:blip r:embed="rId2">
            <a:alphaModFix/>
          </a:blip>
          <a:srcRect/>
          <a:stretch/>
        </p:blipFill>
        <p:spPr>
          <a:xfrm>
            <a:off x="0" y="3"/>
            <a:ext cx="12192000" cy="444843"/>
          </a:xfrm>
          <a:prstGeom prst="rect">
            <a:avLst/>
          </a:prstGeom>
          <a:noFill/>
          <a:ln>
            <a:noFill/>
          </a:ln>
        </p:spPr>
      </p:pic>
      <p:sp>
        <p:nvSpPr>
          <p:cNvPr id="74" name="Google Shape;74;p15"/>
          <p:cNvSpPr txBox="1">
            <a:spLocks noGrp="1"/>
          </p:cNvSpPr>
          <p:nvPr>
            <p:ph type="body" idx="1"/>
          </p:nvPr>
        </p:nvSpPr>
        <p:spPr>
          <a:xfrm>
            <a:off x="609600" y="988384"/>
            <a:ext cx="10972800" cy="4986353"/>
          </a:xfrm>
          <a:prstGeom prst="rect">
            <a:avLst/>
          </a:prstGeom>
          <a:noFill/>
          <a:ln>
            <a:noFill/>
          </a:ln>
        </p:spPr>
        <p:txBody>
          <a:bodyPr spcFirstLastPara="1" wrap="square" lIns="68575" tIns="34275" rIns="68575" bIns="34275" anchor="t" anchorCtr="0">
            <a:normAutofit/>
          </a:bodyPr>
          <a:lstStyle>
            <a:lvl1pPr marL="609585" lvl="0" indent="-423323" algn="l">
              <a:spcBef>
                <a:spcPts val="400"/>
              </a:spcBef>
              <a:spcAft>
                <a:spcPts val="0"/>
              </a:spcAft>
              <a:buClr>
                <a:schemeClr val="dk1"/>
              </a:buClr>
              <a:buSzPts val="1400"/>
              <a:buChar char="•"/>
              <a:defRPr/>
            </a:lvl1pPr>
            <a:lvl2pPr marL="1219170" lvl="1" indent="-423323" algn="l">
              <a:spcBef>
                <a:spcPts val="400"/>
              </a:spcBef>
              <a:spcAft>
                <a:spcPts val="0"/>
              </a:spcAft>
              <a:buClr>
                <a:schemeClr val="dk1"/>
              </a:buClr>
              <a:buSzPts val="1400"/>
              <a:buChar char="–"/>
              <a:defRPr/>
            </a:lvl2pPr>
            <a:lvl3pPr marL="1828754" lvl="2" indent="-423323" algn="l">
              <a:spcBef>
                <a:spcPts val="400"/>
              </a:spcBef>
              <a:spcAft>
                <a:spcPts val="0"/>
              </a:spcAft>
              <a:buClr>
                <a:schemeClr val="dk1"/>
              </a:buClr>
              <a:buSzPts val="1400"/>
              <a:buChar char="•"/>
              <a:defRPr/>
            </a:lvl3pPr>
            <a:lvl4pPr marL="2438339" lvl="3" indent="-423323" algn="l">
              <a:spcBef>
                <a:spcPts val="400"/>
              </a:spcBef>
              <a:spcAft>
                <a:spcPts val="0"/>
              </a:spcAft>
              <a:buClr>
                <a:schemeClr val="dk1"/>
              </a:buClr>
              <a:buSzPts val="1400"/>
              <a:buChar char="–"/>
              <a:defRPr/>
            </a:lvl4pPr>
            <a:lvl5pPr marL="3047924" lvl="4" indent="-423323" algn="l">
              <a:spcBef>
                <a:spcPts val="400"/>
              </a:spcBef>
              <a:spcAft>
                <a:spcPts val="0"/>
              </a:spcAft>
              <a:buClr>
                <a:schemeClr val="dk1"/>
              </a:buClr>
              <a:buSzPts val="1400"/>
              <a:buChar char="»"/>
              <a:defRPr/>
            </a:lvl5pPr>
            <a:lvl6pPr marL="3657509" lvl="5" indent="-423323" algn="l">
              <a:spcBef>
                <a:spcPts val="400"/>
              </a:spcBef>
              <a:spcAft>
                <a:spcPts val="0"/>
              </a:spcAft>
              <a:buClr>
                <a:schemeClr val="dk1"/>
              </a:buClr>
              <a:buSzPts val="1400"/>
              <a:buChar char="•"/>
              <a:defRPr/>
            </a:lvl6pPr>
            <a:lvl7pPr marL="4267093" lvl="6" indent="-423323" algn="l">
              <a:spcBef>
                <a:spcPts val="400"/>
              </a:spcBef>
              <a:spcAft>
                <a:spcPts val="0"/>
              </a:spcAft>
              <a:buClr>
                <a:schemeClr val="dk1"/>
              </a:buClr>
              <a:buSzPts val="1400"/>
              <a:buChar char="•"/>
              <a:defRPr/>
            </a:lvl7pPr>
            <a:lvl8pPr marL="4876678" lvl="7" indent="-423323" algn="l">
              <a:spcBef>
                <a:spcPts val="400"/>
              </a:spcBef>
              <a:spcAft>
                <a:spcPts val="0"/>
              </a:spcAft>
              <a:buClr>
                <a:schemeClr val="dk1"/>
              </a:buClr>
              <a:buSzPts val="1400"/>
              <a:buChar char="•"/>
              <a:defRPr/>
            </a:lvl8pPr>
            <a:lvl9pPr marL="5486263" lvl="8" indent="-423323" algn="l">
              <a:spcBef>
                <a:spcPts val="400"/>
              </a:spcBef>
              <a:spcAft>
                <a:spcPts val="0"/>
              </a:spcAft>
              <a:buClr>
                <a:schemeClr val="dk1"/>
              </a:buClr>
              <a:buSzPts val="1400"/>
              <a:buChar char="•"/>
              <a:defRPr/>
            </a:lvl9pPr>
          </a:lstStyle>
          <a:p>
            <a:endParaRPr/>
          </a:p>
        </p:txBody>
      </p:sp>
      <p:sp>
        <p:nvSpPr>
          <p:cNvPr id="75" name="Google Shape;75;p15"/>
          <p:cNvSpPr txBox="1">
            <a:spLocks noGrp="1"/>
          </p:cNvSpPr>
          <p:nvPr>
            <p:ph type="dt" idx="10"/>
          </p:nvPr>
        </p:nvSpPr>
        <p:spPr>
          <a:xfrm>
            <a:off x="609600" y="6356351"/>
            <a:ext cx="2844800" cy="365125"/>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6" name="Google Shape;76;p15"/>
          <p:cNvSpPr txBox="1">
            <a:spLocks noGrp="1"/>
          </p:cNvSpPr>
          <p:nvPr>
            <p:ph type="sldNum" idx="12"/>
          </p:nvPr>
        </p:nvSpPr>
        <p:spPr>
          <a:xfrm>
            <a:off x="4673600" y="6356351"/>
            <a:ext cx="2844800" cy="365125"/>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200">
                <a:solidFill>
                  <a:srgbClr val="888888"/>
                </a:solidFill>
                <a:latin typeface="Calibri"/>
                <a:ea typeface="Calibri"/>
                <a:cs typeface="Calibri"/>
                <a:sym typeface="Calibri"/>
              </a:defRPr>
            </a:lvl1pPr>
            <a:lvl2pPr marL="0" lvl="1" indent="0" algn="ctr">
              <a:spcBef>
                <a:spcPts val="0"/>
              </a:spcBef>
              <a:buNone/>
              <a:defRPr sz="1200">
                <a:solidFill>
                  <a:srgbClr val="888888"/>
                </a:solidFill>
                <a:latin typeface="Calibri"/>
                <a:ea typeface="Calibri"/>
                <a:cs typeface="Calibri"/>
                <a:sym typeface="Calibri"/>
              </a:defRPr>
            </a:lvl2pPr>
            <a:lvl3pPr marL="0" lvl="2" indent="0" algn="ctr">
              <a:spcBef>
                <a:spcPts val="0"/>
              </a:spcBef>
              <a:buNone/>
              <a:defRPr sz="1200">
                <a:solidFill>
                  <a:srgbClr val="888888"/>
                </a:solidFill>
                <a:latin typeface="Calibri"/>
                <a:ea typeface="Calibri"/>
                <a:cs typeface="Calibri"/>
                <a:sym typeface="Calibri"/>
              </a:defRPr>
            </a:lvl3pPr>
            <a:lvl4pPr marL="0" lvl="3" indent="0" algn="ctr">
              <a:spcBef>
                <a:spcPts val="0"/>
              </a:spcBef>
              <a:buNone/>
              <a:defRPr sz="1200">
                <a:solidFill>
                  <a:srgbClr val="888888"/>
                </a:solidFill>
                <a:latin typeface="Calibri"/>
                <a:ea typeface="Calibri"/>
                <a:cs typeface="Calibri"/>
                <a:sym typeface="Calibri"/>
              </a:defRPr>
            </a:lvl4pPr>
            <a:lvl5pPr marL="0" lvl="4" indent="0" algn="ctr">
              <a:spcBef>
                <a:spcPts val="0"/>
              </a:spcBef>
              <a:buNone/>
              <a:defRPr sz="1200">
                <a:solidFill>
                  <a:srgbClr val="888888"/>
                </a:solidFill>
                <a:latin typeface="Calibri"/>
                <a:ea typeface="Calibri"/>
                <a:cs typeface="Calibri"/>
                <a:sym typeface="Calibri"/>
              </a:defRPr>
            </a:lvl5pPr>
            <a:lvl6pPr marL="0" lvl="5" indent="0" algn="ctr">
              <a:spcBef>
                <a:spcPts val="0"/>
              </a:spcBef>
              <a:buNone/>
              <a:defRPr sz="1200">
                <a:solidFill>
                  <a:srgbClr val="888888"/>
                </a:solidFill>
                <a:latin typeface="Calibri"/>
                <a:ea typeface="Calibri"/>
                <a:cs typeface="Calibri"/>
                <a:sym typeface="Calibri"/>
              </a:defRPr>
            </a:lvl6pPr>
            <a:lvl7pPr marL="0" lvl="6" indent="0" algn="ctr">
              <a:spcBef>
                <a:spcPts val="0"/>
              </a:spcBef>
              <a:buNone/>
              <a:defRPr sz="1200">
                <a:solidFill>
                  <a:srgbClr val="888888"/>
                </a:solidFill>
                <a:latin typeface="Calibri"/>
                <a:ea typeface="Calibri"/>
                <a:cs typeface="Calibri"/>
                <a:sym typeface="Calibri"/>
              </a:defRPr>
            </a:lvl7pPr>
            <a:lvl8pPr marL="0" lvl="7" indent="0" algn="ctr">
              <a:spcBef>
                <a:spcPts val="0"/>
              </a:spcBef>
              <a:buNone/>
              <a:defRPr sz="1200">
                <a:solidFill>
                  <a:srgbClr val="888888"/>
                </a:solidFill>
                <a:latin typeface="Calibri"/>
                <a:ea typeface="Calibri"/>
                <a:cs typeface="Calibri"/>
                <a:sym typeface="Calibri"/>
              </a:defRPr>
            </a:lvl8pPr>
            <a:lvl9pPr marL="0" lvl="8" indent="0" algn="ctr">
              <a:spcBef>
                <a:spcPts val="0"/>
              </a:spcBef>
              <a:buNone/>
              <a:defRPr sz="1200">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pic>
        <p:nvPicPr>
          <p:cNvPr id="77" name="Google Shape;77;p15"/>
          <p:cNvPicPr preferRelativeResize="0"/>
          <p:nvPr/>
        </p:nvPicPr>
        <p:blipFill rotWithShape="1">
          <a:blip r:embed="rId3">
            <a:alphaModFix/>
          </a:blip>
          <a:srcRect/>
          <a:stretch/>
        </p:blipFill>
        <p:spPr>
          <a:xfrm>
            <a:off x="10363730" y="6298252"/>
            <a:ext cx="1284797" cy="284345"/>
          </a:xfrm>
          <a:prstGeom prst="rect">
            <a:avLst/>
          </a:prstGeom>
          <a:noFill/>
          <a:ln>
            <a:noFill/>
          </a:ln>
        </p:spPr>
      </p:pic>
      <p:pic>
        <p:nvPicPr>
          <p:cNvPr id="78" name="Google Shape;78;p15"/>
          <p:cNvPicPr preferRelativeResize="0"/>
          <p:nvPr/>
        </p:nvPicPr>
        <p:blipFill rotWithShape="1">
          <a:blip r:embed="rId2">
            <a:alphaModFix/>
          </a:blip>
          <a:srcRect/>
          <a:stretch/>
        </p:blipFill>
        <p:spPr>
          <a:xfrm>
            <a:off x="0" y="2"/>
            <a:ext cx="12192000" cy="862012"/>
          </a:xfrm>
          <a:prstGeom prst="rect">
            <a:avLst/>
          </a:prstGeom>
          <a:noFill/>
          <a:ln>
            <a:noFill/>
          </a:ln>
        </p:spPr>
      </p:pic>
      <p:sp>
        <p:nvSpPr>
          <p:cNvPr id="79" name="Google Shape;79;p15"/>
          <p:cNvSpPr txBox="1">
            <a:spLocks noGrp="1"/>
          </p:cNvSpPr>
          <p:nvPr>
            <p:ph type="title"/>
          </p:nvPr>
        </p:nvSpPr>
        <p:spPr>
          <a:xfrm>
            <a:off x="643467" y="126371"/>
            <a:ext cx="10972800" cy="607723"/>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Clr>
                <a:schemeClr val="l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extLst>
      <p:ext uri="{BB962C8B-B14F-4D97-AF65-F5344CB8AC3E}">
        <p14:creationId xmlns:p14="http://schemas.microsoft.com/office/powerpoint/2010/main" val="3797028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6">
            <a:extLst>
              <a:ext uri="{BEBA8EAE-BF5A-486C-A8C5-ECC9F3942E4B}">
                <a14:imgProps xmlns:a14="http://schemas.microsoft.com/office/drawing/2010/main">
                  <a14:imgLayer r:embed="rId17">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0" y="2"/>
            <a:ext cx="12192000" cy="862012"/>
          </a:xfrm>
          <a:prstGeom prst="rect">
            <a:avLst/>
          </a:prstGeom>
        </p:spPr>
      </p:pic>
      <p:sp>
        <p:nvSpPr>
          <p:cNvPr id="3" name="Text Placeholder 2"/>
          <p:cNvSpPr>
            <a:spLocks noGrp="1"/>
          </p:cNvSpPr>
          <p:nvPr>
            <p:ph type="body" idx="1"/>
          </p:nvPr>
        </p:nvSpPr>
        <p:spPr>
          <a:xfrm>
            <a:off x="643467" y="988383"/>
            <a:ext cx="10972800" cy="48837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4673600" y="6356350"/>
            <a:ext cx="284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88279435-30EF-C241-87D1-8D13B984C0EB}" type="slidenum">
              <a:rPr lang="en-US" smtClean="0"/>
              <a:pPr/>
              <a:t>‹#›</a:t>
            </a:fld>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January 22, 2025</a:t>
            </a:r>
          </a:p>
        </p:txBody>
      </p:sp>
      <p:pic>
        <p:nvPicPr>
          <p:cNvPr id="15" name="Picture 14">
            <a:extLst>
              <a:ext uri="{FF2B5EF4-FFF2-40B4-BE49-F238E27FC236}">
                <a16:creationId xmlns:a16="http://schemas.microsoft.com/office/drawing/2014/main" id="{62161B55-68B1-1D4A-9A6C-0BB796F1579E}"/>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contrast="-40000"/>
                    </a14:imgEffect>
                  </a14:imgLayer>
                </a14:imgProps>
              </a:ext>
            </a:extLst>
          </a:blip>
          <a:srcRect/>
          <a:stretch/>
        </p:blipFill>
        <p:spPr>
          <a:xfrm>
            <a:off x="10460441" y="6271874"/>
            <a:ext cx="1284797" cy="284345"/>
          </a:xfrm>
          <a:prstGeom prst="rect">
            <a:avLst/>
          </a:prstGeom>
        </p:spPr>
      </p:pic>
      <p:sp>
        <p:nvSpPr>
          <p:cNvPr id="2" name="Title Placeholder 1"/>
          <p:cNvSpPr>
            <a:spLocks noGrp="1"/>
          </p:cNvSpPr>
          <p:nvPr>
            <p:ph type="title"/>
          </p:nvPr>
        </p:nvSpPr>
        <p:spPr>
          <a:xfrm>
            <a:off x="643467" y="126371"/>
            <a:ext cx="10972800" cy="607722"/>
          </a:xfrm>
          <a:prstGeom prst="rect">
            <a:avLst/>
          </a:prstGeom>
        </p:spPr>
        <p:txBody>
          <a:bodyPr vert="horz" lIns="91440" tIns="45720" rIns="91440" bIns="45720" rtlCol="0" anchor="ctr">
            <a:noAutofit/>
          </a:bodyPr>
          <a:lstStyle/>
          <a:p>
            <a:r>
              <a:rPr lang="en-US" dirty="0"/>
              <a:t>Click to edit Master title style</a:t>
            </a:r>
          </a:p>
        </p:txBody>
      </p:sp>
    </p:spTree>
    <p:extLst>
      <p:ext uri="{BB962C8B-B14F-4D97-AF65-F5344CB8AC3E}">
        <p14:creationId xmlns:p14="http://schemas.microsoft.com/office/powerpoint/2010/main" val="42449732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49" r:id="rId12"/>
    <p:sldLayoutId id="2147483672" r:id="rId13"/>
    <p:sldLayoutId id="2147483673" r:id="rId14"/>
  </p:sldLayoutIdLst>
  <p:hf hdr="0" ftr="0"/>
  <p:txStyles>
    <p:titleStyle>
      <a:lvl1pPr algn="ctr" defTabSz="457200" rtl="0" eaLnBrk="1" latinLnBrk="0" hangingPunct="1">
        <a:spcBef>
          <a:spcPct val="0"/>
        </a:spcBef>
        <a:buNone/>
        <a:defRPr sz="3600" b="0" kern="1200">
          <a:solidFill>
            <a:schemeClr val="bg1"/>
          </a:solidFill>
          <a:latin typeface="Microsoft PhagsPa" panose="020B0502040204020203" pitchFamily="34" charset="0"/>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5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sv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53.sv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png"/><Relationship Id="rId9" Type="http://schemas.openxmlformats.org/officeDocument/2006/relationships/image" Target="../media/image56.png"/></Relationships>
</file>

<file path=ppt/slides/_rels/slide6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16.png"/><Relationship Id="rId7" Type="http://schemas.openxmlformats.org/officeDocument/2006/relationships/image" Target="../media/image65.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7.png"/></Relationships>
</file>

<file path=ppt/slides/_rels/slide6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84FCB-2A97-4ACE-AA17-9F4BDBEFD1D2}"/>
              </a:ext>
            </a:extLst>
          </p:cNvPr>
          <p:cNvSpPr>
            <a:spLocks noGrp="1"/>
          </p:cNvSpPr>
          <p:nvPr>
            <p:ph type="ctrTitle"/>
          </p:nvPr>
        </p:nvSpPr>
        <p:spPr>
          <a:xfrm>
            <a:off x="914400" y="1946612"/>
            <a:ext cx="10363200" cy="1470025"/>
          </a:xfrm>
        </p:spPr>
        <p:txBody>
          <a:bodyPr>
            <a:normAutofit/>
          </a:bodyPr>
          <a:lstStyle/>
          <a:p>
            <a:r>
              <a:rPr lang="en-US" b="1" dirty="0"/>
              <a:t>Disease Outbreak Prediction and Management System</a:t>
            </a:r>
          </a:p>
        </p:txBody>
      </p:sp>
      <p:sp>
        <p:nvSpPr>
          <p:cNvPr id="3" name="Subtitle 2">
            <a:extLst>
              <a:ext uri="{FF2B5EF4-FFF2-40B4-BE49-F238E27FC236}">
                <a16:creationId xmlns:a16="http://schemas.microsoft.com/office/drawing/2014/main" id="{FFCB29B1-E986-4F3C-97A3-3CE2455D0697}"/>
              </a:ext>
            </a:extLst>
          </p:cNvPr>
          <p:cNvSpPr>
            <a:spLocks noGrp="1"/>
          </p:cNvSpPr>
          <p:nvPr>
            <p:ph type="subTitle" idx="1"/>
          </p:nvPr>
        </p:nvSpPr>
        <p:spPr>
          <a:xfrm>
            <a:off x="1580225" y="2743200"/>
            <a:ext cx="8534400" cy="2143293"/>
          </a:xfrm>
        </p:spPr>
        <p:txBody>
          <a:bodyPr>
            <a:normAutofit/>
          </a:bodyPr>
          <a:lstStyle/>
          <a:p>
            <a:endParaRPr lang="en-US" dirty="0"/>
          </a:p>
          <a:p>
            <a:r>
              <a:rPr lang="en-US" dirty="0">
                <a:solidFill>
                  <a:schemeClr val="tx1"/>
                </a:solidFill>
              </a:rPr>
              <a:t>Abdul Hadi</a:t>
            </a:r>
          </a:p>
          <a:p>
            <a:r>
              <a:rPr lang="en-US" dirty="0">
                <a:solidFill>
                  <a:schemeClr val="tx1"/>
                </a:solidFill>
              </a:rPr>
              <a:t>Talha Farhat</a:t>
            </a:r>
          </a:p>
          <a:p>
            <a:endParaRPr lang="en-US" dirty="0">
              <a:solidFill>
                <a:schemeClr val="tx1"/>
              </a:solidFill>
            </a:endParaRPr>
          </a:p>
          <a:p>
            <a:endParaRPr lang="en-US" dirty="0"/>
          </a:p>
        </p:txBody>
      </p:sp>
      <p:sp>
        <p:nvSpPr>
          <p:cNvPr id="4" name="Date Placeholder 3">
            <a:extLst>
              <a:ext uri="{FF2B5EF4-FFF2-40B4-BE49-F238E27FC236}">
                <a16:creationId xmlns:a16="http://schemas.microsoft.com/office/drawing/2014/main" id="{944B2822-D140-4281-88AA-87301B437CFE}"/>
              </a:ext>
            </a:extLst>
          </p:cNvPr>
          <p:cNvSpPr>
            <a:spLocks noGrp="1"/>
          </p:cNvSpPr>
          <p:nvPr>
            <p:ph type="dt" sz="half" idx="10"/>
          </p:nvPr>
        </p:nvSpPr>
        <p:spPr/>
        <p:txBody>
          <a:bodyPr/>
          <a:lstStyle/>
          <a:p>
            <a:r>
              <a:rPr lang="en-US" dirty="0"/>
              <a:t>January 22, 2025</a:t>
            </a:r>
          </a:p>
        </p:txBody>
      </p:sp>
      <p:sp>
        <p:nvSpPr>
          <p:cNvPr id="5" name="Slide Number Placeholder 4">
            <a:extLst>
              <a:ext uri="{FF2B5EF4-FFF2-40B4-BE49-F238E27FC236}">
                <a16:creationId xmlns:a16="http://schemas.microsoft.com/office/drawing/2014/main" id="{DED10974-C58E-4D5F-8565-6E0404881E1A}"/>
              </a:ext>
            </a:extLst>
          </p:cNvPr>
          <p:cNvSpPr>
            <a:spLocks noGrp="1"/>
          </p:cNvSpPr>
          <p:nvPr>
            <p:ph type="sldNum" sz="quarter" idx="12"/>
          </p:nvPr>
        </p:nvSpPr>
        <p:spPr/>
        <p:txBody>
          <a:bodyPr/>
          <a:lstStyle/>
          <a:p>
            <a:fld id="{88279435-30EF-C241-87D1-8D13B984C0EB}" type="slidenum">
              <a:rPr lang="en-US" smtClean="0"/>
              <a:t>1</a:t>
            </a:fld>
            <a:endParaRPr lang="en-US"/>
          </a:p>
        </p:txBody>
      </p:sp>
    </p:spTree>
    <p:extLst>
      <p:ext uri="{BB962C8B-B14F-4D97-AF65-F5344CB8AC3E}">
        <p14:creationId xmlns:p14="http://schemas.microsoft.com/office/powerpoint/2010/main" val="1040248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8A062-07EC-4BE8-95A7-82160D326EE0}"/>
              </a:ext>
            </a:extLst>
          </p:cNvPr>
          <p:cNvSpPr>
            <a:spLocks noGrp="1"/>
          </p:cNvSpPr>
          <p:nvPr>
            <p:ph type="title"/>
          </p:nvPr>
        </p:nvSpPr>
        <p:spPr>
          <a:xfrm>
            <a:off x="609600" y="576071"/>
            <a:ext cx="10515600" cy="1114617"/>
          </a:xfrm>
        </p:spPr>
        <p:txBody>
          <a:bodyPr/>
          <a:lstStyle/>
          <a:p>
            <a:r>
              <a:rPr lang="en-US" dirty="0"/>
              <a:t>Overview</a:t>
            </a:r>
          </a:p>
        </p:txBody>
      </p:sp>
      <p:sp>
        <p:nvSpPr>
          <p:cNvPr id="3" name="Content Placeholder 2">
            <a:extLst>
              <a:ext uri="{FF2B5EF4-FFF2-40B4-BE49-F238E27FC236}">
                <a16:creationId xmlns:a16="http://schemas.microsoft.com/office/drawing/2014/main" id="{7554FFDF-3915-48EA-9D43-72D82C9836F7}"/>
              </a:ext>
            </a:extLst>
          </p:cNvPr>
          <p:cNvSpPr>
            <a:spLocks noGrp="1"/>
          </p:cNvSpPr>
          <p:nvPr>
            <p:ph idx="1"/>
          </p:nvPr>
        </p:nvSpPr>
        <p:spPr>
          <a:xfrm>
            <a:off x="512233" y="895926"/>
            <a:ext cx="10710333" cy="5547836"/>
          </a:xfrm>
        </p:spPr>
        <p:txBody>
          <a:bodyPr>
            <a:normAutofit fontScale="92500" lnSpcReduction="20000"/>
          </a:bodyPr>
          <a:lstStyle/>
          <a:p>
            <a:pPr marL="1371600" lvl="3" indent="0">
              <a:buNone/>
            </a:pPr>
            <a:r>
              <a:rPr lang="en-US" sz="2800" dirty="0"/>
              <a:t>1. Problem Statement</a:t>
            </a:r>
          </a:p>
          <a:p>
            <a:pPr marL="1371600" lvl="3" indent="0">
              <a:buNone/>
            </a:pPr>
            <a:r>
              <a:rPr lang="en-US" sz="2800" dirty="0"/>
              <a:t>2. Introduction</a:t>
            </a:r>
          </a:p>
          <a:p>
            <a:pPr marL="1371600" lvl="3" indent="0">
              <a:buNone/>
            </a:pPr>
            <a:r>
              <a:rPr lang="en-US" sz="2800" dirty="0"/>
              <a:t>3. Literature Review</a:t>
            </a:r>
          </a:p>
          <a:p>
            <a:pPr marL="1371600" lvl="3" indent="0">
              <a:buNone/>
            </a:pPr>
            <a:r>
              <a:rPr lang="en-US" sz="2800" dirty="0"/>
              <a:t>4. Data Acquisition</a:t>
            </a:r>
          </a:p>
          <a:p>
            <a:pPr marL="1371600" lvl="3" indent="0">
              <a:buNone/>
            </a:pPr>
            <a:r>
              <a:rPr lang="en-US" sz="2800" dirty="0"/>
              <a:t>5. EDA</a:t>
            </a:r>
          </a:p>
          <a:p>
            <a:pPr marL="1371600" lvl="3" indent="0">
              <a:buNone/>
            </a:pPr>
            <a:r>
              <a:rPr lang="en-US" sz="2800" dirty="0"/>
              <a:t>6. Feature Engineering </a:t>
            </a:r>
          </a:p>
          <a:p>
            <a:pPr marL="1371600" lvl="3" indent="0">
              <a:buNone/>
            </a:pPr>
            <a:r>
              <a:rPr lang="en-US" sz="2800" dirty="0"/>
              <a:t>7. Outbreak Prediction Methodologies</a:t>
            </a:r>
          </a:p>
          <a:p>
            <a:pPr marL="1371600" lvl="3" indent="0">
              <a:buNone/>
            </a:pPr>
            <a:r>
              <a:rPr lang="en-US" sz="2800" dirty="0"/>
              <a:t>8. Results</a:t>
            </a:r>
          </a:p>
          <a:p>
            <a:pPr marL="1371600" lvl="3" indent="0">
              <a:buNone/>
            </a:pPr>
            <a:r>
              <a:rPr lang="en-US" sz="2800" dirty="0"/>
              <a:t>9. Anomalous Patient Encounters Detection	</a:t>
            </a:r>
          </a:p>
          <a:p>
            <a:pPr marL="1371600" lvl="3" indent="0">
              <a:buNone/>
            </a:pPr>
            <a:r>
              <a:rPr lang="en-US" sz="2800" dirty="0"/>
              <a:t>10. Multi Agent System(MAS)	</a:t>
            </a:r>
          </a:p>
          <a:p>
            <a:pPr marL="1371600" lvl="3" indent="0">
              <a:buNone/>
            </a:pPr>
            <a:r>
              <a:rPr lang="en-US" sz="2800" dirty="0"/>
              <a:t>11. Design</a:t>
            </a:r>
          </a:p>
          <a:p>
            <a:pPr marL="1371600" lvl="3" indent="0">
              <a:buNone/>
            </a:pPr>
            <a:r>
              <a:rPr lang="en-US" sz="2800" dirty="0"/>
              <a:t>12. Demo</a:t>
            </a:r>
          </a:p>
          <a:p>
            <a:pPr marL="1371600" lvl="3" indent="0">
              <a:buNone/>
            </a:pPr>
            <a:r>
              <a:rPr lang="en-US" sz="2800" dirty="0"/>
              <a:t>13. Future Work    </a:t>
            </a:r>
          </a:p>
          <a:p>
            <a:pPr marL="1371600" lvl="3" indent="0">
              <a:buNone/>
            </a:pPr>
            <a:endParaRPr lang="en-US" sz="2400" dirty="0"/>
          </a:p>
          <a:p>
            <a:pPr marL="1371600" lvl="3" indent="0">
              <a:buNone/>
            </a:pPr>
            <a:endParaRPr lang="en-US" sz="2400" dirty="0"/>
          </a:p>
          <a:p>
            <a:pPr marL="1371600" lvl="3" indent="0">
              <a:buNone/>
            </a:pPr>
            <a:endParaRPr lang="en-US" sz="2400" dirty="0"/>
          </a:p>
        </p:txBody>
      </p:sp>
      <p:sp>
        <p:nvSpPr>
          <p:cNvPr id="9" name="Slide Number Placeholder 8">
            <a:extLst>
              <a:ext uri="{FF2B5EF4-FFF2-40B4-BE49-F238E27FC236}">
                <a16:creationId xmlns:a16="http://schemas.microsoft.com/office/drawing/2014/main" id="{F96220C6-3A6B-4E62-A8E6-E29E1BB5CCA3}"/>
              </a:ext>
            </a:extLst>
          </p:cNvPr>
          <p:cNvSpPr>
            <a:spLocks noGrp="1"/>
          </p:cNvSpPr>
          <p:nvPr>
            <p:ph type="sldNum" sz="quarter" idx="12"/>
          </p:nvPr>
        </p:nvSpPr>
        <p:spPr/>
        <p:txBody>
          <a:bodyPr/>
          <a:lstStyle/>
          <a:p>
            <a:fld id="{F95058E6-B6E9-4B7D-9DDE-04196D2335F5}" type="slidenum">
              <a:rPr lang="en-US" smtClean="0"/>
              <a:t>2</a:t>
            </a:fld>
            <a:endParaRPr lang="en-US"/>
          </a:p>
        </p:txBody>
      </p:sp>
      <p:sp>
        <p:nvSpPr>
          <p:cNvPr id="8" name="Date Placeholder 7">
            <a:extLst>
              <a:ext uri="{FF2B5EF4-FFF2-40B4-BE49-F238E27FC236}">
                <a16:creationId xmlns:a16="http://schemas.microsoft.com/office/drawing/2014/main" id="{88AA1FCA-5342-49E8-9378-961F16567D14}"/>
              </a:ext>
            </a:extLst>
          </p:cNvPr>
          <p:cNvSpPr>
            <a:spLocks noGrp="1"/>
          </p:cNvSpPr>
          <p:nvPr>
            <p:ph type="dt" sz="half" idx="10"/>
          </p:nvPr>
        </p:nvSpPr>
        <p:spPr/>
        <p:txBody>
          <a:bodyPr/>
          <a:lstStyle/>
          <a:p>
            <a:r>
              <a:rPr lang="en-US" dirty="0"/>
              <a:t>January 22, 2025</a:t>
            </a:r>
          </a:p>
        </p:txBody>
      </p:sp>
      <p:sp>
        <p:nvSpPr>
          <p:cNvPr id="6" name="Title 5">
            <a:extLst>
              <a:ext uri="{FF2B5EF4-FFF2-40B4-BE49-F238E27FC236}">
                <a16:creationId xmlns:a16="http://schemas.microsoft.com/office/drawing/2014/main" id="{2F9FD600-0F15-469E-803A-8F62DB1C3290}"/>
              </a:ext>
            </a:extLst>
          </p:cNvPr>
          <p:cNvSpPr txBox="1">
            <a:spLocks/>
          </p:cNvSpPr>
          <p:nvPr/>
        </p:nvSpPr>
        <p:spPr>
          <a:xfrm>
            <a:off x="643467" y="126371"/>
            <a:ext cx="10972800" cy="607722"/>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3600" b="0" kern="1200">
                <a:solidFill>
                  <a:schemeClr val="bg1"/>
                </a:solidFill>
                <a:latin typeface="Microsoft PhagsPa" panose="020B0502040204020203" pitchFamily="34" charset="0"/>
                <a:ea typeface="+mj-ea"/>
                <a:cs typeface="+mj-cs"/>
              </a:defRPr>
            </a:lvl1pPr>
          </a:lstStyle>
          <a:p>
            <a:r>
              <a:rPr lang="en-US" b="1" dirty="0"/>
              <a:t>Overview</a:t>
            </a:r>
          </a:p>
        </p:txBody>
      </p:sp>
    </p:spTree>
    <p:extLst>
      <p:ext uri="{BB962C8B-B14F-4D97-AF65-F5344CB8AC3E}">
        <p14:creationId xmlns:p14="http://schemas.microsoft.com/office/powerpoint/2010/main" val="3691817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0E52C1-FB8C-4588-999C-AA6E6F03443B}"/>
              </a:ext>
            </a:extLst>
          </p:cNvPr>
          <p:cNvSpPr>
            <a:spLocks noGrp="1"/>
          </p:cNvSpPr>
          <p:nvPr>
            <p:ph idx="1"/>
          </p:nvPr>
        </p:nvSpPr>
        <p:spPr>
          <a:xfrm>
            <a:off x="384535" y="1015474"/>
            <a:ext cx="11490664" cy="4843250"/>
          </a:xfrm>
        </p:spPr>
        <p:txBody>
          <a:bodyPr>
            <a:normAutofit/>
          </a:bodyPr>
          <a:lstStyle/>
          <a:p>
            <a:pPr>
              <a:buFont typeface="Arial" panose="020B0604020202020204" pitchFamily="34" charset="0"/>
              <a:buChar char="•"/>
            </a:pPr>
            <a:r>
              <a:rPr lang="en-US" dirty="0"/>
              <a:t>Develop an integrated system using MAS, and CAI to predict disease outbreaks, identify regions at risk, and coordinate real-time interventions to proactively manage pandemics</a:t>
            </a:r>
          </a:p>
        </p:txBody>
      </p:sp>
      <p:sp>
        <p:nvSpPr>
          <p:cNvPr id="3" name="Date Placeholder 2">
            <a:extLst>
              <a:ext uri="{FF2B5EF4-FFF2-40B4-BE49-F238E27FC236}">
                <a16:creationId xmlns:a16="http://schemas.microsoft.com/office/drawing/2014/main" id="{6D9E8E2D-9E42-4CE3-A3E1-B55220AAB839}"/>
              </a:ext>
            </a:extLst>
          </p:cNvPr>
          <p:cNvSpPr>
            <a:spLocks noGrp="1"/>
          </p:cNvSpPr>
          <p:nvPr>
            <p:ph type="dt" sz="half" idx="10"/>
          </p:nvPr>
        </p:nvSpPr>
        <p:spPr>
          <a:xfrm>
            <a:off x="609600" y="6364818"/>
            <a:ext cx="2844800" cy="365125"/>
          </a:xfrm>
        </p:spPr>
        <p:txBody>
          <a:bodyPr/>
          <a:lstStyle/>
          <a:p>
            <a:r>
              <a:rPr lang="en-US" dirty="0"/>
              <a:t>January 22, 2025</a:t>
            </a:r>
          </a:p>
        </p:txBody>
      </p:sp>
      <p:sp>
        <p:nvSpPr>
          <p:cNvPr id="4" name="Slide Number Placeholder 3">
            <a:extLst>
              <a:ext uri="{FF2B5EF4-FFF2-40B4-BE49-F238E27FC236}">
                <a16:creationId xmlns:a16="http://schemas.microsoft.com/office/drawing/2014/main" id="{4827C2B0-FCBD-4BE5-A5D9-DBA90F8D2519}"/>
              </a:ext>
            </a:extLst>
          </p:cNvPr>
          <p:cNvSpPr>
            <a:spLocks noGrp="1"/>
          </p:cNvSpPr>
          <p:nvPr>
            <p:ph type="sldNum" sz="quarter" idx="12"/>
          </p:nvPr>
        </p:nvSpPr>
        <p:spPr/>
        <p:txBody>
          <a:bodyPr/>
          <a:lstStyle/>
          <a:p>
            <a:fld id="{88279435-30EF-C241-87D1-8D13B984C0EB}" type="slidenum">
              <a:rPr lang="en-US" smtClean="0"/>
              <a:pPr/>
              <a:t>3</a:t>
            </a:fld>
            <a:endParaRPr lang="en-US"/>
          </a:p>
        </p:txBody>
      </p:sp>
      <p:sp>
        <p:nvSpPr>
          <p:cNvPr id="5" name="Title 4">
            <a:extLst>
              <a:ext uri="{FF2B5EF4-FFF2-40B4-BE49-F238E27FC236}">
                <a16:creationId xmlns:a16="http://schemas.microsoft.com/office/drawing/2014/main" id="{89422922-012B-4590-9A15-B19C117A6B92}"/>
              </a:ext>
            </a:extLst>
          </p:cNvPr>
          <p:cNvSpPr>
            <a:spLocks noGrp="1"/>
          </p:cNvSpPr>
          <p:nvPr>
            <p:ph type="title"/>
          </p:nvPr>
        </p:nvSpPr>
        <p:spPr/>
        <p:txBody>
          <a:bodyPr/>
          <a:lstStyle/>
          <a:p>
            <a:r>
              <a:rPr lang="en-US" b="1" dirty="0"/>
              <a:t>Problem Statement</a:t>
            </a:r>
          </a:p>
        </p:txBody>
      </p:sp>
    </p:spTree>
    <p:extLst>
      <p:ext uri="{BB962C8B-B14F-4D97-AF65-F5344CB8AC3E}">
        <p14:creationId xmlns:p14="http://schemas.microsoft.com/office/powerpoint/2010/main" val="204792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0"/>
          <p:cNvSpPr txBox="1">
            <a:spLocks noGrp="1"/>
          </p:cNvSpPr>
          <p:nvPr>
            <p:ph type="dt" idx="10"/>
          </p:nvPr>
        </p:nvSpPr>
        <p:spPr>
          <a:xfrm>
            <a:off x="609600" y="6356351"/>
            <a:ext cx="2844800" cy="365200"/>
          </a:xfrm>
          <a:prstGeom prst="rect">
            <a:avLst/>
          </a:prstGeom>
          <a:noFill/>
          <a:ln>
            <a:noFill/>
          </a:ln>
        </p:spPr>
        <p:txBody>
          <a:bodyPr spcFirstLastPara="1" vert="horz" wrap="square" lIns="91433" tIns="45700" rIns="91433" bIns="45700" rtlCol="0" anchor="ctr" anchorCtr="0">
            <a:noAutofit/>
          </a:bodyPr>
          <a:lstStyle/>
          <a:p>
            <a:r>
              <a:rPr lang="en-US" dirty="0"/>
              <a:t>January 22, 2025</a:t>
            </a:r>
            <a:endParaRPr dirty="0"/>
          </a:p>
        </p:txBody>
      </p:sp>
      <p:sp>
        <p:nvSpPr>
          <p:cNvPr id="266" name="Google Shape;266;p40"/>
          <p:cNvSpPr txBox="1">
            <a:spLocks noGrp="1"/>
          </p:cNvSpPr>
          <p:nvPr>
            <p:ph type="sldNum" idx="12"/>
          </p:nvPr>
        </p:nvSpPr>
        <p:spPr>
          <a:xfrm>
            <a:off x="4673600" y="6356351"/>
            <a:ext cx="2844800" cy="365200"/>
          </a:xfrm>
          <a:prstGeom prst="rect">
            <a:avLst/>
          </a:prstGeom>
          <a:noFill/>
          <a:ln>
            <a:noFill/>
          </a:ln>
        </p:spPr>
        <p:txBody>
          <a:bodyPr spcFirstLastPara="1" vert="horz" wrap="square" lIns="91433" tIns="45700" rIns="91433" bIns="45700" rtlCol="0" anchor="ctr" anchorCtr="0">
            <a:noAutofit/>
          </a:bodyPr>
          <a:lstStyle/>
          <a:p>
            <a:fld id="{00000000-1234-1234-1234-123412341234}" type="slidenum">
              <a:rPr lang="en"/>
              <a:pPr/>
              <a:t>4</a:t>
            </a:fld>
            <a:endParaRPr/>
          </a:p>
        </p:txBody>
      </p:sp>
      <p:sp>
        <p:nvSpPr>
          <p:cNvPr id="267" name="Google Shape;267;p40"/>
          <p:cNvSpPr txBox="1">
            <a:spLocks noGrp="1"/>
          </p:cNvSpPr>
          <p:nvPr>
            <p:ph type="ctrTitle"/>
          </p:nvPr>
        </p:nvSpPr>
        <p:spPr>
          <a:xfrm>
            <a:off x="886713" y="2140771"/>
            <a:ext cx="10363200" cy="3025200"/>
          </a:xfrm>
          <a:prstGeom prst="rect">
            <a:avLst/>
          </a:prstGeom>
          <a:noFill/>
          <a:ln>
            <a:noFill/>
          </a:ln>
        </p:spPr>
        <p:txBody>
          <a:bodyPr spcFirstLastPara="1" vert="horz" wrap="square" lIns="91433" tIns="45700" rIns="91433" bIns="45700" rtlCol="0" anchor="ctr" anchorCtr="0">
            <a:noAutofit/>
          </a:bodyPr>
          <a:lstStyle/>
          <a:p>
            <a:pPr>
              <a:buSzPts val="4100"/>
            </a:pPr>
            <a:r>
              <a:rPr lang="en" sz="5467" b="1" dirty="0"/>
              <a:t>Introduction</a:t>
            </a:r>
            <a:endParaRPr dirty="0"/>
          </a:p>
        </p:txBody>
      </p:sp>
    </p:spTree>
    <p:extLst>
      <p:ext uri="{BB962C8B-B14F-4D97-AF65-F5344CB8AC3E}">
        <p14:creationId xmlns:p14="http://schemas.microsoft.com/office/powerpoint/2010/main" val="3737366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FDE825-0D19-46DB-B5E8-1F1761F80589}"/>
              </a:ext>
            </a:extLst>
          </p:cNvPr>
          <p:cNvSpPr>
            <a:spLocks noGrp="1"/>
          </p:cNvSpPr>
          <p:nvPr>
            <p:ph idx="1"/>
          </p:nvPr>
        </p:nvSpPr>
        <p:spPr/>
        <p:txBody>
          <a:bodyPr/>
          <a:lstStyle/>
          <a:p>
            <a:r>
              <a:rPr lang="en-US" dirty="0"/>
              <a:t>Outbreak of Diseases poses a heavy toll on the healthcare infrastructure </a:t>
            </a:r>
          </a:p>
          <a:p>
            <a:r>
              <a:rPr lang="en-US" dirty="0"/>
              <a:t>Timely detection of Outbreaks is essential to allow timely interventions</a:t>
            </a:r>
          </a:p>
          <a:p>
            <a:r>
              <a:rPr lang="en-US" dirty="0"/>
              <a:t>Also detection of anomalous behavior of any disease in certain region can allow respective institutions to check what underlying reasons led to this anomaly.</a:t>
            </a:r>
          </a:p>
          <a:p>
            <a:endParaRPr lang="en-US" dirty="0"/>
          </a:p>
        </p:txBody>
      </p:sp>
      <p:sp>
        <p:nvSpPr>
          <p:cNvPr id="3" name="Date Placeholder 2">
            <a:extLst>
              <a:ext uri="{FF2B5EF4-FFF2-40B4-BE49-F238E27FC236}">
                <a16:creationId xmlns:a16="http://schemas.microsoft.com/office/drawing/2014/main" id="{42E0B665-389D-46B8-963A-195891F0E73D}"/>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8BCC67A2-7704-4B13-B151-80519013F0F6}"/>
              </a:ext>
            </a:extLst>
          </p:cNvPr>
          <p:cNvSpPr>
            <a:spLocks noGrp="1"/>
          </p:cNvSpPr>
          <p:nvPr>
            <p:ph type="sldNum" sz="quarter" idx="12"/>
          </p:nvPr>
        </p:nvSpPr>
        <p:spPr/>
        <p:txBody>
          <a:bodyPr/>
          <a:lstStyle/>
          <a:p>
            <a:fld id="{88279435-30EF-C241-87D1-8D13B984C0EB}" type="slidenum">
              <a:rPr lang="en-US" smtClean="0"/>
              <a:pPr/>
              <a:t>5</a:t>
            </a:fld>
            <a:endParaRPr lang="en-US" dirty="0"/>
          </a:p>
        </p:txBody>
      </p:sp>
      <p:sp>
        <p:nvSpPr>
          <p:cNvPr id="5" name="Title 4">
            <a:extLst>
              <a:ext uri="{FF2B5EF4-FFF2-40B4-BE49-F238E27FC236}">
                <a16:creationId xmlns:a16="http://schemas.microsoft.com/office/drawing/2014/main" id="{3838BB1A-AC9D-477E-893F-E39ED4150DF2}"/>
              </a:ext>
            </a:extLst>
          </p:cNvPr>
          <p:cNvSpPr>
            <a:spLocks noGrp="1"/>
          </p:cNvSpPr>
          <p:nvPr>
            <p:ph type="title"/>
          </p:nvPr>
        </p:nvSpPr>
        <p:spPr/>
        <p:txBody>
          <a:bodyPr/>
          <a:lstStyle/>
          <a:p>
            <a:r>
              <a:rPr lang="en-US" b="1" dirty="0"/>
              <a:t>Introduction</a:t>
            </a:r>
          </a:p>
        </p:txBody>
      </p:sp>
      <p:sp>
        <p:nvSpPr>
          <p:cNvPr id="8" name="Content Placeholder 1">
            <a:extLst>
              <a:ext uri="{FF2B5EF4-FFF2-40B4-BE49-F238E27FC236}">
                <a16:creationId xmlns:a16="http://schemas.microsoft.com/office/drawing/2014/main" id="{30EB1850-DDE7-4D48-A03F-95AA03B70DBD}"/>
              </a:ext>
            </a:extLst>
          </p:cNvPr>
          <p:cNvSpPr txBox="1">
            <a:spLocks/>
          </p:cNvSpPr>
          <p:nvPr/>
        </p:nvSpPr>
        <p:spPr>
          <a:xfrm>
            <a:off x="384535" y="1015474"/>
            <a:ext cx="11490664" cy="48432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panose="020B0604020202020204" pitchFamily="34" charset="0"/>
              <a:buChar char="•"/>
            </a:pPr>
            <a:endParaRPr lang="en-US" dirty="0"/>
          </a:p>
        </p:txBody>
      </p:sp>
      <p:sp>
        <p:nvSpPr>
          <p:cNvPr id="7" name="Content Placeholder 1">
            <a:extLst>
              <a:ext uri="{FF2B5EF4-FFF2-40B4-BE49-F238E27FC236}">
                <a16:creationId xmlns:a16="http://schemas.microsoft.com/office/drawing/2014/main" id="{98D024D7-74E7-4B16-8B66-C8944CAFADF4}"/>
              </a:ext>
            </a:extLst>
          </p:cNvPr>
          <p:cNvSpPr txBox="1">
            <a:spLocks/>
          </p:cNvSpPr>
          <p:nvPr/>
        </p:nvSpPr>
        <p:spPr>
          <a:xfrm>
            <a:off x="517186" y="1137310"/>
            <a:ext cx="11490664" cy="48432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endParaRPr lang="en-US" dirty="0"/>
          </a:p>
        </p:txBody>
      </p:sp>
    </p:spTree>
    <p:extLst>
      <p:ext uri="{BB962C8B-B14F-4D97-AF65-F5344CB8AC3E}">
        <p14:creationId xmlns:p14="http://schemas.microsoft.com/office/powerpoint/2010/main" val="38540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0"/>
          <p:cNvSpPr txBox="1">
            <a:spLocks noGrp="1"/>
          </p:cNvSpPr>
          <p:nvPr>
            <p:ph type="dt" idx="10"/>
          </p:nvPr>
        </p:nvSpPr>
        <p:spPr>
          <a:xfrm>
            <a:off x="609600" y="6356351"/>
            <a:ext cx="2844800" cy="365200"/>
          </a:xfrm>
          <a:prstGeom prst="rect">
            <a:avLst/>
          </a:prstGeom>
          <a:noFill/>
          <a:ln>
            <a:noFill/>
          </a:ln>
        </p:spPr>
        <p:txBody>
          <a:bodyPr spcFirstLastPara="1" vert="horz" wrap="square" lIns="91433" tIns="45700" rIns="91433" bIns="45700" rtlCol="0" anchor="ctr" anchorCtr="0">
            <a:noAutofit/>
          </a:bodyPr>
          <a:lstStyle/>
          <a:p>
            <a:r>
              <a:rPr lang="en-US" dirty="0"/>
              <a:t>January 22, 2025</a:t>
            </a:r>
            <a:endParaRPr dirty="0"/>
          </a:p>
        </p:txBody>
      </p:sp>
      <p:sp>
        <p:nvSpPr>
          <p:cNvPr id="266" name="Google Shape;266;p40"/>
          <p:cNvSpPr txBox="1">
            <a:spLocks noGrp="1"/>
          </p:cNvSpPr>
          <p:nvPr>
            <p:ph type="sldNum" idx="12"/>
          </p:nvPr>
        </p:nvSpPr>
        <p:spPr>
          <a:xfrm>
            <a:off x="4673600" y="6356351"/>
            <a:ext cx="2844800" cy="365200"/>
          </a:xfrm>
          <a:prstGeom prst="rect">
            <a:avLst/>
          </a:prstGeom>
          <a:noFill/>
          <a:ln>
            <a:noFill/>
          </a:ln>
        </p:spPr>
        <p:txBody>
          <a:bodyPr spcFirstLastPara="1" vert="horz" wrap="square" lIns="91433" tIns="45700" rIns="91433" bIns="45700" rtlCol="0" anchor="ctr" anchorCtr="0">
            <a:noAutofit/>
          </a:bodyPr>
          <a:lstStyle/>
          <a:p>
            <a:fld id="{00000000-1234-1234-1234-123412341234}" type="slidenum">
              <a:rPr lang="en"/>
              <a:pPr/>
              <a:t>6</a:t>
            </a:fld>
            <a:endParaRPr/>
          </a:p>
        </p:txBody>
      </p:sp>
      <p:sp>
        <p:nvSpPr>
          <p:cNvPr id="267" name="Google Shape;267;p40"/>
          <p:cNvSpPr txBox="1">
            <a:spLocks noGrp="1"/>
          </p:cNvSpPr>
          <p:nvPr>
            <p:ph type="ctrTitle"/>
          </p:nvPr>
        </p:nvSpPr>
        <p:spPr>
          <a:xfrm>
            <a:off x="886713" y="2140771"/>
            <a:ext cx="10363200" cy="3025200"/>
          </a:xfrm>
          <a:prstGeom prst="rect">
            <a:avLst/>
          </a:prstGeom>
          <a:noFill/>
          <a:ln>
            <a:noFill/>
          </a:ln>
        </p:spPr>
        <p:txBody>
          <a:bodyPr spcFirstLastPara="1" vert="horz" wrap="square" lIns="91433" tIns="45700" rIns="91433" bIns="45700" rtlCol="0" anchor="ctr" anchorCtr="0">
            <a:noAutofit/>
          </a:bodyPr>
          <a:lstStyle/>
          <a:p>
            <a:pPr>
              <a:buSzPts val="4100"/>
            </a:pPr>
            <a:r>
              <a:rPr lang="en-US" sz="6000" b="1" dirty="0"/>
              <a:t>Key Ideas from Literature</a:t>
            </a:r>
            <a:endParaRPr dirty="0"/>
          </a:p>
        </p:txBody>
      </p:sp>
    </p:spTree>
    <p:extLst>
      <p:ext uri="{BB962C8B-B14F-4D97-AF65-F5344CB8AC3E}">
        <p14:creationId xmlns:p14="http://schemas.microsoft.com/office/powerpoint/2010/main" val="3878738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E0B665-389D-46B8-963A-195891F0E73D}"/>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8BCC67A2-7704-4B13-B151-80519013F0F6}"/>
              </a:ext>
            </a:extLst>
          </p:cNvPr>
          <p:cNvSpPr>
            <a:spLocks noGrp="1"/>
          </p:cNvSpPr>
          <p:nvPr>
            <p:ph type="sldNum" sz="quarter" idx="12"/>
          </p:nvPr>
        </p:nvSpPr>
        <p:spPr/>
        <p:txBody>
          <a:bodyPr/>
          <a:lstStyle/>
          <a:p>
            <a:fld id="{88279435-30EF-C241-87D1-8D13B984C0EB}" type="slidenum">
              <a:rPr lang="en-US" smtClean="0"/>
              <a:pPr/>
              <a:t>7</a:t>
            </a:fld>
            <a:endParaRPr lang="en-US" dirty="0"/>
          </a:p>
        </p:txBody>
      </p:sp>
      <p:sp>
        <p:nvSpPr>
          <p:cNvPr id="5" name="Title 4">
            <a:extLst>
              <a:ext uri="{FF2B5EF4-FFF2-40B4-BE49-F238E27FC236}">
                <a16:creationId xmlns:a16="http://schemas.microsoft.com/office/drawing/2014/main" id="{3838BB1A-AC9D-477E-893F-E39ED4150DF2}"/>
              </a:ext>
            </a:extLst>
          </p:cNvPr>
          <p:cNvSpPr>
            <a:spLocks noGrp="1"/>
          </p:cNvSpPr>
          <p:nvPr>
            <p:ph type="title"/>
          </p:nvPr>
        </p:nvSpPr>
        <p:spPr/>
        <p:txBody>
          <a:bodyPr/>
          <a:lstStyle/>
          <a:p>
            <a:r>
              <a:rPr lang="en-US" b="1" dirty="0"/>
              <a:t>Literature Review</a:t>
            </a:r>
          </a:p>
        </p:txBody>
      </p:sp>
      <p:sp>
        <p:nvSpPr>
          <p:cNvPr id="8" name="Content Placeholder 1">
            <a:extLst>
              <a:ext uri="{FF2B5EF4-FFF2-40B4-BE49-F238E27FC236}">
                <a16:creationId xmlns:a16="http://schemas.microsoft.com/office/drawing/2014/main" id="{30EB1850-DDE7-4D48-A03F-95AA03B70DBD}"/>
              </a:ext>
            </a:extLst>
          </p:cNvPr>
          <p:cNvSpPr txBox="1">
            <a:spLocks/>
          </p:cNvSpPr>
          <p:nvPr/>
        </p:nvSpPr>
        <p:spPr>
          <a:xfrm>
            <a:off x="384535" y="1015474"/>
            <a:ext cx="11490664" cy="48432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r>
              <a:rPr lang="en-US" dirty="0"/>
              <a:t>Most modelling attempts were on infectious diseases </a:t>
            </a:r>
          </a:p>
          <a:p>
            <a:pPr lvl="3"/>
            <a:r>
              <a:rPr lang="en-US" dirty="0"/>
              <a:t>Vector borne Diseases (Malaria, Dengue)</a:t>
            </a:r>
          </a:p>
          <a:p>
            <a:pPr lvl="3"/>
            <a:r>
              <a:rPr lang="en-US" dirty="0"/>
              <a:t>Influenza Like Infections (ILI)</a:t>
            </a:r>
          </a:p>
          <a:p>
            <a:pPr lvl="2"/>
            <a:r>
              <a:rPr lang="en-US" dirty="0"/>
              <a:t>ILI  Disease outbreak especially Covid-19 have been mathematically modelled : SIR (Susceptible Infected Recovered)</a:t>
            </a:r>
          </a:p>
          <a:p>
            <a:pPr lvl="2"/>
            <a:r>
              <a:rPr lang="en-US" dirty="0"/>
              <a:t>Most studies were carried out for specific regions of some provinces/states, not region agnostic</a:t>
            </a:r>
          </a:p>
          <a:p>
            <a:pPr lvl="2"/>
            <a:endParaRPr lang="en-US" dirty="0"/>
          </a:p>
          <a:p>
            <a:pPr lvl="2"/>
            <a:endParaRPr lang="en-US" dirty="0"/>
          </a:p>
        </p:txBody>
      </p:sp>
    </p:spTree>
    <p:extLst>
      <p:ext uri="{BB962C8B-B14F-4D97-AF65-F5344CB8AC3E}">
        <p14:creationId xmlns:p14="http://schemas.microsoft.com/office/powerpoint/2010/main" val="1617201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E0B665-389D-46B8-963A-195891F0E73D}"/>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8BCC67A2-7704-4B13-B151-80519013F0F6}"/>
              </a:ext>
            </a:extLst>
          </p:cNvPr>
          <p:cNvSpPr>
            <a:spLocks noGrp="1"/>
          </p:cNvSpPr>
          <p:nvPr>
            <p:ph type="sldNum" sz="quarter" idx="12"/>
          </p:nvPr>
        </p:nvSpPr>
        <p:spPr/>
        <p:txBody>
          <a:bodyPr/>
          <a:lstStyle/>
          <a:p>
            <a:fld id="{88279435-30EF-C241-87D1-8D13B984C0EB}" type="slidenum">
              <a:rPr lang="en-US" smtClean="0"/>
              <a:pPr/>
              <a:t>8</a:t>
            </a:fld>
            <a:endParaRPr lang="en-US" dirty="0"/>
          </a:p>
        </p:txBody>
      </p:sp>
      <p:sp>
        <p:nvSpPr>
          <p:cNvPr id="5" name="Title 4">
            <a:extLst>
              <a:ext uri="{FF2B5EF4-FFF2-40B4-BE49-F238E27FC236}">
                <a16:creationId xmlns:a16="http://schemas.microsoft.com/office/drawing/2014/main" id="{3838BB1A-AC9D-477E-893F-E39ED4150DF2}"/>
              </a:ext>
            </a:extLst>
          </p:cNvPr>
          <p:cNvSpPr>
            <a:spLocks noGrp="1"/>
          </p:cNvSpPr>
          <p:nvPr>
            <p:ph type="title"/>
          </p:nvPr>
        </p:nvSpPr>
        <p:spPr/>
        <p:txBody>
          <a:bodyPr/>
          <a:lstStyle/>
          <a:p>
            <a:r>
              <a:rPr lang="en-US" b="1" dirty="0"/>
              <a:t>EPIRISK</a:t>
            </a:r>
          </a:p>
        </p:txBody>
      </p:sp>
      <p:sp>
        <p:nvSpPr>
          <p:cNvPr id="8" name="Content Placeholder 1">
            <a:extLst>
              <a:ext uri="{FF2B5EF4-FFF2-40B4-BE49-F238E27FC236}">
                <a16:creationId xmlns:a16="http://schemas.microsoft.com/office/drawing/2014/main" id="{30EB1850-DDE7-4D48-A03F-95AA03B70DBD}"/>
              </a:ext>
            </a:extLst>
          </p:cNvPr>
          <p:cNvSpPr txBox="1">
            <a:spLocks/>
          </p:cNvSpPr>
          <p:nvPr/>
        </p:nvSpPr>
        <p:spPr>
          <a:xfrm>
            <a:off x="384535" y="1015474"/>
            <a:ext cx="11490664" cy="4843250"/>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r>
              <a:rPr lang="en-US" dirty="0"/>
              <a:t>Disease-Related Parameters</a:t>
            </a:r>
          </a:p>
          <a:p>
            <a:pPr lvl="3"/>
            <a:r>
              <a:rPr lang="en-US" dirty="0"/>
              <a:t>Type of Pathogen</a:t>
            </a:r>
          </a:p>
          <a:p>
            <a:pPr lvl="3"/>
            <a:r>
              <a:rPr lang="en-US" dirty="0"/>
              <a:t>Transmission Mode</a:t>
            </a:r>
          </a:p>
          <a:p>
            <a:pPr lvl="3"/>
            <a:r>
              <a:rPr lang="en-US" dirty="0"/>
              <a:t>Basic Reproductive Number (R₀)</a:t>
            </a:r>
          </a:p>
          <a:p>
            <a:pPr lvl="3"/>
            <a:r>
              <a:rPr lang="en-US" dirty="0"/>
              <a:t>Case Fatality Rate</a:t>
            </a:r>
          </a:p>
          <a:p>
            <a:pPr lvl="3"/>
            <a:r>
              <a:rPr lang="en-US" dirty="0"/>
              <a:t>Availability of Vaccine</a:t>
            </a:r>
          </a:p>
          <a:p>
            <a:pPr lvl="2"/>
            <a:r>
              <a:rPr lang="en-US" dirty="0"/>
              <a:t>Country-Related Parameters</a:t>
            </a:r>
          </a:p>
          <a:p>
            <a:pPr lvl="3"/>
            <a:r>
              <a:rPr lang="en-US" dirty="0"/>
              <a:t>Socioeconomic Factors:</a:t>
            </a:r>
          </a:p>
          <a:p>
            <a:pPr lvl="3"/>
            <a:r>
              <a:rPr lang="en-US" dirty="0"/>
              <a:t>Health System Capacity: </a:t>
            </a:r>
          </a:p>
          <a:p>
            <a:pPr lvl="3"/>
            <a:r>
              <a:rPr lang="en-US" dirty="0"/>
              <a:t>Population Density: </a:t>
            </a:r>
          </a:p>
          <a:p>
            <a:pPr lvl="3"/>
            <a:r>
              <a:rPr lang="en-US" dirty="0"/>
              <a:t>Urbanization Rate</a:t>
            </a:r>
          </a:p>
          <a:p>
            <a:pPr lvl="3"/>
            <a:r>
              <a:rPr lang="en-US" dirty="0"/>
              <a:t>Cultural Practices</a:t>
            </a:r>
          </a:p>
          <a:p>
            <a:pPr lvl="3"/>
            <a:r>
              <a:rPr lang="en-US" dirty="0"/>
              <a:t>Travel and Migration Patterns</a:t>
            </a:r>
          </a:p>
          <a:p>
            <a:pPr lvl="3"/>
            <a:r>
              <a:rPr lang="en-US" dirty="0"/>
              <a:t>Public Health Policies</a:t>
            </a:r>
          </a:p>
          <a:p>
            <a:pPr lvl="3"/>
            <a:r>
              <a:rPr lang="en-US" dirty="0"/>
              <a:t>Previous Outbreak Experience</a:t>
            </a:r>
          </a:p>
          <a:p>
            <a:pPr lvl="3"/>
            <a:endParaRPr lang="en-US" dirty="0"/>
          </a:p>
          <a:p>
            <a:pPr lvl="2"/>
            <a:endParaRPr lang="en-US" dirty="0"/>
          </a:p>
        </p:txBody>
      </p:sp>
    </p:spTree>
    <p:extLst>
      <p:ext uri="{BB962C8B-B14F-4D97-AF65-F5344CB8AC3E}">
        <p14:creationId xmlns:p14="http://schemas.microsoft.com/office/powerpoint/2010/main" val="1333247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0"/>
          <p:cNvSpPr txBox="1">
            <a:spLocks noGrp="1"/>
          </p:cNvSpPr>
          <p:nvPr>
            <p:ph type="dt" idx="10"/>
          </p:nvPr>
        </p:nvSpPr>
        <p:spPr>
          <a:xfrm>
            <a:off x="609600" y="6356351"/>
            <a:ext cx="2844800" cy="365200"/>
          </a:xfrm>
          <a:prstGeom prst="rect">
            <a:avLst/>
          </a:prstGeom>
          <a:noFill/>
          <a:ln>
            <a:noFill/>
          </a:ln>
        </p:spPr>
        <p:txBody>
          <a:bodyPr spcFirstLastPara="1" vert="horz" wrap="square" lIns="91433" tIns="45700" rIns="91433" bIns="45700" rtlCol="0" anchor="ctr" anchorCtr="0">
            <a:noAutofit/>
          </a:bodyPr>
          <a:lstStyle/>
          <a:p>
            <a:r>
              <a:rPr lang="en-US" dirty="0"/>
              <a:t>January 22, 2025</a:t>
            </a:r>
            <a:endParaRPr dirty="0"/>
          </a:p>
        </p:txBody>
      </p:sp>
      <p:sp>
        <p:nvSpPr>
          <p:cNvPr id="266" name="Google Shape;266;p40"/>
          <p:cNvSpPr txBox="1">
            <a:spLocks noGrp="1"/>
          </p:cNvSpPr>
          <p:nvPr>
            <p:ph type="sldNum" idx="12"/>
          </p:nvPr>
        </p:nvSpPr>
        <p:spPr>
          <a:xfrm>
            <a:off x="4673600" y="6356351"/>
            <a:ext cx="2844800" cy="365200"/>
          </a:xfrm>
          <a:prstGeom prst="rect">
            <a:avLst/>
          </a:prstGeom>
          <a:noFill/>
          <a:ln>
            <a:noFill/>
          </a:ln>
        </p:spPr>
        <p:txBody>
          <a:bodyPr spcFirstLastPara="1" vert="horz" wrap="square" lIns="91433" tIns="45700" rIns="91433" bIns="45700" rtlCol="0" anchor="ctr" anchorCtr="0">
            <a:noAutofit/>
          </a:bodyPr>
          <a:lstStyle/>
          <a:p>
            <a:fld id="{00000000-1234-1234-1234-123412341234}" type="slidenum">
              <a:rPr lang="en"/>
              <a:pPr/>
              <a:t>9</a:t>
            </a:fld>
            <a:endParaRPr/>
          </a:p>
        </p:txBody>
      </p:sp>
      <p:sp>
        <p:nvSpPr>
          <p:cNvPr id="267" name="Google Shape;267;p40"/>
          <p:cNvSpPr txBox="1">
            <a:spLocks noGrp="1"/>
          </p:cNvSpPr>
          <p:nvPr>
            <p:ph type="ctrTitle"/>
          </p:nvPr>
        </p:nvSpPr>
        <p:spPr>
          <a:xfrm>
            <a:off x="886713" y="2140771"/>
            <a:ext cx="10363200" cy="3025200"/>
          </a:xfrm>
          <a:prstGeom prst="rect">
            <a:avLst/>
          </a:prstGeom>
          <a:noFill/>
          <a:ln>
            <a:noFill/>
          </a:ln>
        </p:spPr>
        <p:txBody>
          <a:bodyPr spcFirstLastPara="1" vert="horz" wrap="square" lIns="91433" tIns="45700" rIns="91433" bIns="45700" rtlCol="0" anchor="ctr" anchorCtr="0">
            <a:noAutofit/>
          </a:bodyPr>
          <a:lstStyle/>
          <a:p>
            <a:pPr>
              <a:buSzPts val="4100"/>
            </a:pPr>
            <a:r>
              <a:rPr lang="en" sz="5467" b="1" dirty="0"/>
              <a:t>Data Acquisition</a:t>
            </a:r>
            <a:endParaRPr dirty="0"/>
          </a:p>
        </p:txBody>
      </p:sp>
    </p:spTree>
    <p:extLst>
      <p:ext uri="{BB962C8B-B14F-4D97-AF65-F5344CB8AC3E}">
        <p14:creationId xmlns:p14="http://schemas.microsoft.com/office/powerpoint/2010/main" val="1952347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FDE825-0D19-46DB-B5E8-1F1761F80589}"/>
              </a:ext>
            </a:extLst>
          </p:cNvPr>
          <p:cNvSpPr>
            <a:spLocks noGrp="1"/>
          </p:cNvSpPr>
          <p:nvPr>
            <p:ph idx="1"/>
          </p:nvPr>
        </p:nvSpPr>
        <p:spPr/>
        <p:txBody>
          <a:bodyPr/>
          <a:lstStyle/>
          <a:p>
            <a:endParaRPr lang="en-US" dirty="0"/>
          </a:p>
          <a:p>
            <a:endParaRPr lang="en-US" dirty="0"/>
          </a:p>
        </p:txBody>
      </p:sp>
      <p:sp>
        <p:nvSpPr>
          <p:cNvPr id="3" name="Date Placeholder 2">
            <a:extLst>
              <a:ext uri="{FF2B5EF4-FFF2-40B4-BE49-F238E27FC236}">
                <a16:creationId xmlns:a16="http://schemas.microsoft.com/office/drawing/2014/main" id="{42E0B665-389D-46B8-963A-195891F0E73D}"/>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8BCC67A2-7704-4B13-B151-80519013F0F6}"/>
              </a:ext>
            </a:extLst>
          </p:cNvPr>
          <p:cNvSpPr>
            <a:spLocks noGrp="1"/>
          </p:cNvSpPr>
          <p:nvPr>
            <p:ph type="sldNum" sz="quarter" idx="12"/>
          </p:nvPr>
        </p:nvSpPr>
        <p:spPr/>
        <p:txBody>
          <a:bodyPr/>
          <a:lstStyle/>
          <a:p>
            <a:fld id="{88279435-30EF-C241-87D1-8D13B984C0EB}" type="slidenum">
              <a:rPr lang="en-US" smtClean="0"/>
              <a:pPr/>
              <a:t>10</a:t>
            </a:fld>
            <a:endParaRPr lang="en-US" dirty="0"/>
          </a:p>
        </p:txBody>
      </p:sp>
      <p:sp>
        <p:nvSpPr>
          <p:cNvPr id="5" name="Title 4">
            <a:extLst>
              <a:ext uri="{FF2B5EF4-FFF2-40B4-BE49-F238E27FC236}">
                <a16:creationId xmlns:a16="http://schemas.microsoft.com/office/drawing/2014/main" id="{3838BB1A-AC9D-477E-893F-E39ED4150DF2}"/>
              </a:ext>
            </a:extLst>
          </p:cNvPr>
          <p:cNvSpPr>
            <a:spLocks noGrp="1"/>
          </p:cNvSpPr>
          <p:nvPr>
            <p:ph type="title"/>
          </p:nvPr>
        </p:nvSpPr>
        <p:spPr/>
        <p:txBody>
          <a:bodyPr/>
          <a:lstStyle/>
          <a:p>
            <a:r>
              <a:rPr lang="en" sz="3600" b="1" dirty="0"/>
              <a:t>Data Acquisition</a:t>
            </a:r>
            <a:endParaRPr lang="en-US" b="1" dirty="0"/>
          </a:p>
        </p:txBody>
      </p:sp>
      <p:sp>
        <p:nvSpPr>
          <p:cNvPr id="8" name="Content Placeholder 1">
            <a:extLst>
              <a:ext uri="{FF2B5EF4-FFF2-40B4-BE49-F238E27FC236}">
                <a16:creationId xmlns:a16="http://schemas.microsoft.com/office/drawing/2014/main" id="{30EB1850-DDE7-4D48-A03F-95AA03B70DBD}"/>
              </a:ext>
            </a:extLst>
          </p:cNvPr>
          <p:cNvSpPr txBox="1">
            <a:spLocks/>
          </p:cNvSpPr>
          <p:nvPr/>
        </p:nvSpPr>
        <p:spPr>
          <a:xfrm>
            <a:off x="384535" y="1015474"/>
            <a:ext cx="11490664" cy="48432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r>
              <a:rPr lang="en-US" dirty="0"/>
              <a:t>State-wise Patient Encounters : Delta table</a:t>
            </a:r>
          </a:p>
          <a:p>
            <a:pPr lvl="2"/>
            <a:r>
              <a:rPr lang="en-US" dirty="0"/>
              <a:t>Historical Weather data : open-meteo.com</a:t>
            </a:r>
          </a:p>
          <a:p>
            <a:pPr lvl="3"/>
            <a:r>
              <a:rPr lang="en-US" dirty="0"/>
              <a:t>Mean Precipitation</a:t>
            </a:r>
          </a:p>
          <a:p>
            <a:pPr lvl="3"/>
            <a:r>
              <a:rPr lang="en-US" dirty="0"/>
              <a:t>Mean Temperature</a:t>
            </a:r>
          </a:p>
          <a:p>
            <a:pPr lvl="3"/>
            <a:r>
              <a:rPr lang="en-US" dirty="0"/>
              <a:t>Mean evaporation</a:t>
            </a:r>
          </a:p>
          <a:p>
            <a:pPr lvl="2"/>
            <a:r>
              <a:rPr lang="en-US" dirty="0"/>
              <a:t>Census / Population metrics : Federal Bureau of Census</a:t>
            </a:r>
          </a:p>
          <a:p>
            <a:pPr lvl="3"/>
            <a:r>
              <a:rPr lang="en-US" dirty="0"/>
              <a:t>Population</a:t>
            </a:r>
          </a:p>
          <a:p>
            <a:pPr lvl="3"/>
            <a:r>
              <a:rPr lang="en-US" dirty="0"/>
              <a:t>Avg income</a:t>
            </a:r>
          </a:p>
          <a:p>
            <a:pPr lvl="3"/>
            <a:r>
              <a:rPr lang="en-US" dirty="0"/>
              <a:t>Population Density</a:t>
            </a:r>
          </a:p>
          <a:p>
            <a:pPr lvl="3"/>
            <a:endParaRPr lang="en-US" dirty="0"/>
          </a:p>
          <a:p>
            <a:pPr lvl="2"/>
            <a:endParaRPr lang="en-US" dirty="0"/>
          </a:p>
        </p:txBody>
      </p:sp>
    </p:spTree>
    <p:extLst>
      <p:ext uri="{BB962C8B-B14F-4D97-AF65-F5344CB8AC3E}">
        <p14:creationId xmlns:p14="http://schemas.microsoft.com/office/powerpoint/2010/main" val="926706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FDE825-0D19-46DB-B5E8-1F1761F80589}"/>
              </a:ext>
            </a:extLst>
          </p:cNvPr>
          <p:cNvSpPr>
            <a:spLocks noGrp="1"/>
          </p:cNvSpPr>
          <p:nvPr>
            <p:ph idx="1"/>
          </p:nvPr>
        </p:nvSpPr>
        <p:spPr/>
        <p:txBody>
          <a:bodyPr/>
          <a:lstStyle/>
          <a:p>
            <a:endParaRPr lang="en-US" dirty="0"/>
          </a:p>
          <a:p>
            <a:endParaRPr lang="en-US" dirty="0"/>
          </a:p>
        </p:txBody>
      </p:sp>
      <p:sp>
        <p:nvSpPr>
          <p:cNvPr id="3" name="Date Placeholder 2">
            <a:extLst>
              <a:ext uri="{FF2B5EF4-FFF2-40B4-BE49-F238E27FC236}">
                <a16:creationId xmlns:a16="http://schemas.microsoft.com/office/drawing/2014/main" id="{42E0B665-389D-46B8-963A-195891F0E73D}"/>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8BCC67A2-7704-4B13-B151-80519013F0F6}"/>
              </a:ext>
            </a:extLst>
          </p:cNvPr>
          <p:cNvSpPr>
            <a:spLocks noGrp="1"/>
          </p:cNvSpPr>
          <p:nvPr>
            <p:ph type="sldNum" sz="quarter" idx="12"/>
          </p:nvPr>
        </p:nvSpPr>
        <p:spPr/>
        <p:txBody>
          <a:bodyPr/>
          <a:lstStyle/>
          <a:p>
            <a:fld id="{88279435-30EF-C241-87D1-8D13B984C0EB}" type="slidenum">
              <a:rPr lang="en-US" smtClean="0"/>
              <a:pPr/>
              <a:t>11</a:t>
            </a:fld>
            <a:endParaRPr lang="en-US" dirty="0"/>
          </a:p>
        </p:txBody>
      </p:sp>
      <p:sp>
        <p:nvSpPr>
          <p:cNvPr id="5" name="Title 4">
            <a:extLst>
              <a:ext uri="{FF2B5EF4-FFF2-40B4-BE49-F238E27FC236}">
                <a16:creationId xmlns:a16="http://schemas.microsoft.com/office/drawing/2014/main" id="{3838BB1A-AC9D-477E-893F-E39ED4150DF2}"/>
              </a:ext>
            </a:extLst>
          </p:cNvPr>
          <p:cNvSpPr>
            <a:spLocks noGrp="1"/>
          </p:cNvSpPr>
          <p:nvPr>
            <p:ph type="title"/>
          </p:nvPr>
        </p:nvSpPr>
        <p:spPr/>
        <p:txBody>
          <a:bodyPr/>
          <a:lstStyle/>
          <a:p>
            <a:r>
              <a:rPr lang="en" sz="3600" b="1" dirty="0"/>
              <a:t>Data Acquisition : </a:t>
            </a:r>
            <a:r>
              <a:rPr lang="en-US" sz="3600" b="1" dirty="0"/>
              <a:t>Disease Specific Traits </a:t>
            </a:r>
            <a:endParaRPr lang="en-US" b="1" dirty="0"/>
          </a:p>
        </p:txBody>
      </p:sp>
      <p:sp>
        <p:nvSpPr>
          <p:cNvPr id="8" name="Content Placeholder 1">
            <a:extLst>
              <a:ext uri="{FF2B5EF4-FFF2-40B4-BE49-F238E27FC236}">
                <a16:creationId xmlns:a16="http://schemas.microsoft.com/office/drawing/2014/main" id="{30EB1850-DDE7-4D48-A03F-95AA03B70DBD}"/>
              </a:ext>
            </a:extLst>
          </p:cNvPr>
          <p:cNvSpPr txBox="1">
            <a:spLocks/>
          </p:cNvSpPr>
          <p:nvPr/>
        </p:nvSpPr>
        <p:spPr>
          <a:xfrm>
            <a:off x="384535" y="1015474"/>
            <a:ext cx="11490664" cy="48432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r>
              <a:rPr lang="en-US" dirty="0"/>
              <a:t>Disease Specific Traits : Centre for Disease Control and Prevention CDC</a:t>
            </a:r>
          </a:p>
          <a:p>
            <a:pPr lvl="3"/>
            <a:r>
              <a:rPr lang="en-US" dirty="0"/>
              <a:t>Transmission Mode</a:t>
            </a:r>
          </a:p>
          <a:p>
            <a:pPr lvl="3"/>
            <a:r>
              <a:rPr lang="en-US" dirty="0"/>
              <a:t>Rate of Spread</a:t>
            </a:r>
          </a:p>
          <a:p>
            <a:pPr lvl="3"/>
            <a:r>
              <a:rPr lang="en-US" dirty="0"/>
              <a:t>Rate of Recovery</a:t>
            </a:r>
          </a:p>
          <a:p>
            <a:pPr lvl="2"/>
            <a:r>
              <a:rPr lang="en-US" dirty="0"/>
              <a:t>Disease similar in traits are expected to spread in a similar fashion</a:t>
            </a:r>
          </a:p>
          <a:p>
            <a:pPr lvl="2"/>
            <a:r>
              <a:rPr lang="en-US" dirty="0"/>
              <a:t>Even if an unknown disease gets an outbreak, the model will try and predict by seeing its similarity in disease traits in historical data</a:t>
            </a:r>
          </a:p>
        </p:txBody>
      </p:sp>
    </p:spTree>
    <p:extLst>
      <p:ext uri="{BB962C8B-B14F-4D97-AF65-F5344CB8AC3E}">
        <p14:creationId xmlns:p14="http://schemas.microsoft.com/office/powerpoint/2010/main" val="3574555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0"/>
          <p:cNvSpPr txBox="1">
            <a:spLocks noGrp="1"/>
          </p:cNvSpPr>
          <p:nvPr>
            <p:ph type="dt" idx="10"/>
          </p:nvPr>
        </p:nvSpPr>
        <p:spPr>
          <a:xfrm>
            <a:off x="609600" y="6356351"/>
            <a:ext cx="2844800" cy="365200"/>
          </a:xfrm>
          <a:prstGeom prst="rect">
            <a:avLst/>
          </a:prstGeom>
          <a:noFill/>
          <a:ln>
            <a:noFill/>
          </a:ln>
        </p:spPr>
        <p:txBody>
          <a:bodyPr spcFirstLastPara="1" vert="horz" wrap="square" lIns="91433" tIns="45700" rIns="91433" bIns="45700" rtlCol="0" anchor="ctr" anchorCtr="0">
            <a:noAutofit/>
          </a:bodyPr>
          <a:lstStyle/>
          <a:p>
            <a:r>
              <a:rPr lang="en-US" dirty="0"/>
              <a:t>January 22, 2025</a:t>
            </a:r>
            <a:endParaRPr dirty="0"/>
          </a:p>
        </p:txBody>
      </p:sp>
      <p:sp>
        <p:nvSpPr>
          <p:cNvPr id="266" name="Google Shape;266;p40"/>
          <p:cNvSpPr txBox="1">
            <a:spLocks noGrp="1"/>
          </p:cNvSpPr>
          <p:nvPr>
            <p:ph type="sldNum" idx="12"/>
          </p:nvPr>
        </p:nvSpPr>
        <p:spPr>
          <a:xfrm>
            <a:off x="4673600" y="6356351"/>
            <a:ext cx="2844800" cy="365200"/>
          </a:xfrm>
          <a:prstGeom prst="rect">
            <a:avLst/>
          </a:prstGeom>
          <a:noFill/>
          <a:ln>
            <a:noFill/>
          </a:ln>
        </p:spPr>
        <p:txBody>
          <a:bodyPr spcFirstLastPara="1" vert="horz" wrap="square" lIns="91433" tIns="45700" rIns="91433" bIns="45700" rtlCol="0" anchor="ctr" anchorCtr="0">
            <a:noAutofit/>
          </a:bodyPr>
          <a:lstStyle/>
          <a:p>
            <a:fld id="{00000000-1234-1234-1234-123412341234}" type="slidenum">
              <a:rPr lang="en"/>
              <a:pPr/>
              <a:t>12</a:t>
            </a:fld>
            <a:endParaRPr/>
          </a:p>
        </p:txBody>
      </p:sp>
      <p:sp>
        <p:nvSpPr>
          <p:cNvPr id="267" name="Google Shape;267;p40"/>
          <p:cNvSpPr txBox="1">
            <a:spLocks noGrp="1"/>
          </p:cNvSpPr>
          <p:nvPr>
            <p:ph type="ctrTitle"/>
          </p:nvPr>
        </p:nvSpPr>
        <p:spPr>
          <a:xfrm>
            <a:off x="886713" y="2140771"/>
            <a:ext cx="10363200" cy="3025200"/>
          </a:xfrm>
          <a:prstGeom prst="rect">
            <a:avLst/>
          </a:prstGeom>
          <a:noFill/>
          <a:ln>
            <a:noFill/>
          </a:ln>
        </p:spPr>
        <p:txBody>
          <a:bodyPr spcFirstLastPara="1" vert="horz" wrap="square" lIns="91433" tIns="45700" rIns="91433" bIns="45700" rtlCol="0" anchor="ctr" anchorCtr="0">
            <a:noAutofit/>
          </a:bodyPr>
          <a:lstStyle/>
          <a:p>
            <a:pPr>
              <a:buSzPts val="4100"/>
            </a:pPr>
            <a:r>
              <a:rPr lang="en" sz="5467" b="1" dirty="0"/>
              <a:t>EDA</a:t>
            </a:r>
            <a:endParaRPr dirty="0"/>
          </a:p>
        </p:txBody>
      </p:sp>
    </p:spTree>
    <p:extLst>
      <p:ext uri="{BB962C8B-B14F-4D97-AF65-F5344CB8AC3E}">
        <p14:creationId xmlns:p14="http://schemas.microsoft.com/office/powerpoint/2010/main" val="388405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FDE825-0D19-46DB-B5E8-1F1761F80589}"/>
              </a:ext>
            </a:extLst>
          </p:cNvPr>
          <p:cNvSpPr>
            <a:spLocks noGrp="1"/>
          </p:cNvSpPr>
          <p:nvPr>
            <p:ph idx="1"/>
          </p:nvPr>
        </p:nvSpPr>
        <p:spPr/>
        <p:txBody>
          <a:bodyPr/>
          <a:lstStyle/>
          <a:p>
            <a:endParaRPr lang="en-US" dirty="0"/>
          </a:p>
          <a:p>
            <a:endParaRPr lang="en-US" dirty="0"/>
          </a:p>
        </p:txBody>
      </p:sp>
      <p:sp>
        <p:nvSpPr>
          <p:cNvPr id="3" name="Date Placeholder 2">
            <a:extLst>
              <a:ext uri="{FF2B5EF4-FFF2-40B4-BE49-F238E27FC236}">
                <a16:creationId xmlns:a16="http://schemas.microsoft.com/office/drawing/2014/main" id="{42E0B665-389D-46B8-963A-195891F0E73D}"/>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8BCC67A2-7704-4B13-B151-80519013F0F6}"/>
              </a:ext>
            </a:extLst>
          </p:cNvPr>
          <p:cNvSpPr>
            <a:spLocks noGrp="1"/>
          </p:cNvSpPr>
          <p:nvPr>
            <p:ph type="sldNum" sz="quarter" idx="12"/>
          </p:nvPr>
        </p:nvSpPr>
        <p:spPr/>
        <p:txBody>
          <a:bodyPr/>
          <a:lstStyle/>
          <a:p>
            <a:fld id="{88279435-30EF-C241-87D1-8D13B984C0EB}" type="slidenum">
              <a:rPr lang="en-US" smtClean="0"/>
              <a:pPr/>
              <a:t>13</a:t>
            </a:fld>
            <a:endParaRPr lang="en-US" dirty="0"/>
          </a:p>
        </p:txBody>
      </p:sp>
      <p:sp>
        <p:nvSpPr>
          <p:cNvPr id="5" name="Title 4">
            <a:extLst>
              <a:ext uri="{FF2B5EF4-FFF2-40B4-BE49-F238E27FC236}">
                <a16:creationId xmlns:a16="http://schemas.microsoft.com/office/drawing/2014/main" id="{3838BB1A-AC9D-477E-893F-E39ED4150DF2}"/>
              </a:ext>
            </a:extLst>
          </p:cNvPr>
          <p:cNvSpPr>
            <a:spLocks noGrp="1"/>
          </p:cNvSpPr>
          <p:nvPr>
            <p:ph type="title"/>
          </p:nvPr>
        </p:nvSpPr>
        <p:spPr/>
        <p:txBody>
          <a:bodyPr/>
          <a:lstStyle/>
          <a:p>
            <a:r>
              <a:rPr lang="en" sz="3600" b="1" dirty="0"/>
              <a:t>EDA : A lot of Zeroes</a:t>
            </a:r>
            <a:endParaRPr lang="en-US" b="1" dirty="0"/>
          </a:p>
        </p:txBody>
      </p:sp>
      <p:sp>
        <p:nvSpPr>
          <p:cNvPr id="9" name="Content Placeholder 1">
            <a:extLst>
              <a:ext uri="{FF2B5EF4-FFF2-40B4-BE49-F238E27FC236}">
                <a16:creationId xmlns:a16="http://schemas.microsoft.com/office/drawing/2014/main" id="{E2FCEB35-A8F7-498A-B42E-AF16A3D92656}"/>
              </a:ext>
            </a:extLst>
          </p:cNvPr>
          <p:cNvSpPr txBox="1">
            <a:spLocks/>
          </p:cNvSpPr>
          <p:nvPr/>
        </p:nvSpPr>
        <p:spPr>
          <a:xfrm>
            <a:off x="384535" y="1331185"/>
            <a:ext cx="11490664" cy="48432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endParaRPr lang="en-US" dirty="0"/>
          </a:p>
          <a:p>
            <a:pPr lvl="2"/>
            <a:endParaRPr lang="en-US" dirty="0"/>
          </a:p>
        </p:txBody>
      </p:sp>
      <p:pic>
        <p:nvPicPr>
          <p:cNvPr id="7" name="Picture 6">
            <a:extLst>
              <a:ext uri="{FF2B5EF4-FFF2-40B4-BE49-F238E27FC236}">
                <a16:creationId xmlns:a16="http://schemas.microsoft.com/office/drawing/2014/main" id="{500C674A-7E59-480D-94C9-C8490226D8BB}"/>
              </a:ext>
            </a:extLst>
          </p:cNvPr>
          <p:cNvPicPr>
            <a:picLocks noChangeAspect="1"/>
          </p:cNvPicPr>
          <p:nvPr/>
        </p:nvPicPr>
        <p:blipFill>
          <a:blip r:embed="rId2"/>
          <a:stretch>
            <a:fillRect/>
          </a:stretch>
        </p:blipFill>
        <p:spPr>
          <a:xfrm>
            <a:off x="5818717" y="2399075"/>
            <a:ext cx="6202882" cy="3846912"/>
          </a:xfrm>
          <a:prstGeom prst="rect">
            <a:avLst/>
          </a:prstGeom>
        </p:spPr>
      </p:pic>
      <p:pic>
        <p:nvPicPr>
          <p:cNvPr id="12" name="Picture 11">
            <a:extLst>
              <a:ext uri="{FF2B5EF4-FFF2-40B4-BE49-F238E27FC236}">
                <a16:creationId xmlns:a16="http://schemas.microsoft.com/office/drawing/2014/main" id="{C88E22E8-12E5-454F-8FE4-BE7E982E009F}"/>
              </a:ext>
            </a:extLst>
          </p:cNvPr>
          <p:cNvPicPr>
            <a:picLocks noChangeAspect="1"/>
          </p:cNvPicPr>
          <p:nvPr/>
        </p:nvPicPr>
        <p:blipFill>
          <a:blip r:embed="rId3"/>
          <a:stretch>
            <a:fillRect/>
          </a:stretch>
        </p:blipFill>
        <p:spPr>
          <a:xfrm>
            <a:off x="345202" y="3135292"/>
            <a:ext cx="5512848" cy="1636733"/>
          </a:xfrm>
          <a:prstGeom prst="rect">
            <a:avLst/>
          </a:prstGeom>
        </p:spPr>
      </p:pic>
      <p:sp>
        <p:nvSpPr>
          <p:cNvPr id="13" name="Content Placeholder 1">
            <a:extLst>
              <a:ext uri="{FF2B5EF4-FFF2-40B4-BE49-F238E27FC236}">
                <a16:creationId xmlns:a16="http://schemas.microsoft.com/office/drawing/2014/main" id="{AF201C0B-76FD-48F2-B19E-E6F61AF1B40B}"/>
              </a:ext>
            </a:extLst>
          </p:cNvPr>
          <p:cNvSpPr txBox="1">
            <a:spLocks/>
          </p:cNvSpPr>
          <p:nvPr/>
        </p:nvSpPr>
        <p:spPr>
          <a:xfrm>
            <a:off x="463201" y="1059934"/>
            <a:ext cx="11490664" cy="48432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r>
              <a:rPr lang="en-US" dirty="0"/>
              <a:t>Most of the historical data was sparse</a:t>
            </a:r>
          </a:p>
          <a:p>
            <a:pPr lvl="2"/>
            <a:endParaRPr lang="en-US" dirty="0"/>
          </a:p>
        </p:txBody>
      </p:sp>
    </p:spTree>
    <p:extLst>
      <p:ext uri="{BB962C8B-B14F-4D97-AF65-F5344CB8AC3E}">
        <p14:creationId xmlns:p14="http://schemas.microsoft.com/office/powerpoint/2010/main" val="2846778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E0B665-389D-46B8-963A-195891F0E73D}"/>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8BCC67A2-7704-4B13-B151-80519013F0F6}"/>
              </a:ext>
            </a:extLst>
          </p:cNvPr>
          <p:cNvSpPr>
            <a:spLocks noGrp="1"/>
          </p:cNvSpPr>
          <p:nvPr>
            <p:ph type="sldNum" sz="quarter" idx="12"/>
          </p:nvPr>
        </p:nvSpPr>
        <p:spPr/>
        <p:txBody>
          <a:bodyPr/>
          <a:lstStyle/>
          <a:p>
            <a:fld id="{88279435-30EF-C241-87D1-8D13B984C0EB}" type="slidenum">
              <a:rPr lang="en-US" smtClean="0"/>
              <a:pPr/>
              <a:t>14</a:t>
            </a:fld>
            <a:endParaRPr lang="en-US" dirty="0"/>
          </a:p>
        </p:txBody>
      </p:sp>
      <p:sp>
        <p:nvSpPr>
          <p:cNvPr id="5" name="Title 4">
            <a:extLst>
              <a:ext uri="{FF2B5EF4-FFF2-40B4-BE49-F238E27FC236}">
                <a16:creationId xmlns:a16="http://schemas.microsoft.com/office/drawing/2014/main" id="{3838BB1A-AC9D-477E-893F-E39ED4150DF2}"/>
              </a:ext>
            </a:extLst>
          </p:cNvPr>
          <p:cNvSpPr>
            <a:spLocks noGrp="1"/>
          </p:cNvSpPr>
          <p:nvPr>
            <p:ph type="title"/>
          </p:nvPr>
        </p:nvSpPr>
        <p:spPr/>
        <p:txBody>
          <a:bodyPr/>
          <a:lstStyle/>
          <a:p>
            <a:r>
              <a:rPr lang="en" sz="3600" b="1" dirty="0"/>
              <a:t>EDA</a:t>
            </a:r>
            <a:endParaRPr lang="en-US" b="1" dirty="0"/>
          </a:p>
        </p:txBody>
      </p:sp>
      <p:grpSp>
        <p:nvGrpSpPr>
          <p:cNvPr id="8" name="Group 7">
            <a:extLst>
              <a:ext uri="{FF2B5EF4-FFF2-40B4-BE49-F238E27FC236}">
                <a16:creationId xmlns:a16="http://schemas.microsoft.com/office/drawing/2014/main" id="{2412F15E-3932-4B74-851A-09880CB9E304}"/>
              </a:ext>
            </a:extLst>
          </p:cNvPr>
          <p:cNvGrpSpPr/>
          <p:nvPr/>
        </p:nvGrpSpPr>
        <p:grpSpPr>
          <a:xfrm>
            <a:off x="720149" y="1986374"/>
            <a:ext cx="10446902" cy="4182476"/>
            <a:chOff x="872549" y="1781175"/>
            <a:chExt cx="10446902" cy="4182476"/>
          </a:xfrm>
        </p:grpSpPr>
        <p:pic>
          <p:nvPicPr>
            <p:cNvPr id="7170" name="Picture 2">
              <a:extLst>
                <a:ext uri="{FF2B5EF4-FFF2-40B4-BE49-F238E27FC236}">
                  <a16:creationId xmlns:a16="http://schemas.microsoft.com/office/drawing/2014/main" id="{91BB9F3C-EE17-46EB-91A4-4FCF4B94DB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549" y="1781175"/>
              <a:ext cx="10446902" cy="41824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6A60651C-CD88-432F-8D39-312AD5436D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5962" r="28265" b="95042"/>
            <a:stretch/>
          </p:blipFill>
          <p:spPr bwMode="auto">
            <a:xfrm>
              <a:off x="6410325" y="1781175"/>
              <a:ext cx="1647826" cy="2073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a:extLst>
                <a:ext uri="{FF2B5EF4-FFF2-40B4-BE49-F238E27FC236}">
                  <a16:creationId xmlns:a16="http://schemas.microsoft.com/office/drawing/2014/main" id="{43EBDBE4-1EB2-4FA6-B939-E4D97C3F09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842" t="12981" r="69967" b="82919"/>
            <a:stretch/>
          </p:blipFill>
          <p:spPr bwMode="auto">
            <a:xfrm>
              <a:off x="8058151" y="1817099"/>
              <a:ext cx="333376" cy="171451"/>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Content Placeholder 1">
            <a:extLst>
              <a:ext uri="{FF2B5EF4-FFF2-40B4-BE49-F238E27FC236}">
                <a16:creationId xmlns:a16="http://schemas.microsoft.com/office/drawing/2014/main" id="{A7BB22E0-AD99-40AC-8BA3-C6E328B08653}"/>
              </a:ext>
            </a:extLst>
          </p:cNvPr>
          <p:cNvSpPr txBox="1">
            <a:spLocks/>
          </p:cNvSpPr>
          <p:nvPr/>
        </p:nvSpPr>
        <p:spPr>
          <a:xfrm>
            <a:off x="198268" y="1111796"/>
            <a:ext cx="11490664" cy="48432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r>
              <a:rPr lang="en-US" dirty="0"/>
              <a:t>Mostly data centered in few states </a:t>
            </a:r>
          </a:p>
          <a:p>
            <a:pPr lvl="2"/>
            <a:endParaRPr lang="en-US" dirty="0"/>
          </a:p>
          <a:p>
            <a:pPr lvl="2"/>
            <a:endParaRPr lang="en-US" dirty="0"/>
          </a:p>
        </p:txBody>
      </p:sp>
    </p:spTree>
    <p:extLst>
      <p:ext uri="{BB962C8B-B14F-4D97-AF65-F5344CB8AC3E}">
        <p14:creationId xmlns:p14="http://schemas.microsoft.com/office/powerpoint/2010/main" val="1922205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E0B665-389D-46B8-963A-195891F0E73D}"/>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8BCC67A2-7704-4B13-B151-80519013F0F6}"/>
              </a:ext>
            </a:extLst>
          </p:cNvPr>
          <p:cNvSpPr>
            <a:spLocks noGrp="1"/>
          </p:cNvSpPr>
          <p:nvPr>
            <p:ph type="sldNum" sz="quarter" idx="12"/>
          </p:nvPr>
        </p:nvSpPr>
        <p:spPr/>
        <p:txBody>
          <a:bodyPr/>
          <a:lstStyle/>
          <a:p>
            <a:fld id="{88279435-30EF-C241-87D1-8D13B984C0EB}" type="slidenum">
              <a:rPr lang="en-US" smtClean="0"/>
              <a:pPr/>
              <a:t>15</a:t>
            </a:fld>
            <a:endParaRPr lang="en-US" dirty="0"/>
          </a:p>
        </p:txBody>
      </p:sp>
      <p:sp>
        <p:nvSpPr>
          <p:cNvPr id="5" name="Title 4">
            <a:extLst>
              <a:ext uri="{FF2B5EF4-FFF2-40B4-BE49-F238E27FC236}">
                <a16:creationId xmlns:a16="http://schemas.microsoft.com/office/drawing/2014/main" id="{3838BB1A-AC9D-477E-893F-E39ED4150DF2}"/>
              </a:ext>
            </a:extLst>
          </p:cNvPr>
          <p:cNvSpPr>
            <a:spLocks noGrp="1"/>
          </p:cNvSpPr>
          <p:nvPr>
            <p:ph type="title"/>
          </p:nvPr>
        </p:nvSpPr>
        <p:spPr/>
        <p:txBody>
          <a:bodyPr/>
          <a:lstStyle/>
          <a:p>
            <a:r>
              <a:rPr lang="en" sz="3600" b="1" dirty="0"/>
              <a:t>EDA</a:t>
            </a:r>
            <a:endParaRPr lang="en-US" b="1" dirty="0"/>
          </a:p>
        </p:txBody>
      </p:sp>
      <p:sp>
        <p:nvSpPr>
          <p:cNvPr id="10" name="Content Placeholder 1">
            <a:extLst>
              <a:ext uri="{FF2B5EF4-FFF2-40B4-BE49-F238E27FC236}">
                <a16:creationId xmlns:a16="http://schemas.microsoft.com/office/drawing/2014/main" id="{948E526E-8F57-488E-99C7-22D6E8ABD686}"/>
              </a:ext>
            </a:extLst>
          </p:cNvPr>
          <p:cNvSpPr txBox="1">
            <a:spLocks/>
          </p:cNvSpPr>
          <p:nvPr/>
        </p:nvSpPr>
        <p:spPr>
          <a:xfrm>
            <a:off x="384534" y="1076895"/>
            <a:ext cx="11197865" cy="48432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742950" lvl="2" indent="-342900"/>
            <a:r>
              <a:rPr lang="en-US" dirty="0"/>
              <a:t>After exploration, main approach</a:t>
            </a:r>
          </a:p>
          <a:p>
            <a:pPr marL="1200150" lvl="3" indent="-342900"/>
            <a:r>
              <a:rPr lang="en-US" dirty="0"/>
              <a:t>Create a state and disease agnostic approach</a:t>
            </a:r>
          </a:p>
          <a:p>
            <a:pPr marL="1200150" lvl="3" indent="-342900"/>
            <a:r>
              <a:rPr lang="en-US" dirty="0"/>
              <a:t>Model would learn global features from the combined data</a:t>
            </a:r>
          </a:p>
          <a:p>
            <a:pPr marL="1200150" lvl="3" indent="-342900"/>
            <a:r>
              <a:rPr lang="en-US" dirty="0"/>
              <a:t>Employ the learned knowledge to less prevalent places/ diseases</a:t>
            </a:r>
          </a:p>
          <a:p>
            <a:pPr marL="857250" lvl="3" indent="0">
              <a:buNone/>
            </a:pPr>
            <a:endParaRPr lang="en-US" dirty="0"/>
          </a:p>
          <a:p>
            <a:pPr marL="742950" lvl="2" indent="-342900"/>
            <a:endParaRPr lang="en-US" dirty="0"/>
          </a:p>
          <a:p>
            <a:pPr lvl="2"/>
            <a:endParaRPr lang="en-US" dirty="0"/>
          </a:p>
        </p:txBody>
      </p:sp>
    </p:spTree>
    <p:extLst>
      <p:ext uri="{BB962C8B-B14F-4D97-AF65-F5344CB8AC3E}">
        <p14:creationId xmlns:p14="http://schemas.microsoft.com/office/powerpoint/2010/main" val="2604784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0"/>
          <p:cNvSpPr txBox="1">
            <a:spLocks noGrp="1"/>
          </p:cNvSpPr>
          <p:nvPr>
            <p:ph type="dt" idx="10"/>
          </p:nvPr>
        </p:nvSpPr>
        <p:spPr>
          <a:xfrm>
            <a:off x="609600" y="6356351"/>
            <a:ext cx="2844800" cy="365200"/>
          </a:xfrm>
          <a:prstGeom prst="rect">
            <a:avLst/>
          </a:prstGeom>
          <a:noFill/>
          <a:ln>
            <a:noFill/>
          </a:ln>
        </p:spPr>
        <p:txBody>
          <a:bodyPr spcFirstLastPara="1" vert="horz" wrap="square" lIns="91433" tIns="45700" rIns="91433" bIns="45700" rtlCol="0" anchor="ctr" anchorCtr="0">
            <a:noAutofit/>
          </a:bodyPr>
          <a:lstStyle/>
          <a:p>
            <a:r>
              <a:rPr lang="en-US" dirty="0"/>
              <a:t>January 22, 2025</a:t>
            </a:r>
            <a:endParaRPr dirty="0"/>
          </a:p>
        </p:txBody>
      </p:sp>
      <p:sp>
        <p:nvSpPr>
          <p:cNvPr id="266" name="Google Shape;266;p40"/>
          <p:cNvSpPr txBox="1">
            <a:spLocks noGrp="1"/>
          </p:cNvSpPr>
          <p:nvPr>
            <p:ph type="sldNum" idx="12"/>
          </p:nvPr>
        </p:nvSpPr>
        <p:spPr>
          <a:xfrm>
            <a:off x="4673600" y="6356351"/>
            <a:ext cx="2844800" cy="365200"/>
          </a:xfrm>
          <a:prstGeom prst="rect">
            <a:avLst/>
          </a:prstGeom>
          <a:noFill/>
          <a:ln>
            <a:noFill/>
          </a:ln>
        </p:spPr>
        <p:txBody>
          <a:bodyPr spcFirstLastPara="1" vert="horz" wrap="square" lIns="91433" tIns="45700" rIns="91433" bIns="45700" rtlCol="0" anchor="ctr" anchorCtr="0">
            <a:noAutofit/>
          </a:bodyPr>
          <a:lstStyle/>
          <a:p>
            <a:fld id="{00000000-1234-1234-1234-123412341234}" type="slidenum">
              <a:rPr lang="en"/>
              <a:pPr/>
              <a:t>16</a:t>
            </a:fld>
            <a:endParaRPr/>
          </a:p>
        </p:txBody>
      </p:sp>
      <p:sp>
        <p:nvSpPr>
          <p:cNvPr id="267" name="Google Shape;267;p40"/>
          <p:cNvSpPr txBox="1">
            <a:spLocks noGrp="1"/>
          </p:cNvSpPr>
          <p:nvPr>
            <p:ph type="ctrTitle"/>
          </p:nvPr>
        </p:nvSpPr>
        <p:spPr>
          <a:xfrm>
            <a:off x="886713" y="2140771"/>
            <a:ext cx="10363200" cy="3025200"/>
          </a:xfrm>
          <a:prstGeom prst="rect">
            <a:avLst/>
          </a:prstGeom>
          <a:noFill/>
          <a:ln>
            <a:noFill/>
          </a:ln>
        </p:spPr>
        <p:txBody>
          <a:bodyPr spcFirstLastPara="1" vert="horz" wrap="square" lIns="91433" tIns="45700" rIns="91433" bIns="45700" rtlCol="0" anchor="ctr" anchorCtr="0">
            <a:noAutofit/>
          </a:bodyPr>
          <a:lstStyle/>
          <a:p>
            <a:pPr>
              <a:buSzPts val="4100"/>
            </a:pPr>
            <a:r>
              <a:rPr lang="en" sz="5467" b="1" dirty="0"/>
              <a:t>Feature Engineering</a:t>
            </a:r>
            <a:endParaRPr dirty="0"/>
          </a:p>
        </p:txBody>
      </p:sp>
    </p:spTree>
    <p:extLst>
      <p:ext uri="{BB962C8B-B14F-4D97-AF65-F5344CB8AC3E}">
        <p14:creationId xmlns:p14="http://schemas.microsoft.com/office/powerpoint/2010/main" val="2553330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FDE825-0D19-46DB-B5E8-1F1761F80589}"/>
              </a:ext>
            </a:extLst>
          </p:cNvPr>
          <p:cNvSpPr>
            <a:spLocks noGrp="1"/>
          </p:cNvSpPr>
          <p:nvPr>
            <p:ph idx="1"/>
          </p:nvPr>
        </p:nvSpPr>
        <p:spPr/>
        <p:txBody>
          <a:bodyPr/>
          <a:lstStyle/>
          <a:p>
            <a:endParaRPr lang="en-US" dirty="0"/>
          </a:p>
          <a:p>
            <a:endParaRPr lang="en-US" dirty="0"/>
          </a:p>
        </p:txBody>
      </p:sp>
      <p:sp>
        <p:nvSpPr>
          <p:cNvPr id="3" name="Date Placeholder 2">
            <a:extLst>
              <a:ext uri="{FF2B5EF4-FFF2-40B4-BE49-F238E27FC236}">
                <a16:creationId xmlns:a16="http://schemas.microsoft.com/office/drawing/2014/main" id="{42E0B665-389D-46B8-963A-195891F0E73D}"/>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8BCC67A2-7704-4B13-B151-80519013F0F6}"/>
              </a:ext>
            </a:extLst>
          </p:cNvPr>
          <p:cNvSpPr>
            <a:spLocks noGrp="1"/>
          </p:cNvSpPr>
          <p:nvPr>
            <p:ph type="sldNum" sz="quarter" idx="12"/>
          </p:nvPr>
        </p:nvSpPr>
        <p:spPr/>
        <p:txBody>
          <a:bodyPr/>
          <a:lstStyle/>
          <a:p>
            <a:fld id="{88279435-30EF-C241-87D1-8D13B984C0EB}" type="slidenum">
              <a:rPr lang="en-US" smtClean="0"/>
              <a:pPr/>
              <a:t>17</a:t>
            </a:fld>
            <a:endParaRPr lang="en-US" dirty="0"/>
          </a:p>
        </p:txBody>
      </p:sp>
      <p:sp>
        <p:nvSpPr>
          <p:cNvPr id="5" name="Title 4">
            <a:extLst>
              <a:ext uri="{FF2B5EF4-FFF2-40B4-BE49-F238E27FC236}">
                <a16:creationId xmlns:a16="http://schemas.microsoft.com/office/drawing/2014/main" id="{3838BB1A-AC9D-477E-893F-E39ED4150DF2}"/>
              </a:ext>
            </a:extLst>
          </p:cNvPr>
          <p:cNvSpPr>
            <a:spLocks noGrp="1"/>
          </p:cNvSpPr>
          <p:nvPr>
            <p:ph type="title"/>
          </p:nvPr>
        </p:nvSpPr>
        <p:spPr/>
        <p:txBody>
          <a:bodyPr/>
          <a:lstStyle/>
          <a:p>
            <a:r>
              <a:rPr lang="en" sz="3600" b="1" dirty="0"/>
              <a:t>Feature Engineering</a:t>
            </a:r>
            <a:endParaRPr lang="en-US" b="1" dirty="0"/>
          </a:p>
        </p:txBody>
      </p:sp>
      <p:sp>
        <p:nvSpPr>
          <p:cNvPr id="8" name="Content Placeholder 1">
            <a:extLst>
              <a:ext uri="{FF2B5EF4-FFF2-40B4-BE49-F238E27FC236}">
                <a16:creationId xmlns:a16="http://schemas.microsoft.com/office/drawing/2014/main" id="{30EB1850-DDE7-4D48-A03F-95AA03B70DBD}"/>
              </a:ext>
            </a:extLst>
          </p:cNvPr>
          <p:cNvSpPr txBox="1">
            <a:spLocks/>
          </p:cNvSpPr>
          <p:nvPr/>
        </p:nvSpPr>
        <p:spPr>
          <a:xfrm>
            <a:off x="384535" y="1331185"/>
            <a:ext cx="11490664" cy="48432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r>
              <a:rPr lang="en-US" dirty="0"/>
              <a:t>Features seen being used in Past literature</a:t>
            </a:r>
          </a:p>
          <a:p>
            <a:pPr lvl="3"/>
            <a:r>
              <a:rPr lang="en-US" dirty="0"/>
              <a:t>Lagged Features</a:t>
            </a:r>
          </a:p>
          <a:p>
            <a:pPr lvl="4"/>
            <a:r>
              <a:rPr lang="en-US" dirty="0"/>
              <a:t>Rolling averages</a:t>
            </a:r>
          </a:p>
          <a:p>
            <a:pPr lvl="4"/>
            <a:r>
              <a:rPr lang="en-US" dirty="0"/>
              <a:t>Year over year changes</a:t>
            </a:r>
          </a:p>
          <a:p>
            <a:pPr lvl="4"/>
            <a:r>
              <a:rPr lang="en-US" dirty="0"/>
              <a:t>Percentage changes</a:t>
            </a:r>
          </a:p>
          <a:p>
            <a:pPr lvl="3"/>
            <a:r>
              <a:rPr lang="en-US" dirty="0"/>
              <a:t>Seasonality</a:t>
            </a:r>
          </a:p>
          <a:p>
            <a:pPr lvl="4"/>
            <a:r>
              <a:rPr lang="en-US" dirty="0"/>
              <a:t>Week/ Month No.</a:t>
            </a:r>
          </a:p>
          <a:p>
            <a:pPr lvl="4"/>
            <a:r>
              <a:rPr lang="en-US" dirty="0"/>
              <a:t>Cyclic seasonality</a:t>
            </a:r>
          </a:p>
          <a:p>
            <a:pPr lvl="3"/>
            <a:r>
              <a:rPr lang="en-US" dirty="0"/>
              <a:t>Statistical Features</a:t>
            </a:r>
          </a:p>
          <a:p>
            <a:pPr lvl="4"/>
            <a:r>
              <a:rPr lang="en-US" dirty="0"/>
              <a:t>Z-score</a:t>
            </a:r>
          </a:p>
          <a:p>
            <a:pPr lvl="4"/>
            <a:endParaRPr lang="en-US" dirty="0"/>
          </a:p>
          <a:p>
            <a:pPr lvl="4"/>
            <a:endParaRPr lang="en-US" dirty="0"/>
          </a:p>
          <a:p>
            <a:pPr lvl="3"/>
            <a:endParaRPr lang="en-US" dirty="0"/>
          </a:p>
          <a:p>
            <a:pPr lvl="2"/>
            <a:endParaRPr lang="en-US" dirty="0"/>
          </a:p>
          <a:p>
            <a:pPr lvl="2"/>
            <a:endParaRPr lang="en-US" dirty="0"/>
          </a:p>
        </p:txBody>
      </p:sp>
      <p:pic>
        <p:nvPicPr>
          <p:cNvPr id="5122" name="Picture 2">
            <a:extLst>
              <a:ext uri="{FF2B5EF4-FFF2-40B4-BE49-F238E27FC236}">
                <a16:creationId xmlns:a16="http://schemas.microsoft.com/office/drawing/2014/main" id="{E2E18952-303D-4CE1-9EAD-A6111894472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88" t="7206" r="49139"/>
          <a:stretch/>
        </p:blipFill>
        <p:spPr bwMode="auto">
          <a:xfrm>
            <a:off x="6096000" y="1939133"/>
            <a:ext cx="5934075" cy="4217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4384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0"/>
          <p:cNvSpPr txBox="1">
            <a:spLocks noGrp="1"/>
          </p:cNvSpPr>
          <p:nvPr>
            <p:ph type="dt" idx="10"/>
          </p:nvPr>
        </p:nvSpPr>
        <p:spPr>
          <a:xfrm>
            <a:off x="609600" y="6356351"/>
            <a:ext cx="2844800" cy="365200"/>
          </a:xfrm>
          <a:prstGeom prst="rect">
            <a:avLst/>
          </a:prstGeom>
          <a:noFill/>
          <a:ln>
            <a:noFill/>
          </a:ln>
        </p:spPr>
        <p:txBody>
          <a:bodyPr spcFirstLastPara="1" vert="horz" wrap="square" lIns="91433" tIns="45700" rIns="91433" bIns="45700" rtlCol="0" anchor="ctr" anchorCtr="0">
            <a:noAutofit/>
          </a:bodyPr>
          <a:lstStyle/>
          <a:p>
            <a:r>
              <a:rPr lang="en-US" dirty="0"/>
              <a:t>January 22, 2025</a:t>
            </a:r>
            <a:endParaRPr dirty="0"/>
          </a:p>
        </p:txBody>
      </p:sp>
      <p:sp>
        <p:nvSpPr>
          <p:cNvPr id="266" name="Google Shape;266;p40"/>
          <p:cNvSpPr txBox="1">
            <a:spLocks noGrp="1"/>
          </p:cNvSpPr>
          <p:nvPr>
            <p:ph type="sldNum" idx="12"/>
          </p:nvPr>
        </p:nvSpPr>
        <p:spPr>
          <a:xfrm>
            <a:off x="4673600" y="6356351"/>
            <a:ext cx="2844800" cy="365200"/>
          </a:xfrm>
          <a:prstGeom prst="rect">
            <a:avLst/>
          </a:prstGeom>
          <a:noFill/>
          <a:ln>
            <a:noFill/>
          </a:ln>
        </p:spPr>
        <p:txBody>
          <a:bodyPr spcFirstLastPara="1" vert="horz" wrap="square" lIns="91433" tIns="45700" rIns="91433" bIns="45700" rtlCol="0" anchor="ctr" anchorCtr="0">
            <a:noAutofit/>
          </a:bodyPr>
          <a:lstStyle/>
          <a:p>
            <a:fld id="{00000000-1234-1234-1234-123412341234}" type="slidenum">
              <a:rPr lang="en"/>
              <a:pPr/>
              <a:t>18</a:t>
            </a:fld>
            <a:endParaRPr/>
          </a:p>
        </p:txBody>
      </p:sp>
      <p:sp>
        <p:nvSpPr>
          <p:cNvPr id="267" name="Google Shape;267;p40"/>
          <p:cNvSpPr txBox="1">
            <a:spLocks noGrp="1"/>
          </p:cNvSpPr>
          <p:nvPr>
            <p:ph type="ctrTitle"/>
          </p:nvPr>
        </p:nvSpPr>
        <p:spPr>
          <a:xfrm>
            <a:off x="886713" y="2140771"/>
            <a:ext cx="10363200" cy="3025200"/>
          </a:xfrm>
          <a:prstGeom prst="rect">
            <a:avLst/>
          </a:prstGeom>
          <a:noFill/>
          <a:ln>
            <a:noFill/>
          </a:ln>
        </p:spPr>
        <p:txBody>
          <a:bodyPr spcFirstLastPara="1" vert="horz" wrap="square" lIns="91433" tIns="45700" rIns="91433" bIns="45700" rtlCol="0" anchor="ctr" anchorCtr="0">
            <a:noAutofit/>
          </a:bodyPr>
          <a:lstStyle/>
          <a:p>
            <a:pPr>
              <a:buSzPts val="4100"/>
            </a:pPr>
            <a:r>
              <a:rPr lang="en" sz="5467" b="1" dirty="0"/>
              <a:t>Outbreak Prediction Methodologies</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0"/>
          <p:cNvSpPr txBox="1">
            <a:spLocks noGrp="1"/>
          </p:cNvSpPr>
          <p:nvPr>
            <p:ph type="dt" idx="10"/>
          </p:nvPr>
        </p:nvSpPr>
        <p:spPr>
          <a:xfrm>
            <a:off x="609600" y="6356351"/>
            <a:ext cx="2844800" cy="365200"/>
          </a:xfrm>
          <a:prstGeom prst="rect">
            <a:avLst/>
          </a:prstGeom>
          <a:noFill/>
          <a:ln>
            <a:noFill/>
          </a:ln>
        </p:spPr>
        <p:txBody>
          <a:bodyPr spcFirstLastPara="1" vert="horz" wrap="square" lIns="91433" tIns="45700" rIns="91433" bIns="45700" rtlCol="0" anchor="ctr" anchorCtr="0">
            <a:noAutofit/>
          </a:bodyPr>
          <a:lstStyle/>
          <a:p>
            <a:r>
              <a:rPr lang="en-US" dirty="0"/>
              <a:t>January 22, 2025</a:t>
            </a:r>
            <a:endParaRPr dirty="0"/>
          </a:p>
        </p:txBody>
      </p:sp>
      <p:sp>
        <p:nvSpPr>
          <p:cNvPr id="266" name="Google Shape;266;p40"/>
          <p:cNvSpPr txBox="1">
            <a:spLocks noGrp="1"/>
          </p:cNvSpPr>
          <p:nvPr>
            <p:ph type="sldNum" idx="12"/>
          </p:nvPr>
        </p:nvSpPr>
        <p:spPr>
          <a:xfrm>
            <a:off x="4673600" y="6356351"/>
            <a:ext cx="2844800" cy="365200"/>
          </a:xfrm>
          <a:prstGeom prst="rect">
            <a:avLst/>
          </a:prstGeom>
          <a:noFill/>
          <a:ln>
            <a:noFill/>
          </a:ln>
        </p:spPr>
        <p:txBody>
          <a:bodyPr spcFirstLastPara="1" vert="horz" wrap="square" lIns="91433" tIns="45700" rIns="91433" bIns="45700" rtlCol="0" anchor="ctr" anchorCtr="0">
            <a:noAutofit/>
          </a:bodyPr>
          <a:lstStyle/>
          <a:p>
            <a:fld id="{00000000-1234-1234-1234-123412341234}" type="slidenum">
              <a:rPr lang="en"/>
              <a:pPr/>
              <a:t>19</a:t>
            </a:fld>
            <a:endParaRPr/>
          </a:p>
        </p:txBody>
      </p:sp>
      <p:sp>
        <p:nvSpPr>
          <p:cNvPr id="267" name="Google Shape;267;p40"/>
          <p:cNvSpPr txBox="1">
            <a:spLocks noGrp="1"/>
          </p:cNvSpPr>
          <p:nvPr>
            <p:ph type="ctrTitle"/>
          </p:nvPr>
        </p:nvSpPr>
        <p:spPr>
          <a:xfrm>
            <a:off x="886713" y="2140771"/>
            <a:ext cx="10363200" cy="3025200"/>
          </a:xfrm>
          <a:prstGeom prst="rect">
            <a:avLst/>
          </a:prstGeom>
          <a:noFill/>
          <a:ln>
            <a:noFill/>
          </a:ln>
        </p:spPr>
        <p:txBody>
          <a:bodyPr spcFirstLastPara="1" vert="horz" wrap="square" lIns="91433" tIns="45700" rIns="91433" bIns="45700" rtlCol="0" anchor="ctr" anchorCtr="0">
            <a:noAutofit/>
          </a:bodyPr>
          <a:lstStyle/>
          <a:p>
            <a:pPr>
              <a:buSzPts val="4100"/>
            </a:pPr>
            <a:r>
              <a:rPr lang="en" sz="5467" b="1" dirty="0"/>
              <a:t>Classification of Outbreak</a:t>
            </a:r>
            <a:endParaRPr dirty="0"/>
          </a:p>
        </p:txBody>
      </p:sp>
    </p:spTree>
    <p:extLst>
      <p:ext uri="{BB962C8B-B14F-4D97-AF65-F5344CB8AC3E}">
        <p14:creationId xmlns:p14="http://schemas.microsoft.com/office/powerpoint/2010/main" val="893663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FDE825-0D19-46DB-B5E8-1F1761F80589}"/>
              </a:ext>
            </a:extLst>
          </p:cNvPr>
          <p:cNvSpPr>
            <a:spLocks noGrp="1"/>
          </p:cNvSpPr>
          <p:nvPr>
            <p:ph idx="1"/>
          </p:nvPr>
        </p:nvSpPr>
        <p:spPr/>
        <p:txBody>
          <a:bodyPr/>
          <a:lstStyle/>
          <a:p>
            <a:endParaRPr lang="en-US" dirty="0"/>
          </a:p>
          <a:p>
            <a:endParaRPr lang="en-US" dirty="0"/>
          </a:p>
        </p:txBody>
      </p:sp>
      <p:sp>
        <p:nvSpPr>
          <p:cNvPr id="3" name="Date Placeholder 2">
            <a:extLst>
              <a:ext uri="{FF2B5EF4-FFF2-40B4-BE49-F238E27FC236}">
                <a16:creationId xmlns:a16="http://schemas.microsoft.com/office/drawing/2014/main" id="{42E0B665-389D-46B8-963A-195891F0E73D}"/>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8BCC67A2-7704-4B13-B151-80519013F0F6}"/>
              </a:ext>
            </a:extLst>
          </p:cNvPr>
          <p:cNvSpPr>
            <a:spLocks noGrp="1"/>
          </p:cNvSpPr>
          <p:nvPr>
            <p:ph type="sldNum" sz="quarter" idx="12"/>
          </p:nvPr>
        </p:nvSpPr>
        <p:spPr/>
        <p:txBody>
          <a:bodyPr/>
          <a:lstStyle/>
          <a:p>
            <a:fld id="{88279435-30EF-C241-87D1-8D13B984C0EB}" type="slidenum">
              <a:rPr lang="en-US" smtClean="0"/>
              <a:pPr/>
              <a:t>20</a:t>
            </a:fld>
            <a:endParaRPr lang="en-US" dirty="0"/>
          </a:p>
        </p:txBody>
      </p:sp>
      <p:sp>
        <p:nvSpPr>
          <p:cNvPr id="5" name="Title 4">
            <a:extLst>
              <a:ext uri="{FF2B5EF4-FFF2-40B4-BE49-F238E27FC236}">
                <a16:creationId xmlns:a16="http://schemas.microsoft.com/office/drawing/2014/main" id="{3838BB1A-AC9D-477E-893F-E39ED4150DF2}"/>
              </a:ext>
            </a:extLst>
          </p:cNvPr>
          <p:cNvSpPr>
            <a:spLocks noGrp="1"/>
          </p:cNvSpPr>
          <p:nvPr>
            <p:ph type="title"/>
          </p:nvPr>
        </p:nvSpPr>
        <p:spPr/>
        <p:txBody>
          <a:bodyPr/>
          <a:lstStyle/>
          <a:p>
            <a:r>
              <a:rPr lang="en" sz="3600" b="1" dirty="0"/>
              <a:t>Classification of Outbreak</a:t>
            </a:r>
            <a:endParaRPr lang="en-US" b="1" dirty="0"/>
          </a:p>
        </p:txBody>
      </p:sp>
      <p:sp>
        <p:nvSpPr>
          <p:cNvPr id="8" name="Content Placeholder 1">
            <a:extLst>
              <a:ext uri="{FF2B5EF4-FFF2-40B4-BE49-F238E27FC236}">
                <a16:creationId xmlns:a16="http://schemas.microsoft.com/office/drawing/2014/main" id="{30EB1850-DDE7-4D48-A03F-95AA03B70DBD}"/>
              </a:ext>
            </a:extLst>
          </p:cNvPr>
          <p:cNvSpPr txBox="1">
            <a:spLocks/>
          </p:cNvSpPr>
          <p:nvPr/>
        </p:nvSpPr>
        <p:spPr>
          <a:xfrm>
            <a:off x="384535" y="1015474"/>
            <a:ext cx="11490664" cy="48432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r>
              <a:rPr lang="en-US" dirty="0"/>
              <a:t>Lack of ground truth to specify what is an outbreak or not</a:t>
            </a:r>
          </a:p>
          <a:p>
            <a:pPr lvl="2"/>
            <a:r>
              <a:rPr lang="en-US" dirty="0"/>
              <a:t>Signal processing library </a:t>
            </a:r>
            <a:r>
              <a:rPr lang="en-US" b="1" dirty="0" err="1"/>
              <a:t>scipy.signal.findpeaks</a:t>
            </a:r>
            <a:endParaRPr lang="en-US" b="1" dirty="0"/>
          </a:p>
          <a:p>
            <a:pPr lvl="2"/>
            <a:r>
              <a:rPr lang="en-US" dirty="0"/>
              <a:t>Multi class classification approach</a:t>
            </a:r>
          </a:p>
          <a:p>
            <a:pPr lvl="3"/>
            <a:r>
              <a:rPr lang="en-US" dirty="0"/>
              <a:t>0 	: Normal</a:t>
            </a:r>
          </a:p>
          <a:p>
            <a:pPr lvl="3"/>
            <a:r>
              <a:rPr lang="en-US" dirty="0"/>
              <a:t>1 : preoutbreak</a:t>
            </a:r>
          </a:p>
          <a:p>
            <a:pPr lvl="3"/>
            <a:r>
              <a:rPr lang="en-US" dirty="0"/>
              <a:t>2 : Outbreak</a:t>
            </a:r>
          </a:p>
          <a:p>
            <a:pPr lvl="2"/>
            <a:endParaRPr lang="en-US" dirty="0"/>
          </a:p>
          <a:p>
            <a:pPr lvl="2"/>
            <a:endParaRPr lang="en-US" dirty="0"/>
          </a:p>
        </p:txBody>
      </p:sp>
    </p:spTree>
    <p:extLst>
      <p:ext uri="{BB962C8B-B14F-4D97-AF65-F5344CB8AC3E}">
        <p14:creationId xmlns:p14="http://schemas.microsoft.com/office/powerpoint/2010/main" val="41278094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FDE825-0D19-46DB-B5E8-1F1761F80589}"/>
              </a:ext>
            </a:extLst>
          </p:cNvPr>
          <p:cNvSpPr>
            <a:spLocks noGrp="1"/>
          </p:cNvSpPr>
          <p:nvPr>
            <p:ph idx="1"/>
          </p:nvPr>
        </p:nvSpPr>
        <p:spPr/>
        <p:txBody>
          <a:bodyPr/>
          <a:lstStyle/>
          <a:p>
            <a:endParaRPr lang="en-US" dirty="0"/>
          </a:p>
          <a:p>
            <a:endParaRPr lang="en-US" dirty="0"/>
          </a:p>
        </p:txBody>
      </p:sp>
      <p:sp>
        <p:nvSpPr>
          <p:cNvPr id="3" name="Date Placeholder 2">
            <a:extLst>
              <a:ext uri="{FF2B5EF4-FFF2-40B4-BE49-F238E27FC236}">
                <a16:creationId xmlns:a16="http://schemas.microsoft.com/office/drawing/2014/main" id="{42E0B665-389D-46B8-963A-195891F0E73D}"/>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8BCC67A2-7704-4B13-B151-80519013F0F6}"/>
              </a:ext>
            </a:extLst>
          </p:cNvPr>
          <p:cNvSpPr>
            <a:spLocks noGrp="1"/>
          </p:cNvSpPr>
          <p:nvPr>
            <p:ph type="sldNum" sz="quarter" idx="12"/>
          </p:nvPr>
        </p:nvSpPr>
        <p:spPr/>
        <p:txBody>
          <a:bodyPr/>
          <a:lstStyle/>
          <a:p>
            <a:fld id="{88279435-30EF-C241-87D1-8D13B984C0EB}" type="slidenum">
              <a:rPr lang="en-US" smtClean="0"/>
              <a:pPr/>
              <a:t>21</a:t>
            </a:fld>
            <a:endParaRPr lang="en-US" dirty="0"/>
          </a:p>
        </p:txBody>
      </p:sp>
      <p:sp>
        <p:nvSpPr>
          <p:cNvPr id="5" name="Title 4">
            <a:extLst>
              <a:ext uri="{FF2B5EF4-FFF2-40B4-BE49-F238E27FC236}">
                <a16:creationId xmlns:a16="http://schemas.microsoft.com/office/drawing/2014/main" id="{3838BB1A-AC9D-477E-893F-E39ED4150DF2}"/>
              </a:ext>
            </a:extLst>
          </p:cNvPr>
          <p:cNvSpPr>
            <a:spLocks noGrp="1"/>
          </p:cNvSpPr>
          <p:nvPr>
            <p:ph type="title"/>
          </p:nvPr>
        </p:nvSpPr>
        <p:spPr/>
        <p:txBody>
          <a:bodyPr/>
          <a:lstStyle/>
          <a:p>
            <a:r>
              <a:rPr lang="en" sz="3600" b="1" dirty="0"/>
              <a:t>Classification of Outbreak</a:t>
            </a:r>
            <a:endParaRPr lang="en-US" b="1" dirty="0"/>
          </a:p>
        </p:txBody>
      </p:sp>
      <p:sp>
        <p:nvSpPr>
          <p:cNvPr id="8" name="Content Placeholder 1">
            <a:extLst>
              <a:ext uri="{FF2B5EF4-FFF2-40B4-BE49-F238E27FC236}">
                <a16:creationId xmlns:a16="http://schemas.microsoft.com/office/drawing/2014/main" id="{30EB1850-DDE7-4D48-A03F-95AA03B70DBD}"/>
              </a:ext>
            </a:extLst>
          </p:cNvPr>
          <p:cNvSpPr txBox="1">
            <a:spLocks/>
          </p:cNvSpPr>
          <p:nvPr/>
        </p:nvSpPr>
        <p:spPr>
          <a:xfrm>
            <a:off x="384535" y="1015474"/>
            <a:ext cx="11490664" cy="484325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r>
              <a:rPr lang="en-US" dirty="0"/>
              <a:t>Caveats	</a:t>
            </a:r>
          </a:p>
          <a:p>
            <a:pPr lvl="3"/>
            <a:r>
              <a:rPr lang="en-US" dirty="0"/>
              <a:t>Extremely high class imbalance</a:t>
            </a:r>
          </a:p>
          <a:p>
            <a:pPr lvl="3"/>
            <a:r>
              <a:rPr lang="en-US" dirty="0"/>
              <a:t>Hyperparameters for the </a:t>
            </a:r>
            <a:r>
              <a:rPr lang="en-US" dirty="0" err="1"/>
              <a:t>find_peaks</a:t>
            </a:r>
            <a:r>
              <a:rPr lang="en-US" dirty="0"/>
              <a:t> function require extreme precision to generalize the capturing of outbreak/ pre-outbreak regions</a:t>
            </a:r>
          </a:p>
          <a:p>
            <a:pPr lvl="3"/>
            <a:r>
              <a:rPr lang="en-US" dirty="0"/>
              <a:t>Not generalizable to find outbreaks for each state and disease combination</a:t>
            </a:r>
          </a:p>
          <a:p>
            <a:pPr lvl="3"/>
            <a:endParaRPr lang="en-US" dirty="0"/>
          </a:p>
          <a:p>
            <a:pPr lvl="3"/>
            <a:endParaRPr lang="en-US" dirty="0"/>
          </a:p>
          <a:p>
            <a:pPr lvl="2"/>
            <a:endParaRPr lang="en-US" dirty="0"/>
          </a:p>
          <a:p>
            <a:pPr lvl="2"/>
            <a:endParaRPr lang="en-US" dirty="0"/>
          </a:p>
        </p:txBody>
      </p:sp>
      <p:pic>
        <p:nvPicPr>
          <p:cNvPr id="7" name="Picture 6">
            <a:extLst>
              <a:ext uri="{FF2B5EF4-FFF2-40B4-BE49-F238E27FC236}">
                <a16:creationId xmlns:a16="http://schemas.microsoft.com/office/drawing/2014/main" id="{101E2B43-21E6-42DE-AA78-B08280DAC49F}"/>
              </a:ext>
            </a:extLst>
          </p:cNvPr>
          <p:cNvPicPr>
            <a:picLocks noChangeAspect="1"/>
          </p:cNvPicPr>
          <p:nvPr/>
        </p:nvPicPr>
        <p:blipFill>
          <a:blip r:embed="rId2"/>
          <a:stretch>
            <a:fillRect/>
          </a:stretch>
        </p:blipFill>
        <p:spPr>
          <a:xfrm>
            <a:off x="6039199" y="3080387"/>
            <a:ext cx="5982399" cy="3275964"/>
          </a:xfrm>
          <a:prstGeom prst="rect">
            <a:avLst/>
          </a:prstGeom>
        </p:spPr>
      </p:pic>
      <p:pic>
        <p:nvPicPr>
          <p:cNvPr id="9" name="Picture 8">
            <a:extLst>
              <a:ext uri="{FF2B5EF4-FFF2-40B4-BE49-F238E27FC236}">
                <a16:creationId xmlns:a16="http://schemas.microsoft.com/office/drawing/2014/main" id="{040CF0EF-DF11-403F-BBF4-43153F6EC81F}"/>
              </a:ext>
            </a:extLst>
          </p:cNvPr>
          <p:cNvPicPr>
            <a:picLocks noChangeAspect="1"/>
          </p:cNvPicPr>
          <p:nvPr/>
        </p:nvPicPr>
        <p:blipFill>
          <a:blip r:embed="rId3"/>
          <a:stretch>
            <a:fillRect/>
          </a:stretch>
        </p:blipFill>
        <p:spPr>
          <a:xfrm>
            <a:off x="221545" y="3080387"/>
            <a:ext cx="5950791" cy="3275964"/>
          </a:xfrm>
          <a:prstGeom prst="rect">
            <a:avLst/>
          </a:prstGeom>
        </p:spPr>
      </p:pic>
    </p:spTree>
    <p:extLst>
      <p:ext uri="{BB962C8B-B14F-4D97-AF65-F5344CB8AC3E}">
        <p14:creationId xmlns:p14="http://schemas.microsoft.com/office/powerpoint/2010/main" val="27747952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0"/>
          <p:cNvSpPr txBox="1">
            <a:spLocks noGrp="1"/>
          </p:cNvSpPr>
          <p:nvPr>
            <p:ph type="dt" idx="10"/>
          </p:nvPr>
        </p:nvSpPr>
        <p:spPr>
          <a:xfrm>
            <a:off x="609600" y="6356351"/>
            <a:ext cx="2844800" cy="365200"/>
          </a:xfrm>
          <a:prstGeom prst="rect">
            <a:avLst/>
          </a:prstGeom>
          <a:noFill/>
          <a:ln>
            <a:noFill/>
          </a:ln>
        </p:spPr>
        <p:txBody>
          <a:bodyPr spcFirstLastPara="1" vert="horz" wrap="square" lIns="91433" tIns="45700" rIns="91433" bIns="45700" rtlCol="0" anchor="ctr" anchorCtr="0">
            <a:noAutofit/>
          </a:bodyPr>
          <a:lstStyle/>
          <a:p>
            <a:r>
              <a:rPr lang="en-US" dirty="0"/>
              <a:t>January 22, 2025</a:t>
            </a:r>
            <a:endParaRPr dirty="0"/>
          </a:p>
        </p:txBody>
      </p:sp>
      <p:sp>
        <p:nvSpPr>
          <p:cNvPr id="266" name="Google Shape;266;p40"/>
          <p:cNvSpPr txBox="1">
            <a:spLocks noGrp="1"/>
          </p:cNvSpPr>
          <p:nvPr>
            <p:ph type="sldNum" idx="12"/>
          </p:nvPr>
        </p:nvSpPr>
        <p:spPr>
          <a:xfrm>
            <a:off x="4673600" y="6356351"/>
            <a:ext cx="2844800" cy="365200"/>
          </a:xfrm>
          <a:prstGeom prst="rect">
            <a:avLst/>
          </a:prstGeom>
          <a:noFill/>
          <a:ln>
            <a:noFill/>
          </a:ln>
        </p:spPr>
        <p:txBody>
          <a:bodyPr spcFirstLastPara="1" vert="horz" wrap="square" lIns="91433" tIns="45700" rIns="91433" bIns="45700" rtlCol="0" anchor="ctr" anchorCtr="0">
            <a:noAutofit/>
          </a:bodyPr>
          <a:lstStyle/>
          <a:p>
            <a:fld id="{00000000-1234-1234-1234-123412341234}" type="slidenum">
              <a:rPr lang="en"/>
              <a:pPr/>
              <a:t>22</a:t>
            </a:fld>
            <a:endParaRPr/>
          </a:p>
        </p:txBody>
      </p:sp>
      <p:sp>
        <p:nvSpPr>
          <p:cNvPr id="267" name="Google Shape;267;p40"/>
          <p:cNvSpPr txBox="1">
            <a:spLocks noGrp="1"/>
          </p:cNvSpPr>
          <p:nvPr>
            <p:ph type="ctrTitle"/>
          </p:nvPr>
        </p:nvSpPr>
        <p:spPr>
          <a:xfrm>
            <a:off x="886713" y="2140771"/>
            <a:ext cx="10363200" cy="3025200"/>
          </a:xfrm>
          <a:prstGeom prst="rect">
            <a:avLst/>
          </a:prstGeom>
          <a:noFill/>
          <a:ln>
            <a:noFill/>
          </a:ln>
        </p:spPr>
        <p:txBody>
          <a:bodyPr spcFirstLastPara="1" vert="horz" wrap="square" lIns="91433" tIns="45700" rIns="91433" bIns="45700" rtlCol="0" anchor="ctr" anchorCtr="0">
            <a:noAutofit/>
          </a:bodyPr>
          <a:lstStyle/>
          <a:p>
            <a:pPr>
              <a:buSzPts val="4100"/>
            </a:pPr>
            <a:r>
              <a:rPr lang="en" sz="5467" b="1" dirty="0"/>
              <a:t>Direction Trend </a:t>
            </a:r>
            <a:br>
              <a:rPr lang="en" sz="5467" b="1" dirty="0"/>
            </a:br>
            <a:r>
              <a:rPr lang="en" sz="5467" b="1" dirty="0"/>
              <a:t>Classification</a:t>
            </a:r>
            <a:endParaRPr dirty="0"/>
          </a:p>
        </p:txBody>
      </p:sp>
    </p:spTree>
    <p:extLst>
      <p:ext uri="{BB962C8B-B14F-4D97-AF65-F5344CB8AC3E}">
        <p14:creationId xmlns:p14="http://schemas.microsoft.com/office/powerpoint/2010/main" val="35383664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E0B665-389D-46B8-963A-195891F0E73D}"/>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8BCC67A2-7704-4B13-B151-80519013F0F6}"/>
              </a:ext>
            </a:extLst>
          </p:cNvPr>
          <p:cNvSpPr>
            <a:spLocks noGrp="1"/>
          </p:cNvSpPr>
          <p:nvPr>
            <p:ph type="sldNum" sz="quarter" idx="12"/>
          </p:nvPr>
        </p:nvSpPr>
        <p:spPr/>
        <p:txBody>
          <a:bodyPr/>
          <a:lstStyle/>
          <a:p>
            <a:fld id="{88279435-30EF-C241-87D1-8D13B984C0EB}" type="slidenum">
              <a:rPr lang="en-US" smtClean="0"/>
              <a:pPr/>
              <a:t>23</a:t>
            </a:fld>
            <a:endParaRPr lang="en-US" dirty="0"/>
          </a:p>
        </p:txBody>
      </p:sp>
      <p:sp>
        <p:nvSpPr>
          <p:cNvPr id="5" name="Title 4">
            <a:extLst>
              <a:ext uri="{FF2B5EF4-FFF2-40B4-BE49-F238E27FC236}">
                <a16:creationId xmlns:a16="http://schemas.microsoft.com/office/drawing/2014/main" id="{3838BB1A-AC9D-477E-893F-E39ED4150DF2}"/>
              </a:ext>
            </a:extLst>
          </p:cNvPr>
          <p:cNvSpPr>
            <a:spLocks noGrp="1"/>
          </p:cNvSpPr>
          <p:nvPr>
            <p:ph type="title"/>
          </p:nvPr>
        </p:nvSpPr>
        <p:spPr/>
        <p:txBody>
          <a:bodyPr/>
          <a:lstStyle/>
          <a:p>
            <a:r>
              <a:rPr lang="en" b="1" dirty="0"/>
              <a:t>Classifying Trajectory of the Patient Encounters</a:t>
            </a:r>
            <a:endParaRPr lang="en-US" b="1" dirty="0"/>
          </a:p>
        </p:txBody>
      </p:sp>
      <p:sp>
        <p:nvSpPr>
          <p:cNvPr id="8" name="Content Placeholder 1">
            <a:extLst>
              <a:ext uri="{FF2B5EF4-FFF2-40B4-BE49-F238E27FC236}">
                <a16:creationId xmlns:a16="http://schemas.microsoft.com/office/drawing/2014/main" id="{30EB1850-DDE7-4D48-A03F-95AA03B70DBD}"/>
              </a:ext>
            </a:extLst>
          </p:cNvPr>
          <p:cNvSpPr txBox="1">
            <a:spLocks/>
          </p:cNvSpPr>
          <p:nvPr/>
        </p:nvSpPr>
        <p:spPr>
          <a:xfrm>
            <a:off x="384535" y="1015473"/>
            <a:ext cx="11490664" cy="508899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r>
              <a:rPr lang="en-US" dirty="0"/>
              <a:t>Simple</a:t>
            </a:r>
            <a:r>
              <a:rPr lang="en-US" b="1" dirty="0"/>
              <a:t> Logistic regression </a:t>
            </a:r>
            <a:r>
              <a:rPr lang="en-US" dirty="0"/>
              <a:t>models have been known to gives good results in </a:t>
            </a:r>
            <a:r>
              <a:rPr lang="en-US" b="1" dirty="0"/>
              <a:t>forecasting stock prices</a:t>
            </a:r>
          </a:p>
          <a:p>
            <a:pPr lvl="2"/>
            <a:r>
              <a:rPr lang="en-US" dirty="0"/>
              <a:t>Idea employed here to forecast how the trajectory of patients encounters will change </a:t>
            </a:r>
          </a:p>
          <a:p>
            <a:pPr lvl="2"/>
            <a:r>
              <a:rPr lang="en-US" dirty="0"/>
              <a:t>Model selected : </a:t>
            </a:r>
            <a:r>
              <a:rPr lang="en-US" b="1" dirty="0"/>
              <a:t>Random Forest Classifier </a:t>
            </a:r>
          </a:p>
          <a:p>
            <a:pPr lvl="3"/>
            <a:r>
              <a:rPr lang="en-US" b="1" dirty="0"/>
              <a:t>Random Feature selection </a:t>
            </a:r>
            <a:r>
              <a:rPr lang="en-US" dirty="0"/>
              <a:t>allows different trees to focus on different features which is allows the model to focus on features other than lagged features</a:t>
            </a:r>
          </a:p>
          <a:p>
            <a:pPr lvl="2"/>
            <a:endParaRPr lang="en-US" dirty="0"/>
          </a:p>
          <a:p>
            <a:pPr lvl="3"/>
            <a:endParaRPr lang="en-US" dirty="0"/>
          </a:p>
          <a:p>
            <a:pPr lvl="2"/>
            <a:endParaRPr lang="en-US" dirty="0"/>
          </a:p>
        </p:txBody>
      </p:sp>
    </p:spTree>
    <p:extLst>
      <p:ext uri="{BB962C8B-B14F-4D97-AF65-F5344CB8AC3E}">
        <p14:creationId xmlns:p14="http://schemas.microsoft.com/office/powerpoint/2010/main" val="3727125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E0B665-389D-46B8-963A-195891F0E73D}"/>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8BCC67A2-7704-4B13-B151-80519013F0F6}"/>
              </a:ext>
            </a:extLst>
          </p:cNvPr>
          <p:cNvSpPr>
            <a:spLocks noGrp="1"/>
          </p:cNvSpPr>
          <p:nvPr>
            <p:ph type="sldNum" sz="quarter" idx="12"/>
          </p:nvPr>
        </p:nvSpPr>
        <p:spPr/>
        <p:txBody>
          <a:bodyPr/>
          <a:lstStyle/>
          <a:p>
            <a:fld id="{88279435-30EF-C241-87D1-8D13B984C0EB}" type="slidenum">
              <a:rPr lang="en-US" smtClean="0"/>
              <a:pPr/>
              <a:t>24</a:t>
            </a:fld>
            <a:endParaRPr lang="en-US" dirty="0"/>
          </a:p>
        </p:txBody>
      </p:sp>
      <p:sp>
        <p:nvSpPr>
          <p:cNvPr id="5" name="Title 4">
            <a:extLst>
              <a:ext uri="{FF2B5EF4-FFF2-40B4-BE49-F238E27FC236}">
                <a16:creationId xmlns:a16="http://schemas.microsoft.com/office/drawing/2014/main" id="{3838BB1A-AC9D-477E-893F-E39ED4150DF2}"/>
              </a:ext>
            </a:extLst>
          </p:cNvPr>
          <p:cNvSpPr>
            <a:spLocks noGrp="1"/>
          </p:cNvSpPr>
          <p:nvPr>
            <p:ph type="title"/>
          </p:nvPr>
        </p:nvSpPr>
        <p:spPr/>
        <p:txBody>
          <a:bodyPr/>
          <a:lstStyle/>
          <a:p>
            <a:r>
              <a:rPr lang="en" b="1" dirty="0"/>
              <a:t>Direction as a Feature</a:t>
            </a:r>
            <a:endParaRPr lang="en-US" b="1" dirty="0"/>
          </a:p>
        </p:txBody>
      </p:sp>
      <p:sp>
        <p:nvSpPr>
          <p:cNvPr id="8" name="Content Placeholder 1">
            <a:extLst>
              <a:ext uri="{FF2B5EF4-FFF2-40B4-BE49-F238E27FC236}">
                <a16:creationId xmlns:a16="http://schemas.microsoft.com/office/drawing/2014/main" id="{30EB1850-DDE7-4D48-A03F-95AA03B70DBD}"/>
              </a:ext>
            </a:extLst>
          </p:cNvPr>
          <p:cNvSpPr txBox="1">
            <a:spLocks/>
          </p:cNvSpPr>
          <p:nvPr/>
        </p:nvSpPr>
        <p:spPr>
          <a:xfrm>
            <a:off x="384535" y="1015473"/>
            <a:ext cx="11490664" cy="508899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r>
              <a:rPr lang="en-US" dirty="0"/>
              <a:t>Breakthrough idea</a:t>
            </a:r>
          </a:p>
          <a:p>
            <a:pPr lvl="3"/>
            <a:r>
              <a:rPr lang="en-US" dirty="0"/>
              <a:t>Give model the True direction of the directional trend</a:t>
            </a:r>
          </a:p>
          <a:p>
            <a:pPr lvl="3"/>
            <a:r>
              <a:rPr lang="en-US" dirty="0"/>
              <a:t>Check feature importance if the regressor focuses on the direction</a:t>
            </a:r>
          </a:p>
          <a:p>
            <a:pPr lvl="3"/>
            <a:r>
              <a:rPr lang="en-US" dirty="0"/>
              <a:t>Added noise to the actual direction to simulate flawed accuracy of the directional model in reality</a:t>
            </a:r>
          </a:p>
          <a:p>
            <a:pPr marL="1371600" lvl="3" indent="0">
              <a:buNone/>
            </a:pPr>
            <a:endParaRPr lang="en-US" dirty="0"/>
          </a:p>
          <a:p>
            <a:pPr lvl="3"/>
            <a:endParaRPr lang="en-US" dirty="0"/>
          </a:p>
          <a:p>
            <a:pPr lvl="2"/>
            <a:endParaRPr lang="en-US" dirty="0"/>
          </a:p>
        </p:txBody>
      </p:sp>
      <p:pic>
        <p:nvPicPr>
          <p:cNvPr id="14" name="Picture 13">
            <a:extLst>
              <a:ext uri="{FF2B5EF4-FFF2-40B4-BE49-F238E27FC236}">
                <a16:creationId xmlns:a16="http://schemas.microsoft.com/office/drawing/2014/main" id="{B856373B-C223-49B4-99B7-FAAB51A7456B}"/>
              </a:ext>
            </a:extLst>
          </p:cNvPr>
          <p:cNvPicPr>
            <a:picLocks noChangeAspect="1"/>
          </p:cNvPicPr>
          <p:nvPr/>
        </p:nvPicPr>
        <p:blipFill>
          <a:blip r:embed="rId2"/>
          <a:stretch>
            <a:fillRect/>
          </a:stretch>
        </p:blipFill>
        <p:spPr>
          <a:xfrm>
            <a:off x="6040360" y="3223633"/>
            <a:ext cx="5723557" cy="3115210"/>
          </a:xfrm>
          <a:prstGeom prst="rect">
            <a:avLst/>
          </a:prstGeom>
        </p:spPr>
      </p:pic>
      <p:pic>
        <p:nvPicPr>
          <p:cNvPr id="16" name="Picture 15">
            <a:extLst>
              <a:ext uri="{FF2B5EF4-FFF2-40B4-BE49-F238E27FC236}">
                <a16:creationId xmlns:a16="http://schemas.microsoft.com/office/drawing/2014/main" id="{F04686E7-FF47-4FC9-899E-A77CFAEB918F}"/>
              </a:ext>
            </a:extLst>
          </p:cNvPr>
          <p:cNvPicPr>
            <a:picLocks noChangeAspect="1"/>
          </p:cNvPicPr>
          <p:nvPr/>
        </p:nvPicPr>
        <p:blipFill>
          <a:blip r:embed="rId3"/>
          <a:stretch>
            <a:fillRect/>
          </a:stretch>
        </p:blipFill>
        <p:spPr>
          <a:xfrm>
            <a:off x="316801" y="3232387"/>
            <a:ext cx="5723559" cy="3115210"/>
          </a:xfrm>
          <a:prstGeom prst="rect">
            <a:avLst/>
          </a:prstGeom>
        </p:spPr>
      </p:pic>
    </p:spTree>
    <p:extLst>
      <p:ext uri="{BB962C8B-B14F-4D97-AF65-F5344CB8AC3E}">
        <p14:creationId xmlns:p14="http://schemas.microsoft.com/office/powerpoint/2010/main" val="27888074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E0B665-389D-46B8-963A-195891F0E73D}"/>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8BCC67A2-7704-4B13-B151-80519013F0F6}"/>
              </a:ext>
            </a:extLst>
          </p:cNvPr>
          <p:cNvSpPr>
            <a:spLocks noGrp="1"/>
          </p:cNvSpPr>
          <p:nvPr>
            <p:ph type="sldNum" sz="quarter" idx="12"/>
          </p:nvPr>
        </p:nvSpPr>
        <p:spPr/>
        <p:txBody>
          <a:bodyPr/>
          <a:lstStyle/>
          <a:p>
            <a:fld id="{88279435-30EF-C241-87D1-8D13B984C0EB}" type="slidenum">
              <a:rPr lang="en-US" smtClean="0"/>
              <a:pPr/>
              <a:t>25</a:t>
            </a:fld>
            <a:endParaRPr lang="en-US" dirty="0"/>
          </a:p>
        </p:txBody>
      </p:sp>
      <p:sp>
        <p:nvSpPr>
          <p:cNvPr id="5" name="Title 4">
            <a:extLst>
              <a:ext uri="{FF2B5EF4-FFF2-40B4-BE49-F238E27FC236}">
                <a16:creationId xmlns:a16="http://schemas.microsoft.com/office/drawing/2014/main" id="{3838BB1A-AC9D-477E-893F-E39ED4150DF2}"/>
              </a:ext>
            </a:extLst>
          </p:cNvPr>
          <p:cNvSpPr>
            <a:spLocks noGrp="1"/>
          </p:cNvSpPr>
          <p:nvPr>
            <p:ph type="title"/>
          </p:nvPr>
        </p:nvSpPr>
        <p:spPr/>
        <p:txBody>
          <a:bodyPr/>
          <a:lstStyle/>
          <a:p>
            <a:r>
              <a:rPr lang="en" sz="3600" b="1" dirty="0"/>
              <a:t>Feature Importance</a:t>
            </a:r>
            <a:endParaRPr lang="en-US" b="1" dirty="0"/>
          </a:p>
        </p:txBody>
      </p:sp>
      <p:sp>
        <p:nvSpPr>
          <p:cNvPr id="8" name="Content Placeholder 1">
            <a:extLst>
              <a:ext uri="{FF2B5EF4-FFF2-40B4-BE49-F238E27FC236}">
                <a16:creationId xmlns:a16="http://schemas.microsoft.com/office/drawing/2014/main" id="{30EB1850-DDE7-4D48-A03F-95AA03B70DBD}"/>
              </a:ext>
            </a:extLst>
          </p:cNvPr>
          <p:cNvSpPr txBox="1">
            <a:spLocks/>
          </p:cNvSpPr>
          <p:nvPr/>
        </p:nvSpPr>
        <p:spPr>
          <a:xfrm>
            <a:off x="384535" y="1015473"/>
            <a:ext cx="11490664" cy="508899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endParaRPr lang="en-US" dirty="0"/>
          </a:p>
        </p:txBody>
      </p:sp>
      <p:pic>
        <p:nvPicPr>
          <p:cNvPr id="6" name="Picture 5">
            <a:extLst>
              <a:ext uri="{FF2B5EF4-FFF2-40B4-BE49-F238E27FC236}">
                <a16:creationId xmlns:a16="http://schemas.microsoft.com/office/drawing/2014/main" id="{C74D8658-1051-43D8-A7AC-0A0B61BA6284}"/>
              </a:ext>
            </a:extLst>
          </p:cNvPr>
          <p:cNvPicPr>
            <a:picLocks noChangeAspect="1"/>
          </p:cNvPicPr>
          <p:nvPr/>
        </p:nvPicPr>
        <p:blipFill>
          <a:blip r:embed="rId2"/>
          <a:stretch>
            <a:fillRect/>
          </a:stretch>
        </p:blipFill>
        <p:spPr>
          <a:xfrm>
            <a:off x="1380065" y="1582463"/>
            <a:ext cx="9680657" cy="4451624"/>
          </a:xfrm>
          <a:prstGeom prst="rect">
            <a:avLst/>
          </a:prstGeom>
        </p:spPr>
      </p:pic>
      <p:cxnSp>
        <p:nvCxnSpPr>
          <p:cNvPr id="12" name="Straight Arrow Connector 11">
            <a:extLst>
              <a:ext uri="{FF2B5EF4-FFF2-40B4-BE49-F238E27FC236}">
                <a16:creationId xmlns:a16="http://schemas.microsoft.com/office/drawing/2014/main" id="{6D2311F0-DC6E-49C2-A3B1-725EC5060B79}"/>
              </a:ext>
            </a:extLst>
          </p:cNvPr>
          <p:cNvCxnSpPr>
            <a:cxnSpLocks/>
          </p:cNvCxnSpPr>
          <p:nvPr/>
        </p:nvCxnSpPr>
        <p:spPr>
          <a:xfrm>
            <a:off x="2899511" y="3141783"/>
            <a:ext cx="454269"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4" name="Straight Arrow Connector 13">
            <a:extLst>
              <a:ext uri="{FF2B5EF4-FFF2-40B4-BE49-F238E27FC236}">
                <a16:creationId xmlns:a16="http://schemas.microsoft.com/office/drawing/2014/main" id="{B7A625DE-4C93-4109-8AC4-EE9014FE070D}"/>
              </a:ext>
            </a:extLst>
          </p:cNvPr>
          <p:cNvCxnSpPr>
            <a:cxnSpLocks/>
          </p:cNvCxnSpPr>
          <p:nvPr/>
        </p:nvCxnSpPr>
        <p:spPr>
          <a:xfrm>
            <a:off x="2425702" y="2716823"/>
            <a:ext cx="537307"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5" name="Straight Arrow Connector 14">
            <a:extLst>
              <a:ext uri="{FF2B5EF4-FFF2-40B4-BE49-F238E27FC236}">
                <a16:creationId xmlns:a16="http://schemas.microsoft.com/office/drawing/2014/main" id="{9A689B61-1AE4-49E3-A889-49294B9286D6}"/>
              </a:ext>
            </a:extLst>
          </p:cNvPr>
          <p:cNvCxnSpPr>
            <a:cxnSpLocks/>
          </p:cNvCxnSpPr>
          <p:nvPr/>
        </p:nvCxnSpPr>
        <p:spPr>
          <a:xfrm>
            <a:off x="1704244" y="4047392"/>
            <a:ext cx="598365"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 name="Straight Arrow Connector 15">
            <a:extLst>
              <a:ext uri="{FF2B5EF4-FFF2-40B4-BE49-F238E27FC236}">
                <a16:creationId xmlns:a16="http://schemas.microsoft.com/office/drawing/2014/main" id="{11A9E036-44DF-4994-BEE5-1751EF48FC57}"/>
              </a:ext>
            </a:extLst>
          </p:cNvPr>
          <p:cNvCxnSpPr>
            <a:cxnSpLocks/>
          </p:cNvCxnSpPr>
          <p:nvPr/>
        </p:nvCxnSpPr>
        <p:spPr>
          <a:xfrm>
            <a:off x="1857132" y="4460630"/>
            <a:ext cx="677496"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2" name="Content Placeholder 1">
            <a:extLst>
              <a:ext uri="{FF2B5EF4-FFF2-40B4-BE49-F238E27FC236}">
                <a16:creationId xmlns:a16="http://schemas.microsoft.com/office/drawing/2014/main" id="{832539A8-FCD4-422B-8BA6-D52D3EEF0731}"/>
              </a:ext>
            </a:extLst>
          </p:cNvPr>
          <p:cNvSpPr txBox="1">
            <a:spLocks/>
          </p:cNvSpPr>
          <p:nvPr/>
        </p:nvSpPr>
        <p:spPr>
          <a:xfrm>
            <a:off x="536935" y="1167873"/>
            <a:ext cx="11490664" cy="508899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r>
              <a:rPr lang="en-US" dirty="0"/>
              <a:t>Features added from the Directional Classifier </a:t>
            </a:r>
          </a:p>
        </p:txBody>
      </p:sp>
      <p:cxnSp>
        <p:nvCxnSpPr>
          <p:cNvPr id="23" name="Straight Arrow Connector 22">
            <a:extLst>
              <a:ext uri="{FF2B5EF4-FFF2-40B4-BE49-F238E27FC236}">
                <a16:creationId xmlns:a16="http://schemas.microsoft.com/office/drawing/2014/main" id="{3D66435D-DDFC-43E4-9CF2-BC7EC1185CC2}"/>
              </a:ext>
            </a:extLst>
          </p:cNvPr>
          <p:cNvCxnSpPr>
            <a:cxnSpLocks/>
          </p:cNvCxnSpPr>
          <p:nvPr/>
        </p:nvCxnSpPr>
        <p:spPr>
          <a:xfrm>
            <a:off x="1857132" y="5369168"/>
            <a:ext cx="677496"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942861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0"/>
          <p:cNvSpPr txBox="1">
            <a:spLocks noGrp="1"/>
          </p:cNvSpPr>
          <p:nvPr>
            <p:ph type="dt" idx="10"/>
          </p:nvPr>
        </p:nvSpPr>
        <p:spPr>
          <a:xfrm>
            <a:off x="609600" y="6356351"/>
            <a:ext cx="2844800" cy="365200"/>
          </a:xfrm>
          <a:prstGeom prst="rect">
            <a:avLst/>
          </a:prstGeom>
          <a:noFill/>
          <a:ln>
            <a:noFill/>
          </a:ln>
        </p:spPr>
        <p:txBody>
          <a:bodyPr spcFirstLastPara="1" vert="horz" wrap="square" lIns="91433" tIns="45700" rIns="91433" bIns="45700" rtlCol="0" anchor="ctr" anchorCtr="0">
            <a:noAutofit/>
          </a:bodyPr>
          <a:lstStyle/>
          <a:p>
            <a:r>
              <a:rPr lang="en-US" dirty="0"/>
              <a:t>January 22, 2025</a:t>
            </a:r>
            <a:endParaRPr dirty="0"/>
          </a:p>
        </p:txBody>
      </p:sp>
      <p:sp>
        <p:nvSpPr>
          <p:cNvPr id="266" name="Google Shape;266;p40"/>
          <p:cNvSpPr txBox="1">
            <a:spLocks noGrp="1"/>
          </p:cNvSpPr>
          <p:nvPr>
            <p:ph type="sldNum" idx="12"/>
          </p:nvPr>
        </p:nvSpPr>
        <p:spPr>
          <a:xfrm>
            <a:off x="4673600" y="6356351"/>
            <a:ext cx="2844800" cy="365200"/>
          </a:xfrm>
          <a:prstGeom prst="rect">
            <a:avLst/>
          </a:prstGeom>
          <a:noFill/>
          <a:ln>
            <a:noFill/>
          </a:ln>
        </p:spPr>
        <p:txBody>
          <a:bodyPr spcFirstLastPara="1" vert="horz" wrap="square" lIns="91433" tIns="45700" rIns="91433" bIns="45700" rtlCol="0" anchor="ctr" anchorCtr="0">
            <a:noAutofit/>
          </a:bodyPr>
          <a:lstStyle/>
          <a:p>
            <a:fld id="{00000000-1234-1234-1234-123412341234}" type="slidenum">
              <a:rPr lang="en"/>
              <a:pPr/>
              <a:t>26</a:t>
            </a:fld>
            <a:endParaRPr/>
          </a:p>
        </p:txBody>
      </p:sp>
      <p:sp>
        <p:nvSpPr>
          <p:cNvPr id="267" name="Google Shape;267;p40"/>
          <p:cNvSpPr txBox="1">
            <a:spLocks noGrp="1"/>
          </p:cNvSpPr>
          <p:nvPr>
            <p:ph type="ctrTitle"/>
          </p:nvPr>
        </p:nvSpPr>
        <p:spPr>
          <a:xfrm>
            <a:off x="886713" y="2140771"/>
            <a:ext cx="10363200" cy="3025200"/>
          </a:xfrm>
          <a:prstGeom prst="rect">
            <a:avLst/>
          </a:prstGeom>
          <a:noFill/>
          <a:ln>
            <a:noFill/>
          </a:ln>
        </p:spPr>
        <p:txBody>
          <a:bodyPr spcFirstLastPara="1" vert="horz" wrap="square" lIns="91433" tIns="45700" rIns="91433" bIns="45700" rtlCol="0" anchor="ctr" anchorCtr="0">
            <a:noAutofit/>
          </a:bodyPr>
          <a:lstStyle/>
          <a:p>
            <a:pPr>
              <a:buSzPts val="4100"/>
            </a:pPr>
            <a:r>
              <a:rPr lang="en" sz="5467" b="1" dirty="0"/>
              <a:t>Data Driven Risk Score Calculator</a:t>
            </a:r>
            <a:endParaRPr dirty="0"/>
          </a:p>
        </p:txBody>
      </p:sp>
    </p:spTree>
    <p:extLst>
      <p:ext uri="{BB962C8B-B14F-4D97-AF65-F5344CB8AC3E}">
        <p14:creationId xmlns:p14="http://schemas.microsoft.com/office/powerpoint/2010/main" val="2945333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a:bodyPr>
          <a:lstStyle/>
          <a:p>
            <a:pPr>
              <a:lnSpc>
                <a:spcPct val="160000"/>
              </a:lnSpc>
            </a:pPr>
            <a:r>
              <a:rPr lang="en-US" sz="2400" dirty="0"/>
              <a:t>The directional approach was aided by a data driven approach to allow for some mis forecasts.</a:t>
            </a:r>
          </a:p>
          <a:p>
            <a:pPr>
              <a:lnSpc>
                <a:spcPct val="160000"/>
              </a:lnSpc>
            </a:pPr>
            <a:r>
              <a:rPr lang="en-US" sz="2400" dirty="0"/>
              <a:t>The data driven risk will aid in predicting the direction of the disease trend</a:t>
            </a:r>
          </a:p>
          <a:p>
            <a:pPr marL="0" indent="0">
              <a:lnSpc>
                <a:spcPct val="160000"/>
              </a:lnSpc>
              <a:buNone/>
            </a:pPr>
            <a:endParaRPr lang="en-US" sz="2400" dirty="0"/>
          </a:p>
          <a:p>
            <a:pPr>
              <a:lnSpc>
                <a:spcPct val="160000"/>
              </a:lnSpc>
            </a:pPr>
            <a:endParaRPr lang="en-US" sz="1600" dirty="0"/>
          </a:p>
          <a:p>
            <a:pPr marL="914400" lvl="1" indent="-457200">
              <a:lnSpc>
                <a:spcPct val="160000"/>
              </a:lnSpc>
              <a:buFont typeface="+mj-lt"/>
              <a:buAutoNum type="arabicPeriod"/>
            </a:pPr>
            <a:endParaRPr lang="en-US" sz="2000" dirty="0"/>
          </a:p>
        </p:txBody>
      </p:sp>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27</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Risk Score Calculator</a:t>
            </a:r>
            <a:endParaRPr lang="en-US" dirty="0"/>
          </a:p>
        </p:txBody>
      </p:sp>
      <p:sp>
        <p:nvSpPr>
          <p:cNvPr id="6" name="TextBox 5">
            <a:extLst>
              <a:ext uri="{FF2B5EF4-FFF2-40B4-BE49-F238E27FC236}">
                <a16:creationId xmlns:a16="http://schemas.microsoft.com/office/drawing/2014/main" id="{73B435D2-48A8-4C6F-A7A5-286DDC5F78D7}"/>
              </a:ext>
            </a:extLst>
          </p:cNvPr>
          <p:cNvSpPr txBox="1"/>
          <p:nvPr/>
        </p:nvSpPr>
        <p:spPr>
          <a:xfrm>
            <a:off x="5638800" y="2971800"/>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31504174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a:bodyPr>
              <a:lstStyle/>
              <a:p>
                <a:pPr>
                  <a:lnSpc>
                    <a:spcPct val="160000"/>
                  </a:lnSpc>
                </a:pPr>
                <a:r>
                  <a:rPr lang="en-US" sz="2000" b="1" dirty="0"/>
                  <a:t> Simple Relative Increase Ratio:</a:t>
                </a:r>
              </a:p>
              <a:p>
                <a:pPr marL="0" indent="0">
                  <a:lnSpc>
                    <a:spcPct val="160000"/>
                  </a:lnSpc>
                  <a:buNone/>
                </a:pPr>
                <a14:m>
                  <m:oMathPara xmlns:m="http://schemas.openxmlformats.org/officeDocument/2006/math">
                    <m:oMathParaPr>
                      <m:jc m:val="centerGroup"/>
                    </m:oMathParaPr>
                    <m:oMath xmlns:m="http://schemas.openxmlformats.org/officeDocument/2006/math">
                      <m:r>
                        <m:rPr>
                          <m:nor/>
                        </m:rPr>
                        <a:rPr lang="en-US" sz="2000" b="1" dirty="0"/>
                        <m:t>Risk</m:t>
                      </m:r>
                      <m:r>
                        <m:rPr>
                          <m:nor/>
                        </m:rPr>
                        <a:rPr lang="en-US" sz="2000" b="1" dirty="0"/>
                        <m:t> </m:t>
                      </m:r>
                      <m:r>
                        <m:rPr>
                          <m:nor/>
                        </m:rPr>
                        <a:rPr lang="en-US" sz="2000" b="1" dirty="0"/>
                        <m:t>Score</m:t>
                      </m:r>
                      <m:r>
                        <m:rPr>
                          <m:nor/>
                        </m:rPr>
                        <a:rPr lang="en-US" sz="2000" b="1" dirty="0"/>
                        <m:t> (</m:t>
                      </m:r>
                      <m:r>
                        <m:rPr>
                          <m:nor/>
                        </m:rPr>
                        <a:rPr lang="en-US" sz="2000" b="1" dirty="0"/>
                        <m:t>Ratio</m:t>
                      </m:r>
                      <m:r>
                        <m:rPr>
                          <m:nor/>
                        </m:rPr>
                        <a:rPr lang="en-US" sz="2000" b="1" dirty="0"/>
                        <m:t>) </m:t>
                      </m:r>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m:rPr>
                              <m:nor/>
                            </m:rPr>
                            <a:rPr lang="en-US" sz="2000" b="1" dirty="0"/>
                            <m:t>(</m:t>
                          </m:r>
                          <m:sSub>
                            <m:sSubPr>
                              <m:ctrlPr>
                                <a:rPr lang="en-US" sz="2000" b="1" i="1" dirty="0" smtClean="0">
                                  <a:latin typeface="Cambria Math" panose="02040503050406030204" pitchFamily="18" charset="0"/>
                                </a:rPr>
                              </m:ctrlPr>
                            </m:sSubPr>
                            <m:e>
                              <m:r>
                                <m:rPr>
                                  <m:nor/>
                                </m:rPr>
                                <a:rPr lang="en-US" sz="2000" b="1" dirty="0"/>
                                <m:t>Num</m:t>
                              </m:r>
                              <m:r>
                                <m:rPr>
                                  <m:nor/>
                                </m:rPr>
                                <a:rPr lang="en-US" sz="2000" b="1" dirty="0"/>
                                <m:t>_</m:t>
                              </m:r>
                              <m:r>
                                <m:rPr>
                                  <m:nor/>
                                </m:rPr>
                                <a:rPr lang="en-US" sz="2000" b="1" dirty="0"/>
                                <m:t>Encounters</m:t>
                              </m:r>
                            </m:e>
                            <m:sub>
                              <m:r>
                                <a:rPr lang="en-US" sz="2000" b="1" i="1" dirty="0">
                                  <a:latin typeface="Cambria Math" panose="02040503050406030204" pitchFamily="18" charset="0"/>
                                </a:rPr>
                                <m:t>𝒕</m:t>
                              </m:r>
                            </m:sub>
                          </m:sSub>
                          <m:r>
                            <m:rPr>
                              <m:nor/>
                            </m:rPr>
                            <a:rPr lang="en-US" sz="2000" b="1" dirty="0"/>
                            <m:t> − </m:t>
                          </m:r>
                          <m:sSub>
                            <m:sSubPr>
                              <m:ctrlPr>
                                <a:rPr lang="en-US" sz="2000" b="1" i="1" dirty="0" smtClean="0">
                                  <a:latin typeface="Cambria Math" panose="02040503050406030204" pitchFamily="18" charset="0"/>
                                </a:rPr>
                              </m:ctrlPr>
                            </m:sSubPr>
                            <m:e>
                              <m:r>
                                <m:rPr>
                                  <m:nor/>
                                </m:rPr>
                                <a:rPr lang="en-US" sz="2000" b="1" dirty="0"/>
                                <m:t>Num</m:t>
                              </m:r>
                              <m:r>
                                <m:rPr>
                                  <m:nor/>
                                </m:rPr>
                                <a:rPr lang="en-US" sz="2000" b="1" dirty="0"/>
                                <m:t>_</m:t>
                              </m:r>
                              <m:r>
                                <m:rPr>
                                  <m:nor/>
                                </m:rPr>
                                <a:rPr lang="en-US" sz="2000" b="1" dirty="0"/>
                                <m:t>Encounters</m:t>
                              </m:r>
                            </m:e>
                            <m:sub>
                              <m:r>
                                <a:rPr lang="en-US" sz="2000" b="1" i="1" dirty="0" smtClean="0">
                                  <a:latin typeface="Cambria Math" panose="02040503050406030204" pitchFamily="18" charset="0"/>
                                </a:rPr>
                                <m:t>𝒕</m:t>
                              </m:r>
                              <m:r>
                                <a:rPr lang="en-US" sz="2000" b="1" i="1" dirty="0" smtClean="0">
                                  <a:latin typeface="Cambria Math" panose="02040503050406030204" pitchFamily="18" charset="0"/>
                                </a:rPr>
                                <m:t>−</m:t>
                              </m:r>
                              <m:r>
                                <a:rPr lang="en-US" sz="2000" b="1" i="1" dirty="0" smtClean="0">
                                  <a:latin typeface="Cambria Math" panose="02040503050406030204" pitchFamily="18" charset="0"/>
                                </a:rPr>
                                <m:t>𝟏</m:t>
                              </m:r>
                            </m:sub>
                          </m:sSub>
                          <m:r>
                            <m:rPr>
                              <m:nor/>
                            </m:rPr>
                            <a:rPr lang="en-US" sz="2000" b="1" dirty="0"/>
                            <m:t>)</m:t>
                          </m:r>
                        </m:num>
                        <m:den>
                          <m:sSub>
                            <m:sSubPr>
                              <m:ctrlPr>
                                <a:rPr lang="en-US" sz="2000" b="1" i="1" dirty="0">
                                  <a:latin typeface="Cambria Math" panose="02040503050406030204" pitchFamily="18" charset="0"/>
                                </a:rPr>
                              </m:ctrlPr>
                            </m:sSubPr>
                            <m:e>
                              <m:r>
                                <m:rPr>
                                  <m:nor/>
                                </m:rPr>
                                <a:rPr lang="en-US" sz="2000" b="1" i="0" dirty="0" smtClean="0">
                                  <a:latin typeface="Cambria Math" panose="02040503050406030204" pitchFamily="18" charset="0"/>
                                </a:rPr>
                                <m:t>(</m:t>
                              </m:r>
                              <m:r>
                                <m:rPr>
                                  <m:nor/>
                                </m:rPr>
                                <a:rPr lang="en-US" sz="2000" b="1" dirty="0"/>
                                <m:t>Num</m:t>
                              </m:r>
                              <m:r>
                                <m:rPr>
                                  <m:nor/>
                                </m:rPr>
                                <a:rPr lang="en-US" sz="2000" b="1" dirty="0"/>
                                <m:t>_</m:t>
                              </m:r>
                              <m:r>
                                <m:rPr>
                                  <m:nor/>
                                </m:rPr>
                                <a:rPr lang="en-US" sz="2000" b="1" dirty="0"/>
                                <m:t>Encounters</m:t>
                              </m:r>
                            </m:e>
                            <m:sub>
                              <m:r>
                                <a:rPr lang="en-US" sz="2000" b="1" i="1" dirty="0">
                                  <a:latin typeface="Cambria Math" panose="02040503050406030204" pitchFamily="18" charset="0"/>
                                </a:rPr>
                                <m:t>𝒕</m:t>
                              </m:r>
                              <m:r>
                                <a:rPr lang="en-US" sz="2000" b="1" i="1" dirty="0">
                                  <a:latin typeface="Cambria Math" panose="02040503050406030204" pitchFamily="18" charset="0"/>
                                </a:rPr>
                                <m:t>−</m:t>
                              </m:r>
                              <m:r>
                                <a:rPr lang="en-US" sz="2000" b="1" i="1" dirty="0">
                                  <a:latin typeface="Cambria Math" panose="02040503050406030204" pitchFamily="18" charset="0"/>
                                </a:rPr>
                                <m:t>𝟏</m:t>
                              </m:r>
                            </m:sub>
                          </m:sSub>
                          <m:r>
                            <a:rPr lang="en-US" sz="2000" b="1" i="1" dirty="0" smtClean="0">
                              <a:latin typeface="Cambria Math" panose="02040503050406030204" pitchFamily="18" charset="0"/>
                            </a:rPr>
                            <m:t>+</m:t>
                          </m:r>
                          <m:r>
                            <a:rPr lang="en-US" sz="2000" b="1" i="1" dirty="0" smtClean="0">
                              <a:latin typeface="Cambria Math" panose="02040503050406030204" pitchFamily="18" charset="0"/>
                            </a:rPr>
                            <m:t>𝟏</m:t>
                          </m:r>
                          <m:r>
                            <a:rPr lang="en-US" sz="2000" b="1" i="1" dirty="0" smtClean="0">
                              <a:latin typeface="Cambria Math" panose="02040503050406030204" pitchFamily="18" charset="0"/>
                            </a:rPr>
                            <m:t>)</m:t>
                          </m:r>
                        </m:den>
                      </m:f>
                    </m:oMath>
                  </m:oMathPara>
                </a14:m>
                <a:endParaRPr lang="en-US" sz="2000" b="1" dirty="0"/>
              </a:p>
              <a:p>
                <a:pPr marL="0" indent="0">
                  <a:lnSpc>
                    <a:spcPct val="160000"/>
                  </a:lnSpc>
                  <a:buNone/>
                </a:pPr>
                <a:r>
                  <a:rPr lang="en-US" sz="1800" b="1" dirty="0"/>
                  <a:t>	- </a:t>
                </a:r>
                <a:r>
                  <a:rPr lang="en-US" sz="2000" dirty="0"/>
                  <a:t>Measures week-over-week relative increase in encounters.</a:t>
                </a:r>
              </a:p>
              <a:p>
                <a:pPr marL="0" indent="0">
                  <a:lnSpc>
                    <a:spcPct val="160000"/>
                  </a:lnSpc>
                  <a:buNone/>
                </a:pPr>
                <a:endParaRPr lang="en-US" sz="2000" dirty="0"/>
              </a:p>
              <a:p>
                <a:pPr>
                  <a:lnSpc>
                    <a:spcPct val="160000"/>
                  </a:lnSpc>
                </a:pPr>
                <a:r>
                  <a:rPr lang="en-US" sz="2000" b="1" dirty="0"/>
                  <a:t>Z-Score Based on a Rolling Window:</a:t>
                </a:r>
              </a:p>
              <a:p>
                <a:pPr>
                  <a:lnSpc>
                    <a:spcPct val="160000"/>
                  </a:lnSpc>
                </a:pPr>
                <a:r>
                  <a:rPr lang="en-US" sz="2000" b="1" dirty="0"/>
                  <a:t>                   </a:t>
                </a:r>
                <a14:m>
                  <m:oMath xmlns:m="http://schemas.openxmlformats.org/officeDocument/2006/math">
                    <m:sSub>
                      <m:sSubPr>
                        <m:ctrlPr>
                          <a:rPr lang="en-US" sz="2000" b="1" i="1" dirty="0" smtClean="0">
                            <a:latin typeface="Cambria Math" panose="02040503050406030204" pitchFamily="18" charset="0"/>
                          </a:rPr>
                        </m:ctrlPr>
                      </m:sSubPr>
                      <m:e>
                        <m:r>
                          <m:rPr>
                            <m:nor/>
                          </m:rPr>
                          <a:rPr lang="en-US" sz="2000" b="1" dirty="0"/>
                          <m:t>Z</m:t>
                        </m:r>
                        <m:r>
                          <m:rPr>
                            <m:nor/>
                          </m:rPr>
                          <a:rPr lang="en-US" sz="2000" b="1" dirty="0"/>
                          <m:t>−</m:t>
                        </m:r>
                        <m:r>
                          <m:rPr>
                            <m:nor/>
                          </m:rPr>
                          <a:rPr lang="en-US" sz="2000" b="1" dirty="0"/>
                          <m:t>Sco</m:t>
                        </m:r>
                        <m:r>
                          <a:rPr lang="en-US" sz="2000" b="1" i="1" dirty="0" smtClean="0">
                            <a:latin typeface="Cambria Math" panose="02040503050406030204" pitchFamily="18" charset="0"/>
                          </a:rPr>
                          <m:t>𝒓𝒆</m:t>
                        </m:r>
                      </m:e>
                      <m:sub>
                        <m:r>
                          <a:rPr lang="en-US" sz="2000" b="1" i="1" dirty="0" smtClean="0">
                            <a:latin typeface="Cambria Math" panose="02040503050406030204" pitchFamily="18" charset="0"/>
                          </a:rPr>
                          <m:t>𝒕</m:t>
                        </m:r>
                      </m:sub>
                    </m:sSub>
                    <m:r>
                      <m:rPr>
                        <m:nor/>
                      </m:rPr>
                      <a:rPr lang="en-US" sz="2000" b="1" i="0" dirty="0" smtClean="0"/>
                      <m:t> = </m:t>
                    </m:r>
                    <m:f>
                      <m:fPr>
                        <m:ctrlPr>
                          <a:rPr lang="en-US" sz="2000" b="1" i="1" smtClean="0">
                            <a:latin typeface="Cambria Math" panose="02040503050406030204" pitchFamily="18" charset="0"/>
                          </a:rPr>
                        </m:ctrlPr>
                      </m:fPr>
                      <m:num>
                        <m:r>
                          <m:rPr>
                            <m:nor/>
                          </m:rPr>
                          <a:rPr lang="en-US" sz="2000" b="1" dirty="0"/>
                          <m:t>(</m:t>
                        </m:r>
                        <m:sSub>
                          <m:sSubPr>
                            <m:ctrlPr>
                              <a:rPr lang="en-US" sz="2000" b="1" i="1" dirty="0" smtClean="0">
                                <a:latin typeface="Cambria Math" panose="02040503050406030204" pitchFamily="18" charset="0"/>
                              </a:rPr>
                            </m:ctrlPr>
                          </m:sSubPr>
                          <m:e>
                            <m:r>
                              <m:rPr>
                                <m:nor/>
                              </m:rPr>
                              <a:rPr lang="en-US" sz="2000" b="1" dirty="0"/>
                              <m:t>Num</m:t>
                            </m:r>
                            <m:r>
                              <m:rPr>
                                <m:nor/>
                              </m:rPr>
                              <a:rPr lang="en-US" sz="2000" b="1" dirty="0"/>
                              <m:t>_</m:t>
                            </m:r>
                            <m:r>
                              <m:rPr>
                                <m:nor/>
                              </m:rPr>
                              <a:rPr lang="en-US" sz="2000" b="1" dirty="0"/>
                              <m:t>Encounters</m:t>
                            </m:r>
                          </m:e>
                          <m:sub>
                            <m:r>
                              <a:rPr lang="en-US" sz="2000" b="1" i="1" dirty="0" smtClean="0">
                                <a:latin typeface="Cambria Math" panose="02040503050406030204" pitchFamily="18" charset="0"/>
                              </a:rPr>
                              <m:t>𝒕</m:t>
                            </m:r>
                          </m:sub>
                        </m:sSub>
                        <m:r>
                          <m:rPr>
                            <m:nor/>
                          </m:rPr>
                          <a:rPr lang="en-US" sz="2000" b="1" dirty="0"/>
                          <m:t> − </m:t>
                        </m:r>
                        <m:sSub>
                          <m:sSubPr>
                            <m:ctrlPr>
                              <a:rPr lang="en-US" sz="2000" b="1" i="1" dirty="0" smtClean="0">
                                <a:latin typeface="Cambria Math" panose="02040503050406030204" pitchFamily="18" charset="0"/>
                              </a:rPr>
                            </m:ctrlPr>
                          </m:sSubPr>
                          <m:e>
                            <m:r>
                              <m:rPr>
                                <m:nor/>
                              </m:rPr>
                              <a:rPr lang="en-US" sz="2000" b="1" dirty="0"/>
                              <m:t>Rolling</m:t>
                            </m:r>
                            <m:r>
                              <m:rPr>
                                <m:nor/>
                              </m:rPr>
                              <a:rPr lang="en-US" sz="2000" b="1" dirty="0"/>
                              <m:t>_</m:t>
                            </m:r>
                            <m:r>
                              <m:rPr>
                                <m:nor/>
                              </m:rPr>
                              <a:rPr lang="en-US" sz="2000" b="1" dirty="0"/>
                              <m:t>Mean</m:t>
                            </m:r>
                          </m:e>
                          <m:sub>
                            <m:r>
                              <a:rPr lang="en-US" sz="2000" b="1" i="1" dirty="0" smtClean="0">
                                <a:latin typeface="Cambria Math" panose="02040503050406030204" pitchFamily="18" charset="0"/>
                              </a:rPr>
                              <m:t>𝒕</m:t>
                            </m:r>
                          </m:sub>
                        </m:sSub>
                        <m:r>
                          <m:rPr>
                            <m:nor/>
                          </m:rPr>
                          <a:rPr lang="en-US" sz="2000" b="1" dirty="0"/>
                          <m:t>)</m:t>
                        </m:r>
                      </m:num>
                      <m:den>
                        <m:r>
                          <m:rPr>
                            <m:nor/>
                          </m:rPr>
                          <a:rPr lang="en-US" sz="2000" b="1" dirty="0"/>
                          <m:t>(</m:t>
                        </m:r>
                        <m:sSub>
                          <m:sSubPr>
                            <m:ctrlPr>
                              <a:rPr lang="en-US" sz="2000" b="1" i="1" dirty="0" smtClean="0">
                                <a:latin typeface="Cambria Math" panose="02040503050406030204" pitchFamily="18" charset="0"/>
                              </a:rPr>
                            </m:ctrlPr>
                          </m:sSubPr>
                          <m:e>
                            <m:r>
                              <m:rPr>
                                <m:nor/>
                              </m:rPr>
                              <a:rPr lang="en-US" sz="2000" b="1" dirty="0"/>
                              <m:t>Rolling</m:t>
                            </m:r>
                            <m:r>
                              <m:rPr>
                                <m:nor/>
                              </m:rPr>
                              <a:rPr lang="en-US" sz="2000" b="1" dirty="0"/>
                              <m:t>_</m:t>
                            </m:r>
                            <m:r>
                              <m:rPr>
                                <m:nor/>
                              </m:rPr>
                              <a:rPr lang="en-US" sz="2000" b="1" dirty="0"/>
                              <m:t>Std</m:t>
                            </m:r>
                          </m:e>
                          <m:sub>
                            <m:r>
                              <a:rPr lang="en-US" sz="2000" b="1" i="1" dirty="0" smtClean="0">
                                <a:latin typeface="Cambria Math" panose="02040503050406030204" pitchFamily="18" charset="0"/>
                              </a:rPr>
                              <m:t>𝒕</m:t>
                            </m:r>
                          </m:sub>
                        </m:sSub>
                        <m:r>
                          <m:rPr>
                            <m:nor/>
                          </m:rPr>
                          <a:rPr lang="en-US" sz="2000" b="1" dirty="0"/>
                          <m:t> + </m:t>
                        </m:r>
                        <m:r>
                          <m:rPr>
                            <m:nor/>
                          </m:rPr>
                          <a:rPr lang="el-GR" sz="2000" b="1" dirty="0"/>
                          <m:t>ε</m:t>
                        </m:r>
                        <m:r>
                          <m:rPr>
                            <m:nor/>
                          </m:rPr>
                          <a:rPr lang="el-GR" sz="2000" b="1" dirty="0"/>
                          <m:t>) </m:t>
                        </m:r>
                      </m:den>
                    </m:f>
                  </m:oMath>
                </a14:m>
                <a:endParaRPr lang="en-US" sz="2000" b="1" dirty="0"/>
              </a:p>
              <a:p>
                <a:pPr marL="0" indent="0">
                  <a:buNone/>
                </a:pPr>
                <a:r>
                  <a:rPr lang="en-US" sz="2000" dirty="0"/>
                  <a:t>	- Compares current week's encounters to a rolling average of past weeks.</a:t>
                </a:r>
              </a:p>
              <a:p>
                <a:pPr marL="0" indent="0">
                  <a:buNone/>
                </a:pPr>
                <a:r>
                  <a:rPr lang="en-US" sz="2000" dirty="0"/>
                  <a:t>	- Accounts for data variability using standard deviation.</a:t>
                </a:r>
              </a:p>
              <a:p>
                <a:pPr>
                  <a:lnSpc>
                    <a:spcPct val="160000"/>
                  </a:lnSpc>
                </a:pPr>
                <a:endParaRPr lang="en-US" sz="2400" dirty="0"/>
              </a:p>
              <a:p>
                <a:pPr>
                  <a:lnSpc>
                    <a:spcPct val="160000"/>
                  </a:lnSpc>
                </a:pPr>
                <a:endParaRPr lang="en-US" sz="2400" dirty="0"/>
              </a:p>
              <a:p>
                <a:pPr marL="0" indent="0">
                  <a:lnSpc>
                    <a:spcPct val="160000"/>
                  </a:lnSpc>
                  <a:buNone/>
                </a:pPr>
                <a:endParaRPr lang="en-US" sz="2400" dirty="0"/>
              </a:p>
              <a:p>
                <a:pPr>
                  <a:lnSpc>
                    <a:spcPct val="160000"/>
                  </a:lnSpc>
                </a:pPr>
                <a:endParaRPr lang="en-US" sz="1600" dirty="0"/>
              </a:p>
              <a:p>
                <a:pPr marL="914400" lvl="1" indent="-457200">
                  <a:lnSpc>
                    <a:spcPct val="160000"/>
                  </a:lnSpc>
                  <a:buFont typeface="+mj-lt"/>
                  <a:buAutoNum type="arabicPeriod"/>
                </a:pPr>
                <a:endParaRPr lang="en-US" sz="2000" dirty="0"/>
              </a:p>
            </p:txBody>
          </p:sp>
        </mc:Choice>
        <mc:Fallback xmlns="">
          <p:sp>
            <p:nvSpPr>
              <p:cNvPr id="2" name="Content Placeholder 1">
                <a:extLst>
                  <a:ext uri="{FF2B5EF4-FFF2-40B4-BE49-F238E27FC236}">
                    <a16:creationId xmlns:a16="http://schemas.microsoft.com/office/drawing/2014/main" id="{F06A1136-ADF8-4041-90C3-99C5CDEBE274}"/>
                  </a:ext>
                </a:extLst>
              </p:cNvPr>
              <p:cNvSpPr>
                <a:spLocks noGrp="1" noRot="1" noChangeAspect="1" noMove="1" noResize="1" noEditPoints="1" noAdjustHandles="1" noChangeArrowheads="1" noChangeShapeType="1" noTextEdit="1"/>
              </p:cNvSpPr>
              <p:nvPr>
                <p:ph idx="1"/>
              </p:nvPr>
            </p:nvSpPr>
            <p:spPr>
              <a:xfrm>
                <a:off x="609600" y="988383"/>
                <a:ext cx="10972800" cy="5367967"/>
              </a:xfrm>
              <a:blipFill>
                <a:blip r:embed="rId2"/>
                <a:stretch>
                  <a:fillRect l="-500"/>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28</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Mathematical Modeling</a:t>
            </a:r>
            <a:endParaRPr lang="en-US" dirty="0"/>
          </a:p>
        </p:txBody>
      </p:sp>
      <p:sp>
        <p:nvSpPr>
          <p:cNvPr id="6" name="TextBox 5">
            <a:extLst>
              <a:ext uri="{FF2B5EF4-FFF2-40B4-BE49-F238E27FC236}">
                <a16:creationId xmlns:a16="http://schemas.microsoft.com/office/drawing/2014/main" id="{73B435D2-48A8-4C6F-A7A5-286DDC5F78D7}"/>
              </a:ext>
            </a:extLst>
          </p:cNvPr>
          <p:cNvSpPr txBox="1"/>
          <p:nvPr/>
        </p:nvSpPr>
        <p:spPr>
          <a:xfrm>
            <a:off x="5638800" y="2971800"/>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327319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fontScale="85000" lnSpcReduction="10000"/>
              </a:bodyPr>
              <a:lstStyle/>
              <a:p>
                <a:pPr>
                  <a:lnSpc>
                    <a:spcPct val="160000"/>
                  </a:lnSpc>
                </a:pPr>
                <a:r>
                  <a:rPr lang="en-US" sz="2400" dirty="0"/>
                  <a:t>Concepts used to calculate score</a:t>
                </a:r>
              </a:p>
              <a:p>
                <a:pPr lvl="1">
                  <a:lnSpc>
                    <a:spcPct val="160000"/>
                  </a:lnSpc>
                </a:pPr>
                <a:r>
                  <a:rPr lang="en-US" sz="2000" dirty="0"/>
                  <a:t>Check the transition between the current and previous week</a:t>
                </a:r>
              </a:p>
              <a:p>
                <a:pPr marL="457200" lvl="1" indent="0">
                  <a:lnSpc>
                    <a:spcPct val="160000"/>
                  </a:lnSpc>
                  <a:buNone/>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𝑬𝒏𝒄𝒐𝒖𝒏𝒕𝒆𝒓</m:t>
                      </m:r>
                      <m:r>
                        <a:rPr lang="en-US" sz="2000" b="1" i="1" smtClean="0">
                          <a:latin typeface="Cambria Math" panose="02040503050406030204" pitchFamily="18" charset="0"/>
                        </a:rPr>
                        <m:t> </m:t>
                      </m:r>
                      <m:r>
                        <a:rPr lang="en-US" sz="2000" b="1" i="1" smtClean="0">
                          <a:latin typeface="Cambria Math" panose="02040503050406030204" pitchFamily="18" charset="0"/>
                        </a:rPr>
                        <m:t>𝑪𝒉𝒂𝒏𝒈𝒆</m:t>
                      </m:r>
                      <m:r>
                        <a:rPr lang="en-US" sz="2000" b="1" i="1" smtClean="0">
                          <a:latin typeface="Cambria Math" panose="02040503050406030204" pitchFamily="18" charset="0"/>
                        </a:rPr>
                        <m:t>=</m:t>
                      </m:r>
                      <m:r>
                        <a:rPr lang="en-US" sz="2000" b="1" i="1" smtClean="0">
                          <a:latin typeface="Cambria Math" panose="02040503050406030204" pitchFamily="18" charset="0"/>
                        </a:rPr>
                        <m:t>𝑵𝒖𝒎</m:t>
                      </m:r>
                      <m:r>
                        <a:rPr lang="en-US" sz="2000" b="1" i="1" smtClean="0">
                          <a:latin typeface="Cambria Math" panose="02040503050406030204" pitchFamily="18" charset="0"/>
                        </a:rPr>
                        <m:t>_</m:t>
                      </m:r>
                      <m:r>
                        <a:rPr lang="en-US" sz="2000" b="1" i="1" smtClean="0">
                          <a:latin typeface="Cambria Math" panose="02040503050406030204" pitchFamily="18" charset="0"/>
                        </a:rPr>
                        <m:t>𝑬𝒏𝒄𝒐𝒖𝒏𝒕𝒆𝒓𝒔</m:t>
                      </m:r>
                      <m:r>
                        <a:rPr lang="en-US" sz="2000" b="1" i="1" smtClean="0">
                          <a:latin typeface="Cambria Math" panose="02040503050406030204" pitchFamily="18" charset="0"/>
                        </a:rPr>
                        <m:t>−</m:t>
                      </m:r>
                      <m:r>
                        <a:rPr lang="en-US" sz="2000" b="1" i="1" smtClean="0">
                          <a:latin typeface="Cambria Math" panose="02040503050406030204" pitchFamily="18" charset="0"/>
                        </a:rPr>
                        <m:t>𝑷𝒓𝒆𝒗</m:t>
                      </m:r>
                      <m:r>
                        <a:rPr lang="en-US" sz="2000" b="1" i="1" smtClean="0">
                          <a:latin typeface="Cambria Math" panose="02040503050406030204" pitchFamily="18" charset="0"/>
                        </a:rPr>
                        <m:t>_</m:t>
                      </m:r>
                      <m:r>
                        <a:rPr lang="en-US" sz="2000" b="1" i="1" smtClean="0">
                          <a:latin typeface="Cambria Math" panose="02040503050406030204" pitchFamily="18" charset="0"/>
                        </a:rPr>
                        <m:t>𝑾𝒆𝒆𝒌</m:t>
                      </m:r>
                      <m:r>
                        <a:rPr lang="en-US" sz="2000" b="1" i="1" smtClean="0">
                          <a:latin typeface="Cambria Math" panose="02040503050406030204" pitchFamily="18" charset="0"/>
                        </a:rPr>
                        <m:t>_</m:t>
                      </m:r>
                      <m:r>
                        <a:rPr lang="en-US" sz="2000" b="1" i="1" smtClean="0">
                          <a:latin typeface="Cambria Math" panose="02040503050406030204" pitchFamily="18" charset="0"/>
                        </a:rPr>
                        <m:t>𝑬𝒏𝒄𝒐𝒖𝒏𝒕𝒆𝒓𝒔</m:t>
                      </m:r>
                    </m:oMath>
                  </m:oMathPara>
                </a14:m>
                <a:endParaRPr lang="en-US" sz="2000" b="1" dirty="0"/>
              </a:p>
              <a:p>
                <a:pPr lvl="1">
                  <a:lnSpc>
                    <a:spcPct val="160000"/>
                  </a:lnSpc>
                </a:pPr>
                <a:r>
                  <a:rPr lang="en-US" sz="2000" dirty="0"/>
                  <a:t>Check average number of patients for a disease in a certain week of the year</a:t>
                </a:r>
              </a:p>
              <a:p>
                <a:pPr lvl="1">
                  <a:lnSpc>
                    <a:spcPct val="160000"/>
                  </a:lnSpc>
                </a:pPr>
                <a:r>
                  <a:rPr lang="en-US" sz="2000" dirty="0"/>
                  <a:t>Normalize the scores </a:t>
                </a:r>
                <a:endParaRPr lang="en-US" sz="2000" i="1" dirty="0">
                  <a:latin typeface="Cambria Math" panose="02040503050406030204" pitchFamily="18" charset="0"/>
                </a:endParaRPr>
              </a:p>
              <a:p>
                <a:pPr marL="457200" lvl="1" indent="0">
                  <a:lnSpc>
                    <a:spcPct val="160000"/>
                  </a:lnSpc>
                  <a:buNone/>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𝑵𝒐𝒓𝒎𝒂𝒍𝒊𝒛𝒆𝒅</m:t>
                      </m:r>
                      <m:r>
                        <a:rPr lang="en-US" sz="2000" b="1" i="1" smtClean="0">
                          <a:latin typeface="Cambria Math" panose="02040503050406030204" pitchFamily="18" charset="0"/>
                        </a:rPr>
                        <m:t> </m:t>
                      </m:r>
                      <m:r>
                        <a:rPr lang="en-US" sz="2000" b="1" i="1" smtClean="0">
                          <a:latin typeface="Cambria Math" panose="02040503050406030204" pitchFamily="18" charset="0"/>
                        </a:rPr>
                        <m:t>𝑬𝒏𝒄𝒐𝒖𝒏𝒕𝒆𝒓</m:t>
                      </m:r>
                      <m:r>
                        <a:rPr lang="en-US" sz="2000" b="1" i="1" smtClean="0">
                          <a:latin typeface="Cambria Math" panose="02040503050406030204" pitchFamily="18" charset="0"/>
                        </a:rPr>
                        <m:t> </m:t>
                      </m:r>
                      <m:r>
                        <a:rPr lang="en-US" sz="2000" b="1" i="1" smtClean="0">
                          <a:latin typeface="Cambria Math" panose="02040503050406030204" pitchFamily="18" charset="0"/>
                        </a:rPr>
                        <m:t>𝑪𝒉𝒂𝒏𝒈𝒆</m:t>
                      </m:r>
                      <m:r>
                        <a:rPr lang="en-US" sz="2000" b="1">
                          <a:latin typeface="Cambria Math" panose="02040503050406030204" pitchFamily="18" charset="0"/>
                        </a:rPr>
                        <m:t>=</m:t>
                      </m:r>
                      <m:f>
                        <m:fPr>
                          <m:ctrlPr>
                            <a:rPr lang="en-US" sz="2000" b="1" i="1" smtClean="0">
                              <a:latin typeface="Cambria Math" panose="02040503050406030204" pitchFamily="18" charset="0"/>
                            </a:rPr>
                          </m:ctrlPr>
                        </m:fPr>
                        <m:num>
                          <m:r>
                            <a:rPr lang="en-US" sz="2000" b="1" i="1">
                              <a:latin typeface="Cambria Math" panose="02040503050406030204" pitchFamily="18" charset="0"/>
                            </a:rPr>
                            <m:t>𝑬𝒏𝒄𝒐𝒖𝒏𝒕𝒆𝒓</m:t>
                          </m:r>
                          <m:r>
                            <a:rPr lang="en-US" sz="2000" b="1" i="0" smtClean="0">
                              <a:latin typeface="Cambria Math" panose="02040503050406030204" pitchFamily="18" charset="0"/>
                            </a:rPr>
                            <m:t> </m:t>
                          </m:r>
                          <m:r>
                            <a:rPr lang="en-US" sz="2000" b="1" i="1">
                              <a:latin typeface="Cambria Math" panose="02040503050406030204" pitchFamily="18" charset="0"/>
                            </a:rPr>
                            <m:t>𝑪𝒉𝒂𝒏𝒈𝒆</m:t>
                          </m:r>
                        </m:num>
                        <m:den>
                          <m:r>
                            <a:rPr lang="en-US" sz="2000" b="1" i="1" smtClean="0">
                              <a:latin typeface="Cambria Math" panose="02040503050406030204" pitchFamily="18" charset="0"/>
                            </a:rPr>
                            <m:t>𝑨𝒗𝒆𝒓𝒂𝒈𝒆</m:t>
                          </m:r>
                          <m:r>
                            <a:rPr lang="en-US" sz="2000" b="1" i="0" smtClean="0">
                              <a:latin typeface="Cambria Math" panose="02040503050406030204" pitchFamily="18" charset="0"/>
                            </a:rPr>
                            <m:t> </m:t>
                          </m:r>
                          <m:r>
                            <a:rPr lang="en-US" sz="2000" b="1" i="1">
                              <a:latin typeface="Cambria Math" panose="02040503050406030204" pitchFamily="18" charset="0"/>
                            </a:rPr>
                            <m:t>𝑬𝒏𝒄𝒐𝒖𝒏𝒕𝒆𝒓𝒔</m:t>
                          </m:r>
                        </m:den>
                      </m:f>
                    </m:oMath>
                  </m:oMathPara>
                </a14:m>
                <a:endParaRPr lang="en-US" sz="2000" b="1" dirty="0"/>
              </a:p>
              <a:p>
                <a:pPr lvl="1">
                  <a:lnSpc>
                    <a:spcPct val="160000"/>
                  </a:lnSpc>
                </a:pPr>
                <a:r>
                  <a:rPr lang="en-US" sz="2000" dirty="0"/>
                  <a:t>Focus more on recent data (limits the underlying effect of data drift)</a:t>
                </a:r>
              </a:p>
              <a:p>
                <a:pPr marL="914400" lvl="2" indent="0">
                  <a:lnSpc>
                    <a:spcPct val="160000"/>
                  </a:lnSpc>
                  <a:buNone/>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𝑻𝒆𝒎𝒑𝒐𝒓𝒂𝒍</m:t>
                      </m:r>
                      <m:r>
                        <a:rPr lang="en-US" sz="2000" b="1" i="1" smtClean="0">
                          <a:latin typeface="Cambria Math" panose="02040503050406030204" pitchFamily="18" charset="0"/>
                        </a:rPr>
                        <m:t> </m:t>
                      </m:r>
                      <m:r>
                        <a:rPr lang="en-US" sz="2000" b="1" i="1" smtClean="0">
                          <a:latin typeface="Cambria Math" panose="02040503050406030204" pitchFamily="18" charset="0"/>
                        </a:rPr>
                        <m:t>𝑾𝒆𝒊𝒈𝒉𝒕</m:t>
                      </m:r>
                      <m:r>
                        <a:rPr lang="en-US" sz="2000" b="1" i="1" smtClean="0">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𝒆</m:t>
                          </m:r>
                        </m:e>
                        <m:sup>
                          <m:r>
                            <a:rPr lang="en-US" sz="2000" b="1" i="1" smtClean="0">
                              <a:latin typeface="Cambria Math" panose="02040503050406030204" pitchFamily="18" charset="0"/>
                            </a:rPr>
                            <m:t>−</m:t>
                          </m:r>
                          <m:r>
                            <a:rPr lang="en-US" sz="2000" b="1" i="1" smtClean="0">
                              <a:latin typeface="Cambria Math" panose="02040503050406030204" pitchFamily="18" charset="0"/>
                            </a:rPr>
                            <m:t>𝟎</m:t>
                          </m:r>
                          <m:r>
                            <a:rPr lang="en-US" sz="2000" b="1" i="1" smtClean="0">
                              <a:latin typeface="Cambria Math" panose="02040503050406030204" pitchFamily="18" charset="0"/>
                            </a:rPr>
                            <m:t>.</m:t>
                          </m:r>
                          <m:r>
                            <a:rPr lang="en-US" sz="2000" b="1" i="1" smtClean="0">
                              <a:latin typeface="Cambria Math" panose="02040503050406030204" pitchFamily="18" charset="0"/>
                            </a:rPr>
                            <m:t>𝟏</m:t>
                          </m:r>
                          <m:r>
                            <a:rPr lang="en-US" sz="2000" b="1" i="1">
                              <a:latin typeface="Cambria Math" panose="02040503050406030204" pitchFamily="18" charset="0"/>
                            </a:rPr>
                            <m:t>(</m:t>
                          </m:r>
                          <m:r>
                            <a:rPr lang="en-US" sz="2000" b="1" i="1">
                              <a:latin typeface="Cambria Math" panose="02040503050406030204" pitchFamily="18" charset="0"/>
                            </a:rPr>
                            <m:t>𝒎𝒂𝒙</m:t>
                          </m:r>
                          <m:r>
                            <a:rPr lang="en-US" sz="2000" b="1" i="1">
                              <a:latin typeface="Cambria Math" panose="02040503050406030204" pitchFamily="18" charset="0"/>
                            </a:rPr>
                            <m:t>_</m:t>
                          </m:r>
                          <m:r>
                            <a:rPr lang="en-US" sz="2000" b="1" i="1">
                              <a:latin typeface="Cambria Math" panose="02040503050406030204" pitchFamily="18" charset="0"/>
                            </a:rPr>
                            <m:t>𝒚𝒆𝒂𝒓</m:t>
                          </m:r>
                          <m:r>
                            <a:rPr lang="en-US" sz="2000" b="1" i="1">
                              <a:latin typeface="Cambria Math" panose="02040503050406030204" pitchFamily="18" charset="0"/>
                            </a:rPr>
                            <m:t>−</m:t>
                          </m:r>
                          <m:r>
                            <a:rPr lang="en-US" sz="2000" b="1" i="1">
                              <a:latin typeface="Cambria Math" panose="02040503050406030204" pitchFamily="18" charset="0"/>
                            </a:rPr>
                            <m:t>𝒀𝒆𝒂𝒓</m:t>
                          </m:r>
                          <m:r>
                            <a:rPr lang="en-US" sz="2000" b="1" i="1">
                              <a:latin typeface="Cambria Math" panose="02040503050406030204" pitchFamily="18" charset="0"/>
                            </a:rPr>
                            <m:t>)</m:t>
                          </m:r>
                        </m:sup>
                      </m:sSup>
                    </m:oMath>
                  </m:oMathPara>
                </a14:m>
                <a:endParaRPr lang="en-US" sz="2000" b="1" dirty="0"/>
              </a:p>
              <a:p>
                <a:pPr marL="0" indent="0">
                  <a:lnSpc>
                    <a:spcPct val="160000"/>
                  </a:lnSpc>
                  <a:buNone/>
                </a:pPr>
                <a:r>
                  <a:rPr lang="en-US" sz="2800" dirty="0"/>
                  <a:t>Final Score: </a:t>
                </a:r>
              </a:p>
              <a:p>
                <a:pPr>
                  <a:lnSpc>
                    <a:spcPct val="160000"/>
                  </a:lnSpc>
                </a:pPr>
                <a14:m>
                  <m:oMath xmlns:m="http://schemas.openxmlformats.org/officeDocument/2006/math">
                    <m:r>
                      <a:rPr lang="en-US" sz="2800" i="1">
                        <a:latin typeface="Cambria Math" panose="02040503050406030204" pitchFamily="18" charset="0"/>
                      </a:rPr>
                      <m:t>𝑅𝑖𝑠𝑘</m:t>
                    </m:r>
                    <m:r>
                      <a:rPr lang="en-US" sz="2800" i="1">
                        <a:latin typeface="Cambria Math" panose="02040503050406030204" pitchFamily="18" charset="0"/>
                      </a:rPr>
                      <m:t> </m:t>
                    </m:r>
                    <m:r>
                      <a:rPr lang="en-US" sz="2800" i="1">
                        <a:latin typeface="Cambria Math" panose="02040503050406030204" pitchFamily="18" charset="0"/>
                      </a:rPr>
                      <m:t>𝑆𝑐𝑜𝑟𝑒</m:t>
                    </m:r>
                    <m:r>
                      <a:rPr lang="en-US" sz="2800" i="1">
                        <a:latin typeface="Cambria Math" panose="02040503050406030204" pitchFamily="18" charset="0"/>
                      </a:rPr>
                      <m:t>=</m:t>
                    </m:r>
                    <m:r>
                      <a:rPr lang="en-US" sz="2800" i="1">
                        <a:latin typeface="Cambria Math" panose="02040503050406030204" pitchFamily="18" charset="0"/>
                      </a:rPr>
                      <m:t>𝛼</m:t>
                    </m:r>
                    <m:r>
                      <a:rPr lang="en-US" sz="2800" i="1">
                        <a:latin typeface="Cambria Math" panose="02040503050406030204" pitchFamily="18" charset="0"/>
                      </a:rPr>
                      <m:t>⋅</m:t>
                    </m:r>
                    <m:r>
                      <a:rPr lang="en-US" sz="2800" i="1">
                        <a:latin typeface="Cambria Math" panose="02040503050406030204" pitchFamily="18" charset="0"/>
                      </a:rPr>
                      <m:t>𝑁𝑜𝑟𝑚𝑎𝑙𝑖𝑧𝑒𝑑</m:t>
                    </m:r>
                    <m:r>
                      <a:rPr lang="en-US" sz="2800" i="1">
                        <a:latin typeface="Cambria Math" panose="02040503050406030204" pitchFamily="18" charset="0"/>
                      </a:rPr>
                      <m:t> </m:t>
                    </m:r>
                    <m:r>
                      <a:rPr lang="en-US" sz="2800" i="1">
                        <a:latin typeface="Cambria Math" panose="02040503050406030204" pitchFamily="18" charset="0"/>
                      </a:rPr>
                      <m:t>𝐸𝑛𝑐𝑜𝑢𝑛𝑡𝑒𝑟</m:t>
                    </m:r>
                    <m:r>
                      <a:rPr lang="en-US" sz="2800" i="1">
                        <a:latin typeface="Cambria Math" panose="02040503050406030204" pitchFamily="18" charset="0"/>
                      </a:rPr>
                      <m:t> </m:t>
                    </m:r>
                    <m:r>
                      <a:rPr lang="en-US" sz="2800" i="1">
                        <a:latin typeface="Cambria Math" panose="02040503050406030204" pitchFamily="18" charset="0"/>
                      </a:rPr>
                      <m:t>𝐶h𝑎𝑛𝑔𝑒</m:t>
                    </m:r>
                    <m:r>
                      <a:rPr lang="en-US" sz="2800" i="1">
                        <a:latin typeface="Cambria Math" panose="02040503050406030204" pitchFamily="18" charset="0"/>
                      </a:rPr>
                      <m:t>+</m:t>
                    </m:r>
                    <m:r>
                      <a:rPr lang="en-US" sz="2800" i="1">
                        <a:latin typeface="Cambria Math" panose="02040503050406030204" pitchFamily="18" charset="0"/>
                      </a:rPr>
                      <m:t>𝛽</m:t>
                    </m:r>
                    <m:r>
                      <a:rPr lang="en-US" sz="2800" i="1">
                        <a:latin typeface="Cambria Math" panose="02040503050406030204" pitchFamily="18" charset="0"/>
                      </a:rPr>
                      <m:t>⋅</m:t>
                    </m:r>
                    <m:r>
                      <a:rPr lang="en-US" sz="2800" i="1">
                        <a:latin typeface="Cambria Math" panose="02040503050406030204" pitchFamily="18" charset="0"/>
                      </a:rPr>
                      <m:t>𝑇𝑒𝑚𝑝𝑜𝑟𝑎𝑙</m:t>
                    </m:r>
                    <m:r>
                      <a:rPr lang="en-US" sz="2800" i="1">
                        <a:latin typeface="Cambria Math" panose="02040503050406030204" pitchFamily="18" charset="0"/>
                      </a:rPr>
                      <m:t> </m:t>
                    </m:r>
                    <m:r>
                      <a:rPr lang="en-US" sz="2800" i="1">
                        <a:latin typeface="Cambria Math" panose="02040503050406030204" pitchFamily="18" charset="0"/>
                      </a:rPr>
                      <m:t>𝑊𝑒𝑖𝑔h𝑡</m:t>
                    </m:r>
                  </m:oMath>
                </a14:m>
                <a:endParaRPr lang="en-US" sz="2800" dirty="0"/>
              </a:p>
              <a:p>
                <a:pPr>
                  <a:lnSpc>
                    <a:spcPct val="160000"/>
                  </a:lnSpc>
                </a:pPr>
                <a:endParaRPr lang="en-US" sz="2800" dirty="0"/>
              </a:p>
              <a:p>
                <a:pPr lvl="2">
                  <a:lnSpc>
                    <a:spcPct val="160000"/>
                  </a:lnSpc>
                </a:pPr>
                <a:endParaRPr lang="en-US" sz="1600" dirty="0"/>
              </a:p>
              <a:p>
                <a:pPr marL="914400" lvl="1" indent="-457200">
                  <a:lnSpc>
                    <a:spcPct val="160000"/>
                  </a:lnSpc>
                  <a:buFont typeface="+mj-lt"/>
                  <a:buAutoNum type="arabicPeriod"/>
                </a:pPr>
                <a:endParaRPr lang="en-US" sz="2000" dirty="0"/>
              </a:p>
            </p:txBody>
          </p:sp>
        </mc:Choice>
        <mc:Fallback xmlns="">
          <p:sp>
            <p:nvSpPr>
              <p:cNvPr id="2" name="Content Placeholder 1">
                <a:extLst>
                  <a:ext uri="{FF2B5EF4-FFF2-40B4-BE49-F238E27FC236}">
                    <a16:creationId xmlns:a16="http://schemas.microsoft.com/office/drawing/2014/main" id="{F06A1136-ADF8-4041-90C3-99C5CDEBE274}"/>
                  </a:ext>
                </a:extLst>
              </p:cNvPr>
              <p:cNvSpPr>
                <a:spLocks noGrp="1" noRot="1" noChangeAspect="1" noMove="1" noResize="1" noEditPoints="1" noAdjustHandles="1" noChangeArrowheads="1" noChangeShapeType="1" noTextEdit="1"/>
              </p:cNvSpPr>
              <p:nvPr>
                <p:ph idx="1"/>
              </p:nvPr>
            </p:nvSpPr>
            <p:spPr>
              <a:xfrm>
                <a:off x="609600" y="988383"/>
                <a:ext cx="10972800" cy="5367967"/>
              </a:xfrm>
              <a:blipFill>
                <a:blip r:embed="rId2"/>
                <a:stretch>
                  <a:fillRect l="-833"/>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29</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Risk Score Calculator</a:t>
            </a:r>
            <a:endParaRPr lang="en-US" dirty="0"/>
          </a:p>
        </p:txBody>
      </p:sp>
      <p:sp>
        <p:nvSpPr>
          <p:cNvPr id="6" name="TextBox 5">
            <a:extLst>
              <a:ext uri="{FF2B5EF4-FFF2-40B4-BE49-F238E27FC236}">
                <a16:creationId xmlns:a16="http://schemas.microsoft.com/office/drawing/2014/main" id="{73B435D2-48A8-4C6F-A7A5-286DDC5F78D7}"/>
              </a:ext>
            </a:extLst>
          </p:cNvPr>
          <p:cNvSpPr txBox="1"/>
          <p:nvPr/>
        </p:nvSpPr>
        <p:spPr>
          <a:xfrm>
            <a:off x="5638800" y="2971800"/>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2449973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0"/>
          <p:cNvSpPr txBox="1">
            <a:spLocks noGrp="1"/>
          </p:cNvSpPr>
          <p:nvPr>
            <p:ph type="dt" idx="10"/>
          </p:nvPr>
        </p:nvSpPr>
        <p:spPr>
          <a:xfrm>
            <a:off x="609600" y="6356351"/>
            <a:ext cx="2844800" cy="365200"/>
          </a:xfrm>
          <a:prstGeom prst="rect">
            <a:avLst/>
          </a:prstGeom>
          <a:noFill/>
          <a:ln>
            <a:noFill/>
          </a:ln>
        </p:spPr>
        <p:txBody>
          <a:bodyPr spcFirstLastPara="1" vert="horz" wrap="square" lIns="91433" tIns="45700" rIns="91433" bIns="45700" rtlCol="0" anchor="ctr" anchorCtr="0">
            <a:noAutofit/>
          </a:bodyPr>
          <a:lstStyle/>
          <a:p>
            <a:r>
              <a:rPr lang="en-US" dirty="0"/>
              <a:t>January 22, 2025</a:t>
            </a:r>
            <a:endParaRPr dirty="0"/>
          </a:p>
        </p:txBody>
      </p:sp>
      <p:sp>
        <p:nvSpPr>
          <p:cNvPr id="266" name="Google Shape;266;p40"/>
          <p:cNvSpPr txBox="1">
            <a:spLocks noGrp="1"/>
          </p:cNvSpPr>
          <p:nvPr>
            <p:ph type="sldNum" idx="12"/>
          </p:nvPr>
        </p:nvSpPr>
        <p:spPr>
          <a:xfrm>
            <a:off x="4673600" y="6356351"/>
            <a:ext cx="2844800" cy="365200"/>
          </a:xfrm>
          <a:prstGeom prst="rect">
            <a:avLst/>
          </a:prstGeom>
          <a:noFill/>
          <a:ln>
            <a:noFill/>
          </a:ln>
        </p:spPr>
        <p:txBody>
          <a:bodyPr spcFirstLastPara="1" vert="horz" wrap="square" lIns="91433" tIns="45700" rIns="91433" bIns="45700" rtlCol="0" anchor="ctr" anchorCtr="0">
            <a:noAutofit/>
          </a:bodyPr>
          <a:lstStyle/>
          <a:p>
            <a:fld id="{00000000-1234-1234-1234-123412341234}" type="slidenum">
              <a:rPr lang="en"/>
              <a:pPr/>
              <a:t>30</a:t>
            </a:fld>
            <a:endParaRPr/>
          </a:p>
        </p:txBody>
      </p:sp>
      <p:sp>
        <p:nvSpPr>
          <p:cNvPr id="267" name="Google Shape;267;p40"/>
          <p:cNvSpPr txBox="1">
            <a:spLocks noGrp="1"/>
          </p:cNvSpPr>
          <p:nvPr>
            <p:ph type="ctrTitle"/>
          </p:nvPr>
        </p:nvSpPr>
        <p:spPr>
          <a:xfrm>
            <a:off x="886713" y="2140771"/>
            <a:ext cx="10363200" cy="3025200"/>
          </a:xfrm>
          <a:prstGeom prst="rect">
            <a:avLst/>
          </a:prstGeom>
          <a:noFill/>
          <a:ln>
            <a:noFill/>
          </a:ln>
        </p:spPr>
        <p:txBody>
          <a:bodyPr spcFirstLastPara="1" vert="horz" wrap="square" lIns="91433" tIns="45700" rIns="91433" bIns="45700" rtlCol="0" anchor="ctr" anchorCtr="0">
            <a:noAutofit/>
          </a:bodyPr>
          <a:lstStyle/>
          <a:p>
            <a:pPr>
              <a:buSzPts val="4100"/>
            </a:pPr>
            <a:r>
              <a:rPr lang="en" sz="5467" b="1" dirty="0"/>
              <a:t>Two Staged Outbreak Prediction</a:t>
            </a:r>
            <a:endParaRPr dirty="0"/>
          </a:p>
        </p:txBody>
      </p:sp>
    </p:spTree>
    <p:extLst>
      <p:ext uri="{BB962C8B-B14F-4D97-AF65-F5344CB8AC3E}">
        <p14:creationId xmlns:p14="http://schemas.microsoft.com/office/powerpoint/2010/main" val="1740493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6C4F381-D118-4761-A0ED-1970F495F8EA}"/>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980D807B-845B-4712-9A45-9C7932579E3A}"/>
              </a:ext>
            </a:extLst>
          </p:cNvPr>
          <p:cNvSpPr>
            <a:spLocks noGrp="1"/>
          </p:cNvSpPr>
          <p:nvPr>
            <p:ph type="sldNum" sz="quarter" idx="12"/>
          </p:nvPr>
        </p:nvSpPr>
        <p:spPr>
          <a:xfrm>
            <a:off x="4555094" y="6102364"/>
            <a:ext cx="2791910" cy="323165"/>
          </a:xfrm>
        </p:spPr>
        <p:txBody>
          <a:bodyPr/>
          <a:lstStyle/>
          <a:p>
            <a:fld id="{88279435-30EF-C241-87D1-8D13B984C0EB}" type="slidenum">
              <a:rPr lang="en-US" smtClean="0"/>
              <a:pPr/>
              <a:t>31</a:t>
            </a:fld>
            <a:endParaRPr lang="en-US" dirty="0"/>
          </a:p>
        </p:txBody>
      </p:sp>
      <p:sp>
        <p:nvSpPr>
          <p:cNvPr id="5" name="Title 4">
            <a:extLst>
              <a:ext uri="{FF2B5EF4-FFF2-40B4-BE49-F238E27FC236}">
                <a16:creationId xmlns:a16="http://schemas.microsoft.com/office/drawing/2014/main" id="{D3999E01-8306-4C21-8854-F55E1545B5D9}"/>
              </a:ext>
            </a:extLst>
          </p:cNvPr>
          <p:cNvSpPr>
            <a:spLocks noGrp="1"/>
          </p:cNvSpPr>
          <p:nvPr>
            <p:ph type="title"/>
          </p:nvPr>
        </p:nvSpPr>
        <p:spPr/>
        <p:txBody>
          <a:bodyPr/>
          <a:lstStyle/>
          <a:p>
            <a:r>
              <a:rPr lang="en" sz="3600" b="1" dirty="0"/>
              <a:t>Two Staged Outbreak Prediction</a:t>
            </a:r>
            <a:endParaRPr lang="en-US" dirty="0"/>
          </a:p>
        </p:txBody>
      </p:sp>
      <p:sp>
        <p:nvSpPr>
          <p:cNvPr id="8" name="Rectangle 1">
            <a:extLst>
              <a:ext uri="{FF2B5EF4-FFF2-40B4-BE49-F238E27FC236}">
                <a16:creationId xmlns:a16="http://schemas.microsoft.com/office/drawing/2014/main" id="{568A795D-4D9A-4CDE-AE5A-3A7E01CED8A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50" name="Group 49">
            <a:extLst>
              <a:ext uri="{FF2B5EF4-FFF2-40B4-BE49-F238E27FC236}">
                <a16:creationId xmlns:a16="http://schemas.microsoft.com/office/drawing/2014/main" id="{276B5126-5260-4ADA-A350-421A6D60AC18}"/>
              </a:ext>
            </a:extLst>
          </p:cNvPr>
          <p:cNvGrpSpPr/>
          <p:nvPr/>
        </p:nvGrpSpPr>
        <p:grpSpPr>
          <a:xfrm>
            <a:off x="2700164" y="1858609"/>
            <a:ext cx="1611584" cy="1712546"/>
            <a:chOff x="6275055" y="1334973"/>
            <a:chExt cx="1611584" cy="1581437"/>
          </a:xfrm>
        </p:grpSpPr>
        <p:pic>
          <p:nvPicPr>
            <p:cNvPr id="1031" name="Picture 7" descr="Random Forest Icons - Free SVG &amp; PNG Random Forest Images ...">
              <a:extLst>
                <a:ext uri="{FF2B5EF4-FFF2-40B4-BE49-F238E27FC236}">
                  <a16:creationId xmlns:a16="http://schemas.microsoft.com/office/drawing/2014/main" id="{A0F0DB36-3726-485F-BEDE-76FB06D6EE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0026" y="1334973"/>
              <a:ext cx="901642" cy="901642"/>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8EB897B1-F8DB-4964-A65C-26ECCE660ED3}"/>
                </a:ext>
              </a:extLst>
            </p:cNvPr>
            <p:cNvSpPr txBox="1"/>
            <p:nvPr/>
          </p:nvSpPr>
          <p:spPr>
            <a:xfrm>
              <a:off x="6275055" y="2331635"/>
              <a:ext cx="1611584" cy="584775"/>
            </a:xfrm>
            <a:prstGeom prst="rect">
              <a:avLst/>
            </a:prstGeom>
            <a:noFill/>
          </p:spPr>
          <p:txBody>
            <a:bodyPr wrap="square" rtlCol="0">
              <a:spAutoFit/>
            </a:bodyPr>
            <a:lstStyle/>
            <a:p>
              <a:pPr algn="ctr"/>
              <a:r>
                <a:rPr lang="en-US" sz="1600" dirty="0"/>
                <a:t>Random Forest Classifier</a:t>
              </a:r>
            </a:p>
          </p:txBody>
        </p:sp>
      </p:grpSp>
      <p:grpSp>
        <p:nvGrpSpPr>
          <p:cNvPr id="52" name="Group 51">
            <a:extLst>
              <a:ext uri="{FF2B5EF4-FFF2-40B4-BE49-F238E27FC236}">
                <a16:creationId xmlns:a16="http://schemas.microsoft.com/office/drawing/2014/main" id="{B41D6688-9CA6-4275-8094-F5ED7F104C71}"/>
              </a:ext>
            </a:extLst>
          </p:cNvPr>
          <p:cNvGrpSpPr/>
          <p:nvPr/>
        </p:nvGrpSpPr>
        <p:grpSpPr>
          <a:xfrm>
            <a:off x="2976990" y="3723004"/>
            <a:ext cx="1334758" cy="1497957"/>
            <a:chOff x="9840402" y="1493736"/>
            <a:chExt cx="1334758" cy="1383276"/>
          </a:xfrm>
        </p:grpSpPr>
        <p:pic>
          <p:nvPicPr>
            <p:cNvPr id="1053" name="Picture 29" descr="Data driven - Free marketing icons">
              <a:extLst>
                <a:ext uri="{FF2B5EF4-FFF2-40B4-BE49-F238E27FC236}">
                  <a16:creationId xmlns:a16="http://schemas.microsoft.com/office/drawing/2014/main" id="{7CE80D82-D91C-4CFE-AC98-0AEBA81E9F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551" y="1493736"/>
              <a:ext cx="732035" cy="732035"/>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11A49E9F-7B73-4F45-925B-750F99931B12}"/>
                </a:ext>
              </a:extLst>
            </p:cNvPr>
            <p:cNvSpPr txBox="1"/>
            <p:nvPr/>
          </p:nvSpPr>
          <p:spPr>
            <a:xfrm>
              <a:off x="9840402" y="2292237"/>
              <a:ext cx="1334758" cy="584775"/>
            </a:xfrm>
            <a:prstGeom prst="rect">
              <a:avLst/>
            </a:prstGeom>
            <a:noFill/>
          </p:spPr>
          <p:txBody>
            <a:bodyPr wrap="square" rtlCol="0">
              <a:spAutoFit/>
            </a:bodyPr>
            <a:lstStyle/>
            <a:p>
              <a:pPr algn="ctr"/>
              <a:r>
                <a:rPr lang="en-US" sz="1600" dirty="0"/>
                <a:t>Data Driven Risk Score</a:t>
              </a:r>
            </a:p>
          </p:txBody>
        </p:sp>
      </p:grpSp>
      <p:cxnSp>
        <p:nvCxnSpPr>
          <p:cNvPr id="49" name="Straight Arrow Connector 48">
            <a:extLst>
              <a:ext uri="{FF2B5EF4-FFF2-40B4-BE49-F238E27FC236}">
                <a16:creationId xmlns:a16="http://schemas.microsoft.com/office/drawing/2014/main" id="{0551871D-B77E-442E-B1F7-32F7D0FEB288}"/>
              </a:ext>
            </a:extLst>
          </p:cNvPr>
          <p:cNvCxnSpPr>
            <a:cxnSpLocks/>
          </p:cNvCxnSpPr>
          <p:nvPr/>
        </p:nvCxnSpPr>
        <p:spPr>
          <a:xfrm>
            <a:off x="3976491" y="2513587"/>
            <a:ext cx="2438237" cy="11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51" name="Group 50">
            <a:extLst>
              <a:ext uri="{FF2B5EF4-FFF2-40B4-BE49-F238E27FC236}">
                <a16:creationId xmlns:a16="http://schemas.microsoft.com/office/drawing/2014/main" id="{35D67AC2-587F-4970-BB03-5FBD9EB5E69E}"/>
              </a:ext>
            </a:extLst>
          </p:cNvPr>
          <p:cNvGrpSpPr/>
          <p:nvPr/>
        </p:nvGrpSpPr>
        <p:grpSpPr>
          <a:xfrm>
            <a:off x="6223166" y="1957678"/>
            <a:ext cx="1629104" cy="1695554"/>
            <a:chOff x="8037764" y="1312928"/>
            <a:chExt cx="1629104" cy="1565746"/>
          </a:xfrm>
        </p:grpSpPr>
        <p:sp>
          <p:nvSpPr>
            <p:cNvPr id="18" name="TextBox 17">
              <a:extLst>
                <a:ext uri="{FF2B5EF4-FFF2-40B4-BE49-F238E27FC236}">
                  <a16:creationId xmlns:a16="http://schemas.microsoft.com/office/drawing/2014/main" id="{83AEEE36-7D30-4811-A0CA-787564A6D95C}"/>
                </a:ext>
              </a:extLst>
            </p:cNvPr>
            <p:cNvSpPr txBox="1"/>
            <p:nvPr/>
          </p:nvSpPr>
          <p:spPr>
            <a:xfrm>
              <a:off x="8037764" y="2293899"/>
              <a:ext cx="1629104" cy="584775"/>
            </a:xfrm>
            <a:prstGeom prst="rect">
              <a:avLst/>
            </a:prstGeom>
            <a:noFill/>
          </p:spPr>
          <p:txBody>
            <a:bodyPr wrap="square" rtlCol="0">
              <a:spAutoFit/>
            </a:bodyPr>
            <a:lstStyle/>
            <a:p>
              <a:pPr algn="ctr"/>
              <a:r>
                <a:rPr lang="en-US" sz="1600" dirty="0"/>
                <a:t>Random Forest Regressor</a:t>
              </a:r>
            </a:p>
          </p:txBody>
        </p:sp>
        <p:pic>
          <p:nvPicPr>
            <p:cNvPr id="64" name="Picture 7" descr="Random Forest Icons - Free SVG &amp; PNG Random Forest Images ...">
              <a:extLst>
                <a:ext uri="{FF2B5EF4-FFF2-40B4-BE49-F238E27FC236}">
                  <a16:creationId xmlns:a16="http://schemas.microsoft.com/office/drawing/2014/main" id="{90B0DC04-34ED-49CA-85F0-FDD4F3B3CA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6799" y="1312928"/>
              <a:ext cx="901642" cy="901642"/>
            </a:xfrm>
            <a:prstGeom prst="rect">
              <a:avLst/>
            </a:prstGeom>
            <a:noFill/>
            <a:extLst>
              <a:ext uri="{909E8E84-426E-40DD-AFC4-6F175D3DCCD1}">
                <a14:hiddenFill xmlns:a14="http://schemas.microsoft.com/office/drawing/2010/main">
                  <a:solidFill>
                    <a:srgbClr val="FFFFFF"/>
                  </a:solidFill>
                </a14:hiddenFill>
              </a:ext>
            </a:extLst>
          </p:spPr>
        </p:pic>
      </p:grpSp>
      <p:sp>
        <p:nvSpPr>
          <p:cNvPr id="54" name="Rectangle: Rounded Corners 53">
            <a:extLst>
              <a:ext uri="{FF2B5EF4-FFF2-40B4-BE49-F238E27FC236}">
                <a16:creationId xmlns:a16="http://schemas.microsoft.com/office/drawing/2014/main" id="{5AA44D44-5573-4BBE-99AC-0D478FC15749}"/>
              </a:ext>
            </a:extLst>
          </p:cNvPr>
          <p:cNvSpPr/>
          <p:nvPr/>
        </p:nvSpPr>
        <p:spPr>
          <a:xfrm>
            <a:off x="2406532" y="1696929"/>
            <a:ext cx="5918318" cy="3748452"/>
          </a:xfrm>
          <a:prstGeom prst="roundRect">
            <a:avLst/>
          </a:prstGeom>
          <a:noFill/>
          <a:ln w="285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0" name="Straight Arrow Connector 69">
            <a:extLst>
              <a:ext uri="{FF2B5EF4-FFF2-40B4-BE49-F238E27FC236}">
                <a16:creationId xmlns:a16="http://schemas.microsoft.com/office/drawing/2014/main" id="{5E2849C3-9D88-4A43-84AE-470ABE453126}"/>
              </a:ext>
            </a:extLst>
          </p:cNvPr>
          <p:cNvCxnSpPr/>
          <p:nvPr/>
        </p:nvCxnSpPr>
        <p:spPr>
          <a:xfrm>
            <a:off x="2112901" y="2391631"/>
            <a:ext cx="58726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Straight Arrow Connector 54">
            <a:extLst>
              <a:ext uri="{FF2B5EF4-FFF2-40B4-BE49-F238E27FC236}">
                <a16:creationId xmlns:a16="http://schemas.microsoft.com/office/drawing/2014/main" id="{294DD9ED-2617-40A0-9D1E-2952E97CA72E}"/>
              </a:ext>
            </a:extLst>
          </p:cNvPr>
          <p:cNvCxnSpPr/>
          <p:nvPr/>
        </p:nvCxnSpPr>
        <p:spPr>
          <a:xfrm>
            <a:off x="2134069" y="4206921"/>
            <a:ext cx="58726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 name="Straight Arrow Connector 5">
            <a:extLst>
              <a:ext uri="{FF2B5EF4-FFF2-40B4-BE49-F238E27FC236}">
                <a16:creationId xmlns:a16="http://schemas.microsoft.com/office/drawing/2014/main" id="{BA55B2D8-A9DA-46CA-B780-4011DDEB85B0}"/>
              </a:ext>
            </a:extLst>
          </p:cNvPr>
          <p:cNvCxnSpPr>
            <a:cxnSpLocks/>
          </p:cNvCxnSpPr>
          <p:nvPr/>
        </p:nvCxnSpPr>
        <p:spPr>
          <a:xfrm>
            <a:off x="3956240" y="2514742"/>
            <a:ext cx="2266926" cy="154534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AB67E99C-9C80-4045-9EE9-B5F58C71BA53}"/>
              </a:ext>
            </a:extLst>
          </p:cNvPr>
          <p:cNvCxnSpPr>
            <a:cxnSpLocks/>
          </p:cNvCxnSpPr>
          <p:nvPr/>
        </p:nvCxnSpPr>
        <p:spPr>
          <a:xfrm>
            <a:off x="4069370" y="4174062"/>
            <a:ext cx="2170730" cy="80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49B5096E-2A55-4322-9971-FB87DFC85404}"/>
              </a:ext>
            </a:extLst>
          </p:cNvPr>
          <p:cNvSpPr txBox="1"/>
          <p:nvPr/>
        </p:nvSpPr>
        <p:spPr>
          <a:xfrm>
            <a:off x="6312836" y="3914661"/>
            <a:ext cx="1629104" cy="584775"/>
          </a:xfrm>
          <a:prstGeom prst="rect">
            <a:avLst/>
          </a:prstGeom>
          <a:noFill/>
        </p:spPr>
        <p:txBody>
          <a:bodyPr wrap="square" rtlCol="0">
            <a:spAutoFit/>
          </a:bodyPr>
          <a:lstStyle/>
          <a:p>
            <a:pPr algn="ctr"/>
            <a:r>
              <a:rPr lang="en-US" sz="1600" dirty="0"/>
              <a:t>Combined Risk Score</a:t>
            </a:r>
          </a:p>
        </p:txBody>
      </p:sp>
      <p:cxnSp>
        <p:nvCxnSpPr>
          <p:cNvPr id="74" name="Straight Arrow Connector 73">
            <a:extLst>
              <a:ext uri="{FF2B5EF4-FFF2-40B4-BE49-F238E27FC236}">
                <a16:creationId xmlns:a16="http://schemas.microsoft.com/office/drawing/2014/main" id="{325CD1D6-02F8-4678-A297-77F3F96061A8}"/>
              </a:ext>
            </a:extLst>
          </p:cNvPr>
          <p:cNvCxnSpPr/>
          <p:nvPr/>
        </p:nvCxnSpPr>
        <p:spPr>
          <a:xfrm>
            <a:off x="7948138" y="2488329"/>
            <a:ext cx="58726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5" name="TextBox 74">
            <a:extLst>
              <a:ext uri="{FF2B5EF4-FFF2-40B4-BE49-F238E27FC236}">
                <a16:creationId xmlns:a16="http://schemas.microsoft.com/office/drawing/2014/main" id="{A7684DA1-49D4-4EDA-8468-0217FFCBE0A8}"/>
              </a:ext>
            </a:extLst>
          </p:cNvPr>
          <p:cNvSpPr txBox="1"/>
          <p:nvPr/>
        </p:nvSpPr>
        <p:spPr>
          <a:xfrm>
            <a:off x="8679821" y="2040253"/>
            <a:ext cx="1629104" cy="830997"/>
          </a:xfrm>
          <a:prstGeom prst="rect">
            <a:avLst/>
          </a:prstGeom>
          <a:noFill/>
        </p:spPr>
        <p:txBody>
          <a:bodyPr wrap="square" rtlCol="0">
            <a:spAutoFit/>
          </a:bodyPr>
          <a:lstStyle/>
          <a:p>
            <a:pPr algn="ctr"/>
            <a:r>
              <a:rPr lang="en-US" sz="1600" dirty="0"/>
              <a:t>Expected Patients in Next Week</a:t>
            </a:r>
          </a:p>
        </p:txBody>
      </p:sp>
      <p:cxnSp>
        <p:nvCxnSpPr>
          <p:cNvPr id="77" name="Straight Arrow Connector 76">
            <a:extLst>
              <a:ext uri="{FF2B5EF4-FFF2-40B4-BE49-F238E27FC236}">
                <a16:creationId xmlns:a16="http://schemas.microsoft.com/office/drawing/2014/main" id="{82F08AFC-D506-4C70-96F9-A8BAD6C3533E}"/>
              </a:ext>
            </a:extLst>
          </p:cNvPr>
          <p:cNvCxnSpPr/>
          <p:nvPr/>
        </p:nvCxnSpPr>
        <p:spPr>
          <a:xfrm>
            <a:off x="7948138" y="4109886"/>
            <a:ext cx="58726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9" name="TextBox 78">
            <a:extLst>
              <a:ext uri="{FF2B5EF4-FFF2-40B4-BE49-F238E27FC236}">
                <a16:creationId xmlns:a16="http://schemas.microsoft.com/office/drawing/2014/main" id="{F289A8D6-9551-42C5-AF55-A5266DD7BB84}"/>
              </a:ext>
            </a:extLst>
          </p:cNvPr>
          <p:cNvSpPr txBox="1"/>
          <p:nvPr/>
        </p:nvSpPr>
        <p:spPr>
          <a:xfrm>
            <a:off x="8736678" y="3817498"/>
            <a:ext cx="1629104" cy="584775"/>
          </a:xfrm>
          <a:prstGeom prst="rect">
            <a:avLst/>
          </a:prstGeom>
          <a:noFill/>
        </p:spPr>
        <p:txBody>
          <a:bodyPr wrap="square" rtlCol="0">
            <a:spAutoFit/>
          </a:bodyPr>
          <a:lstStyle/>
          <a:p>
            <a:pPr algn="ctr"/>
            <a:r>
              <a:rPr lang="en-US" sz="1600" dirty="0"/>
              <a:t>Alert Respected Authorities</a:t>
            </a:r>
          </a:p>
        </p:txBody>
      </p:sp>
      <p:sp>
        <p:nvSpPr>
          <p:cNvPr id="80" name="TextBox 79">
            <a:extLst>
              <a:ext uri="{FF2B5EF4-FFF2-40B4-BE49-F238E27FC236}">
                <a16:creationId xmlns:a16="http://schemas.microsoft.com/office/drawing/2014/main" id="{87244EFC-7C97-41FB-BF9F-C033DFF0BDC6}"/>
              </a:ext>
            </a:extLst>
          </p:cNvPr>
          <p:cNvSpPr txBox="1"/>
          <p:nvPr/>
        </p:nvSpPr>
        <p:spPr>
          <a:xfrm>
            <a:off x="601622" y="2222354"/>
            <a:ext cx="1629104" cy="338554"/>
          </a:xfrm>
          <a:prstGeom prst="rect">
            <a:avLst/>
          </a:prstGeom>
          <a:noFill/>
        </p:spPr>
        <p:txBody>
          <a:bodyPr wrap="square" rtlCol="0">
            <a:spAutoFit/>
          </a:bodyPr>
          <a:lstStyle/>
          <a:p>
            <a:pPr algn="ctr"/>
            <a:r>
              <a:rPr lang="en-US" sz="1600" dirty="0"/>
              <a:t>Incoming Data</a:t>
            </a:r>
          </a:p>
        </p:txBody>
      </p:sp>
      <p:sp>
        <p:nvSpPr>
          <p:cNvPr id="82" name="TextBox 81">
            <a:extLst>
              <a:ext uri="{FF2B5EF4-FFF2-40B4-BE49-F238E27FC236}">
                <a16:creationId xmlns:a16="http://schemas.microsoft.com/office/drawing/2014/main" id="{0586AD57-BE86-471D-95DC-E62DB7BDDB5E}"/>
              </a:ext>
            </a:extLst>
          </p:cNvPr>
          <p:cNvSpPr txBox="1"/>
          <p:nvPr/>
        </p:nvSpPr>
        <p:spPr>
          <a:xfrm>
            <a:off x="598117" y="4036210"/>
            <a:ext cx="1629104" cy="338554"/>
          </a:xfrm>
          <a:prstGeom prst="rect">
            <a:avLst/>
          </a:prstGeom>
          <a:noFill/>
        </p:spPr>
        <p:txBody>
          <a:bodyPr wrap="square" rtlCol="0">
            <a:spAutoFit/>
          </a:bodyPr>
          <a:lstStyle/>
          <a:p>
            <a:pPr algn="ctr"/>
            <a:r>
              <a:rPr lang="en-US" sz="1600" dirty="0"/>
              <a:t>Incoming Data</a:t>
            </a:r>
          </a:p>
        </p:txBody>
      </p:sp>
      <p:sp>
        <p:nvSpPr>
          <p:cNvPr id="83" name="TextBox 82">
            <a:extLst>
              <a:ext uri="{FF2B5EF4-FFF2-40B4-BE49-F238E27FC236}">
                <a16:creationId xmlns:a16="http://schemas.microsoft.com/office/drawing/2014/main" id="{1D752A4A-2394-463C-B692-75BC2756BBFA}"/>
              </a:ext>
            </a:extLst>
          </p:cNvPr>
          <p:cNvSpPr txBox="1"/>
          <p:nvPr/>
        </p:nvSpPr>
        <p:spPr>
          <a:xfrm rot="2033881">
            <a:off x="4595849" y="3097061"/>
            <a:ext cx="1629104" cy="338554"/>
          </a:xfrm>
          <a:prstGeom prst="rect">
            <a:avLst/>
          </a:prstGeom>
          <a:noFill/>
        </p:spPr>
        <p:txBody>
          <a:bodyPr wrap="square" rtlCol="0">
            <a:spAutoFit/>
          </a:bodyPr>
          <a:lstStyle/>
          <a:p>
            <a:pPr algn="ctr"/>
            <a:r>
              <a:rPr lang="en-US" sz="1600" dirty="0"/>
              <a:t>Predicted Prob</a:t>
            </a:r>
          </a:p>
        </p:txBody>
      </p:sp>
      <p:sp>
        <p:nvSpPr>
          <p:cNvPr id="84" name="TextBox 83">
            <a:extLst>
              <a:ext uri="{FF2B5EF4-FFF2-40B4-BE49-F238E27FC236}">
                <a16:creationId xmlns:a16="http://schemas.microsoft.com/office/drawing/2014/main" id="{F1A2CF1C-FE99-436F-BABC-03CD8DC81A0E}"/>
              </a:ext>
            </a:extLst>
          </p:cNvPr>
          <p:cNvSpPr txBox="1"/>
          <p:nvPr/>
        </p:nvSpPr>
        <p:spPr>
          <a:xfrm>
            <a:off x="4233335" y="3875548"/>
            <a:ext cx="1629104" cy="338554"/>
          </a:xfrm>
          <a:prstGeom prst="rect">
            <a:avLst/>
          </a:prstGeom>
          <a:noFill/>
        </p:spPr>
        <p:txBody>
          <a:bodyPr wrap="square" rtlCol="0">
            <a:spAutoFit/>
          </a:bodyPr>
          <a:lstStyle/>
          <a:p>
            <a:pPr algn="ctr"/>
            <a:r>
              <a:rPr lang="en-US" sz="1600" dirty="0"/>
              <a:t>Risk Score</a:t>
            </a:r>
          </a:p>
        </p:txBody>
      </p:sp>
      <p:sp>
        <p:nvSpPr>
          <p:cNvPr id="85" name="TextBox 84">
            <a:extLst>
              <a:ext uri="{FF2B5EF4-FFF2-40B4-BE49-F238E27FC236}">
                <a16:creationId xmlns:a16="http://schemas.microsoft.com/office/drawing/2014/main" id="{0E584001-7063-4E4B-902A-AE1839680378}"/>
              </a:ext>
            </a:extLst>
          </p:cNvPr>
          <p:cNvSpPr txBox="1"/>
          <p:nvPr/>
        </p:nvSpPr>
        <p:spPr>
          <a:xfrm>
            <a:off x="3857326" y="2191340"/>
            <a:ext cx="2886374" cy="338554"/>
          </a:xfrm>
          <a:prstGeom prst="rect">
            <a:avLst/>
          </a:prstGeom>
          <a:noFill/>
        </p:spPr>
        <p:txBody>
          <a:bodyPr wrap="square" rtlCol="0">
            <a:spAutoFit/>
          </a:bodyPr>
          <a:lstStyle/>
          <a:p>
            <a:pPr algn="ctr"/>
            <a:r>
              <a:rPr lang="en-US" sz="1600" dirty="0"/>
              <a:t>Predicted Prob + Direction </a:t>
            </a:r>
          </a:p>
        </p:txBody>
      </p:sp>
    </p:spTree>
    <p:extLst>
      <p:ext uri="{BB962C8B-B14F-4D97-AF65-F5344CB8AC3E}">
        <p14:creationId xmlns:p14="http://schemas.microsoft.com/office/powerpoint/2010/main" val="4020175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0"/>
          <p:cNvSpPr txBox="1">
            <a:spLocks noGrp="1"/>
          </p:cNvSpPr>
          <p:nvPr>
            <p:ph type="dt" idx="10"/>
          </p:nvPr>
        </p:nvSpPr>
        <p:spPr>
          <a:xfrm>
            <a:off x="609600" y="6356351"/>
            <a:ext cx="2844800" cy="365200"/>
          </a:xfrm>
          <a:prstGeom prst="rect">
            <a:avLst/>
          </a:prstGeom>
          <a:noFill/>
          <a:ln>
            <a:noFill/>
          </a:ln>
        </p:spPr>
        <p:txBody>
          <a:bodyPr spcFirstLastPara="1" vert="horz" wrap="square" lIns="91433" tIns="45700" rIns="91433" bIns="45700" rtlCol="0" anchor="ctr" anchorCtr="0">
            <a:noAutofit/>
          </a:bodyPr>
          <a:lstStyle/>
          <a:p>
            <a:r>
              <a:rPr lang="en-US" dirty="0"/>
              <a:t>January 22, 2025</a:t>
            </a:r>
            <a:endParaRPr dirty="0"/>
          </a:p>
        </p:txBody>
      </p:sp>
      <p:sp>
        <p:nvSpPr>
          <p:cNvPr id="266" name="Google Shape;266;p40"/>
          <p:cNvSpPr txBox="1">
            <a:spLocks noGrp="1"/>
          </p:cNvSpPr>
          <p:nvPr>
            <p:ph type="sldNum" idx="12"/>
          </p:nvPr>
        </p:nvSpPr>
        <p:spPr>
          <a:xfrm>
            <a:off x="4673600" y="6356351"/>
            <a:ext cx="2844800" cy="365200"/>
          </a:xfrm>
          <a:prstGeom prst="rect">
            <a:avLst/>
          </a:prstGeom>
          <a:noFill/>
          <a:ln>
            <a:noFill/>
          </a:ln>
        </p:spPr>
        <p:txBody>
          <a:bodyPr spcFirstLastPara="1" vert="horz" wrap="square" lIns="91433" tIns="45700" rIns="91433" bIns="45700" rtlCol="0" anchor="ctr" anchorCtr="0">
            <a:noAutofit/>
          </a:bodyPr>
          <a:lstStyle/>
          <a:p>
            <a:fld id="{00000000-1234-1234-1234-123412341234}" type="slidenum">
              <a:rPr lang="en"/>
              <a:pPr/>
              <a:t>32</a:t>
            </a:fld>
            <a:endParaRPr/>
          </a:p>
        </p:txBody>
      </p:sp>
      <p:sp>
        <p:nvSpPr>
          <p:cNvPr id="267" name="Google Shape;267;p40"/>
          <p:cNvSpPr txBox="1">
            <a:spLocks noGrp="1"/>
          </p:cNvSpPr>
          <p:nvPr>
            <p:ph type="ctrTitle"/>
          </p:nvPr>
        </p:nvSpPr>
        <p:spPr>
          <a:xfrm>
            <a:off x="886713" y="2140771"/>
            <a:ext cx="10363200" cy="3025200"/>
          </a:xfrm>
          <a:prstGeom prst="rect">
            <a:avLst/>
          </a:prstGeom>
          <a:noFill/>
          <a:ln>
            <a:noFill/>
          </a:ln>
        </p:spPr>
        <p:txBody>
          <a:bodyPr spcFirstLastPara="1" vert="horz" wrap="square" lIns="91433" tIns="45700" rIns="91433" bIns="45700" rtlCol="0" anchor="ctr" anchorCtr="0">
            <a:noAutofit/>
          </a:bodyPr>
          <a:lstStyle/>
          <a:p>
            <a:pPr>
              <a:lnSpc>
                <a:spcPct val="150000"/>
              </a:lnSpc>
            </a:pPr>
            <a:r>
              <a:rPr lang="en-US" sz="5400" b="1" dirty="0"/>
              <a:t>Results</a:t>
            </a:r>
          </a:p>
        </p:txBody>
      </p:sp>
    </p:spTree>
    <p:extLst>
      <p:ext uri="{BB962C8B-B14F-4D97-AF65-F5344CB8AC3E}">
        <p14:creationId xmlns:p14="http://schemas.microsoft.com/office/powerpoint/2010/main" val="3075037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33</a:t>
            </a:fld>
            <a:endParaRPr lang="en-US" dirty="0"/>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RESULTS CLASSIFICATION</a:t>
            </a:r>
            <a:endParaRPr lang="en-US" dirty="0"/>
          </a:p>
        </p:txBody>
      </p:sp>
      <p:sp>
        <p:nvSpPr>
          <p:cNvPr id="9" name="Content Placeholder 1">
            <a:extLst>
              <a:ext uri="{FF2B5EF4-FFF2-40B4-BE49-F238E27FC236}">
                <a16:creationId xmlns:a16="http://schemas.microsoft.com/office/drawing/2014/main" id="{5AE8186E-635A-46BD-87D8-AEAF4D82418D}"/>
              </a:ext>
            </a:extLst>
          </p:cNvPr>
          <p:cNvSpPr txBox="1">
            <a:spLocks/>
          </p:cNvSpPr>
          <p:nvPr/>
        </p:nvSpPr>
        <p:spPr>
          <a:xfrm>
            <a:off x="609599" y="988384"/>
            <a:ext cx="11275463" cy="275032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dirty="0"/>
              <a:t>Most important metric </a:t>
            </a:r>
            <a:r>
              <a:rPr lang="en-US" sz="2800" b="1" dirty="0"/>
              <a:t>Recall</a:t>
            </a:r>
            <a:r>
              <a:rPr lang="en-US" sz="2800" dirty="0"/>
              <a:t> for the class 2 (increasing trend)</a:t>
            </a:r>
          </a:p>
          <a:p>
            <a:r>
              <a:rPr lang="en-US" sz="2800" dirty="0"/>
              <a:t>Whenever there is an </a:t>
            </a:r>
            <a:r>
              <a:rPr lang="en-US" sz="2800" b="1" dirty="0"/>
              <a:t>increasing trend, always detect it</a:t>
            </a:r>
          </a:p>
          <a:p>
            <a:r>
              <a:rPr lang="en-US" sz="2800" dirty="0"/>
              <a:t>Balanced class weight failed to focus on the increasing trend</a:t>
            </a:r>
          </a:p>
          <a:p>
            <a:r>
              <a:rPr lang="en-US" sz="2800" dirty="0"/>
              <a:t>Tweaked the </a:t>
            </a:r>
            <a:r>
              <a:rPr lang="en-US" sz="2800" b="1" dirty="0"/>
              <a:t>class weights </a:t>
            </a:r>
            <a:r>
              <a:rPr lang="en-US" sz="2800" dirty="0"/>
              <a:t>to focus more on class 2</a:t>
            </a:r>
          </a:p>
          <a:p>
            <a:r>
              <a:rPr lang="en-US" sz="2800" dirty="0"/>
              <a:t>Overall disease agnostic model worked better than disease specific</a:t>
            </a:r>
          </a:p>
          <a:p>
            <a:endParaRPr lang="en-US" sz="2800" b="1" dirty="0"/>
          </a:p>
          <a:p>
            <a:endParaRPr lang="en-US" sz="2800" dirty="0"/>
          </a:p>
        </p:txBody>
      </p:sp>
    </p:spTree>
    <p:extLst>
      <p:ext uri="{BB962C8B-B14F-4D97-AF65-F5344CB8AC3E}">
        <p14:creationId xmlns:p14="http://schemas.microsoft.com/office/powerpoint/2010/main" val="7276810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34</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RESULTS CLASSIFICATION COVID</a:t>
            </a:r>
            <a:endParaRPr lang="en-US" dirty="0"/>
          </a:p>
        </p:txBody>
      </p:sp>
      <p:sp>
        <p:nvSpPr>
          <p:cNvPr id="6" name="TextBox 5">
            <a:extLst>
              <a:ext uri="{FF2B5EF4-FFF2-40B4-BE49-F238E27FC236}">
                <a16:creationId xmlns:a16="http://schemas.microsoft.com/office/drawing/2014/main" id="{73B435D2-48A8-4C6F-A7A5-286DDC5F78D7}"/>
              </a:ext>
            </a:extLst>
          </p:cNvPr>
          <p:cNvSpPr txBox="1"/>
          <p:nvPr/>
        </p:nvSpPr>
        <p:spPr>
          <a:xfrm>
            <a:off x="5638800" y="4039658"/>
            <a:ext cx="65" cy="276999"/>
          </a:xfrm>
          <a:prstGeom prst="rect">
            <a:avLst/>
          </a:prstGeom>
          <a:noFill/>
        </p:spPr>
        <p:txBody>
          <a:bodyPr wrap="none" lIns="0" tIns="0" rIns="0" bIns="0" rtlCol="0">
            <a:spAutoFit/>
          </a:bodyPr>
          <a:lstStyle/>
          <a:p>
            <a:endParaRPr lang="en-US" dirty="0"/>
          </a:p>
        </p:txBody>
      </p:sp>
      <p:sp>
        <p:nvSpPr>
          <p:cNvPr id="9" name="Content Placeholder 1">
            <a:extLst>
              <a:ext uri="{FF2B5EF4-FFF2-40B4-BE49-F238E27FC236}">
                <a16:creationId xmlns:a16="http://schemas.microsoft.com/office/drawing/2014/main" id="{5AE8186E-635A-46BD-87D8-AEAF4D82418D}"/>
              </a:ext>
            </a:extLst>
          </p:cNvPr>
          <p:cNvSpPr txBox="1">
            <a:spLocks/>
          </p:cNvSpPr>
          <p:nvPr/>
        </p:nvSpPr>
        <p:spPr>
          <a:xfrm>
            <a:off x="609599" y="2056243"/>
            <a:ext cx="11275463" cy="135476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2800" b="1" dirty="0"/>
          </a:p>
        </p:txBody>
      </p:sp>
      <p:sp>
        <p:nvSpPr>
          <p:cNvPr id="15" name="TextBox 14">
            <a:extLst>
              <a:ext uri="{FF2B5EF4-FFF2-40B4-BE49-F238E27FC236}">
                <a16:creationId xmlns:a16="http://schemas.microsoft.com/office/drawing/2014/main" id="{82FB08FF-DF38-430D-A888-E419336B11DF}"/>
              </a:ext>
            </a:extLst>
          </p:cNvPr>
          <p:cNvSpPr txBox="1"/>
          <p:nvPr/>
        </p:nvSpPr>
        <p:spPr>
          <a:xfrm>
            <a:off x="1308356" y="2362451"/>
            <a:ext cx="4021154" cy="369332"/>
          </a:xfrm>
          <a:prstGeom prst="rect">
            <a:avLst/>
          </a:prstGeom>
          <a:noFill/>
        </p:spPr>
        <p:txBody>
          <a:bodyPr wrap="square" rtlCol="0">
            <a:spAutoFit/>
          </a:bodyPr>
          <a:lstStyle/>
          <a:p>
            <a:pPr algn="ctr"/>
            <a:r>
              <a:rPr lang="en" sz="1800" b="1" dirty="0"/>
              <a:t>CLASSIFICATION</a:t>
            </a:r>
            <a:r>
              <a:rPr lang="en-US" sz="1800" b="1" dirty="0"/>
              <a:t> : Random Forest</a:t>
            </a:r>
          </a:p>
        </p:txBody>
      </p:sp>
      <p:sp>
        <p:nvSpPr>
          <p:cNvPr id="16" name="TextBox 15">
            <a:extLst>
              <a:ext uri="{FF2B5EF4-FFF2-40B4-BE49-F238E27FC236}">
                <a16:creationId xmlns:a16="http://schemas.microsoft.com/office/drawing/2014/main" id="{DF06ABFF-831E-4F40-B31F-8893A1AAA46F}"/>
              </a:ext>
            </a:extLst>
          </p:cNvPr>
          <p:cNvSpPr txBox="1"/>
          <p:nvPr/>
        </p:nvSpPr>
        <p:spPr>
          <a:xfrm>
            <a:off x="7076017" y="2355070"/>
            <a:ext cx="4021154" cy="646331"/>
          </a:xfrm>
          <a:prstGeom prst="rect">
            <a:avLst/>
          </a:prstGeom>
          <a:noFill/>
        </p:spPr>
        <p:txBody>
          <a:bodyPr wrap="square" rtlCol="0">
            <a:spAutoFit/>
          </a:bodyPr>
          <a:lstStyle/>
          <a:p>
            <a:pPr algn="ctr"/>
            <a:r>
              <a:rPr lang="en" sz="1800" b="1" dirty="0"/>
              <a:t>CLASSIFICATION weighted for Class 2 </a:t>
            </a:r>
            <a:r>
              <a:rPr lang="en-US" sz="1800" b="1" dirty="0"/>
              <a:t> : Random Forest</a:t>
            </a:r>
          </a:p>
        </p:txBody>
      </p:sp>
      <p:sp>
        <p:nvSpPr>
          <p:cNvPr id="19" name="TextBox 18">
            <a:extLst>
              <a:ext uri="{FF2B5EF4-FFF2-40B4-BE49-F238E27FC236}">
                <a16:creationId xmlns:a16="http://schemas.microsoft.com/office/drawing/2014/main" id="{6523CB7D-32B0-4EB3-A788-7181023E6FC7}"/>
              </a:ext>
            </a:extLst>
          </p:cNvPr>
          <p:cNvSpPr txBox="1"/>
          <p:nvPr/>
        </p:nvSpPr>
        <p:spPr>
          <a:xfrm>
            <a:off x="609600" y="1092021"/>
            <a:ext cx="10735734" cy="584775"/>
          </a:xfrm>
          <a:prstGeom prst="rect">
            <a:avLst/>
          </a:prstGeom>
          <a:noFill/>
        </p:spPr>
        <p:txBody>
          <a:bodyPr wrap="square" rtlCol="0">
            <a:spAutoFit/>
          </a:bodyPr>
          <a:lstStyle/>
          <a:p>
            <a:r>
              <a:rPr lang="en-US" sz="3200" dirty="0"/>
              <a:t>Data Used : All </a:t>
            </a:r>
            <a:r>
              <a:rPr lang="en-US" sz="3200" b="1" dirty="0"/>
              <a:t>Influenza like Illnesses</a:t>
            </a:r>
          </a:p>
        </p:txBody>
      </p:sp>
      <p:pic>
        <p:nvPicPr>
          <p:cNvPr id="7" name="Picture 6">
            <a:extLst>
              <a:ext uri="{FF2B5EF4-FFF2-40B4-BE49-F238E27FC236}">
                <a16:creationId xmlns:a16="http://schemas.microsoft.com/office/drawing/2014/main" id="{CCF1594A-6A7A-4B4D-9843-6941563CE24D}"/>
              </a:ext>
            </a:extLst>
          </p:cNvPr>
          <p:cNvPicPr>
            <a:picLocks noChangeAspect="1"/>
          </p:cNvPicPr>
          <p:nvPr/>
        </p:nvPicPr>
        <p:blipFill>
          <a:blip r:embed="rId2"/>
          <a:stretch>
            <a:fillRect/>
          </a:stretch>
        </p:blipFill>
        <p:spPr>
          <a:xfrm>
            <a:off x="695889" y="3046458"/>
            <a:ext cx="5165184" cy="2292955"/>
          </a:xfrm>
          <a:prstGeom prst="rect">
            <a:avLst/>
          </a:prstGeom>
        </p:spPr>
      </p:pic>
      <p:pic>
        <p:nvPicPr>
          <p:cNvPr id="10" name="Picture 9">
            <a:extLst>
              <a:ext uri="{FF2B5EF4-FFF2-40B4-BE49-F238E27FC236}">
                <a16:creationId xmlns:a16="http://schemas.microsoft.com/office/drawing/2014/main" id="{47E58FE8-AC55-4D84-8C6A-DC8C59B89720}"/>
              </a:ext>
            </a:extLst>
          </p:cNvPr>
          <p:cNvPicPr>
            <a:picLocks noChangeAspect="1"/>
          </p:cNvPicPr>
          <p:nvPr/>
        </p:nvPicPr>
        <p:blipFill>
          <a:blip r:embed="rId3"/>
          <a:stretch>
            <a:fillRect/>
          </a:stretch>
        </p:blipFill>
        <p:spPr>
          <a:xfrm>
            <a:off x="6390921" y="3062289"/>
            <a:ext cx="5037991" cy="2277124"/>
          </a:xfrm>
          <a:prstGeom prst="rect">
            <a:avLst/>
          </a:prstGeom>
        </p:spPr>
      </p:pic>
      <p:sp>
        <p:nvSpPr>
          <p:cNvPr id="17" name="Rectangle 16">
            <a:extLst>
              <a:ext uri="{FF2B5EF4-FFF2-40B4-BE49-F238E27FC236}">
                <a16:creationId xmlns:a16="http://schemas.microsoft.com/office/drawing/2014/main" id="{75FA02E0-C6AA-41AF-900E-8464406F368B}"/>
              </a:ext>
            </a:extLst>
          </p:cNvPr>
          <p:cNvSpPr/>
          <p:nvPr/>
        </p:nvSpPr>
        <p:spPr>
          <a:xfrm>
            <a:off x="1228224" y="3946067"/>
            <a:ext cx="4100513" cy="27699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4511262-DC5C-433F-B6C9-4B8F9C5564EA}"/>
              </a:ext>
            </a:extLst>
          </p:cNvPr>
          <p:cNvSpPr/>
          <p:nvPr/>
        </p:nvSpPr>
        <p:spPr>
          <a:xfrm>
            <a:off x="6863263" y="4050699"/>
            <a:ext cx="4100513" cy="27699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9700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35</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RESULTS CLASSIFICATION COVID</a:t>
            </a:r>
            <a:endParaRPr lang="en-US" dirty="0"/>
          </a:p>
        </p:txBody>
      </p:sp>
      <p:sp>
        <p:nvSpPr>
          <p:cNvPr id="6" name="TextBox 5">
            <a:extLst>
              <a:ext uri="{FF2B5EF4-FFF2-40B4-BE49-F238E27FC236}">
                <a16:creationId xmlns:a16="http://schemas.microsoft.com/office/drawing/2014/main" id="{73B435D2-48A8-4C6F-A7A5-286DDC5F78D7}"/>
              </a:ext>
            </a:extLst>
          </p:cNvPr>
          <p:cNvSpPr txBox="1"/>
          <p:nvPr/>
        </p:nvSpPr>
        <p:spPr>
          <a:xfrm>
            <a:off x="5638800" y="3691468"/>
            <a:ext cx="65" cy="276999"/>
          </a:xfrm>
          <a:prstGeom prst="rect">
            <a:avLst/>
          </a:prstGeom>
          <a:noFill/>
        </p:spPr>
        <p:txBody>
          <a:bodyPr wrap="none" lIns="0" tIns="0" rIns="0" bIns="0" rtlCol="0">
            <a:spAutoFit/>
          </a:bodyPr>
          <a:lstStyle/>
          <a:p>
            <a:endParaRPr lang="en-US" dirty="0"/>
          </a:p>
        </p:txBody>
      </p:sp>
      <p:sp>
        <p:nvSpPr>
          <p:cNvPr id="9" name="Content Placeholder 1">
            <a:extLst>
              <a:ext uri="{FF2B5EF4-FFF2-40B4-BE49-F238E27FC236}">
                <a16:creationId xmlns:a16="http://schemas.microsoft.com/office/drawing/2014/main" id="{5AE8186E-635A-46BD-87D8-AEAF4D82418D}"/>
              </a:ext>
            </a:extLst>
          </p:cNvPr>
          <p:cNvSpPr txBox="1">
            <a:spLocks/>
          </p:cNvSpPr>
          <p:nvPr/>
        </p:nvSpPr>
        <p:spPr>
          <a:xfrm>
            <a:off x="609599" y="988385"/>
            <a:ext cx="11275463" cy="135476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2800" b="1" dirty="0"/>
          </a:p>
        </p:txBody>
      </p:sp>
      <p:sp>
        <p:nvSpPr>
          <p:cNvPr id="15" name="TextBox 14">
            <a:extLst>
              <a:ext uri="{FF2B5EF4-FFF2-40B4-BE49-F238E27FC236}">
                <a16:creationId xmlns:a16="http://schemas.microsoft.com/office/drawing/2014/main" id="{82FB08FF-DF38-430D-A888-E419336B11DF}"/>
              </a:ext>
            </a:extLst>
          </p:cNvPr>
          <p:cNvSpPr txBox="1"/>
          <p:nvPr/>
        </p:nvSpPr>
        <p:spPr>
          <a:xfrm>
            <a:off x="1308356" y="2014261"/>
            <a:ext cx="4021154" cy="369332"/>
          </a:xfrm>
          <a:prstGeom prst="rect">
            <a:avLst/>
          </a:prstGeom>
          <a:noFill/>
        </p:spPr>
        <p:txBody>
          <a:bodyPr wrap="square" rtlCol="0">
            <a:spAutoFit/>
          </a:bodyPr>
          <a:lstStyle/>
          <a:p>
            <a:pPr algn="ctr"/>
            <a:r>
              <a:rPr lang="en" sz="1800" b="1" dirty="0"/>
              <a:t>CLASSIFICATION</a:t>
            </a:r>
            <a:r>
              <a:rPr lang="en-US" sz="1800" b="1" dirty="0"/>
              <a:t> : Random Forest</a:t>
            </a:r>
          </a:p>
        </p:txBody>
      </p:sp>
      <p:sp>
        <p:nvSpPr>
          <p:cNvPr id="16" name="TextBox 15">
            <a:extLst>
              <a:ext uri="{FF2B5EF4-FFF2-40B4-BE49-F238E27FC236}">
                <a16:creationId xmlns:a16="http://schemas.microsoft.com/office/drawing/2014/main" id="{DF06ABFF-831E-4F40-B31F-8893A1AAA46F}"/>
              </a:ext>
            </a:extLst>
          </p:cNvPr>
          <p:cNvSpPr txBox="1"/>
          <p:nvPr/>
        </p:nvSpPr>
        <p:spPr>
          <a:xfrm>
            <a:off x="7076017" y="2006880"/>
            <a:ext cx="4021154" cy="646331"/>
          </a:xfrm>
          <a:prstGeom prst="rect">
            <a:avLst/>
          </a:prstGeom>
          <a:noFill/>
        </p:spPr>
        <p:txBody>
          <a:bodyPr wrap="square" rtlCol="0">
            <a:spAutoFit/>
          </a:bodyPr>
          <a:lstStyle/>
          <a:p>
            <a:pPr algn="ctr"/>
            <a:r>
              <a:rPr lang="en" sz="1800" b="1" dirty="0"/>
              <a:t>CLASSIFICATION weighted for Class 2 </a:t>
            </a:r>
            <a:r>
              <a:rPr lang="en-US" sz="1800" b="1" dirty="0"/>
              <a:t> : Random Forest</a:t>
            </a:r>
          </a:p>
        </p:txBody>
      </p:sp>
      <p:pic>
        <p:nvPicPr>
          <p:cNvPr id="12" name="Picture 11">
            <a:extLst>
              <a:ext uri="{FF2B5EF4-FFF2-40B4-BE49-F238E27FC236}">
                <a16:creationId xmlns:a16="http://schemas.microsoft.com/office/drawing/2014/main" id="{5F545DB1-AF8C-4842-B5B8-257716CBBF99}"/>
              </a:ext>
            </a:extLst>
          </p:cNvPr>
          <p:cNvPicPr>
            <a:picLocks noChangeAspect="1"/>
          </p:cNvPicPr>
          <p:nvPr/>
        </p:nvPicPr>
        <p:blipFill>
          <a:blip r:embed="rId2"/>
          <a:stretch>
            <a:fillRect/>
          </a:stretch>
        </p:blipFill>
        <p:spPr>
          <a:xfrm>
            <a:off x="537232" y="2730272"/>
            <a:ext cx="5241411" cy="2156754"/>
          </a:xfrm>
          <a:prstGeom prst="rect">
            <a:avLst/>
          </a:prstGeom>
        </p:spPr>
      </p:pic>
      <p:sp>
        <p:nvSpPr>
          <p:cNvPr id="19" name="TextBox 18">
            <a:extLst>
              <a:ext uri="{FF2B5EF4-FFF2-40B4-BE49-F238E27FC236}">
                <a16:creationId xmlns:a16="http://schemas.microsoft.com/office/drawing/2014/main" id="{6523CB7D-32B0-4EB3-A788-7181023E6FC7}"/>
              </a:ext>
            </a:extLst>
          </p:cNvPr>
          <p:cNvSpPr txBox="1"/>
          <p:nvPr/>
        </p:nvSpPr>
        <p:spPr>
          <a:xfrm>
            <a:off x="643467" y="1075426"/>
            <a:ext cx="10735734" cy="584775"/>
          </a:xfrm>
          <a:prstGeom prst="rect">
            <a:avLst/>
          </a:prstGeom>
          <a:noFill/>
        </p:spPr>
        <p:txBody>
          <a:bodyPr wrap="square" rtlCol="0">
            <a:spAutoFit/>
          </a:bodyPr>
          <a:lstStyle/>
          <a:p>
            <a:r>
              <a:rPr lang="en-US" sz="3200" dirty="0"/>
              <a:t>Data Used : Only </a:t>
            </a:r>
            <a:r>
              <a:rPr lang="en-US" sz="3200" b="1" dirty="0"/>
              <a:t>Covid-19</a:t>
            </a:r>
          </a:p>
        </p:txBody>
      </p:sp>
      <p:pic>
        <p:nvPicPr>
          <p:cNvPr id="14" name="Picture 13">
            <a:extLst>
              <a:ext uri="{FF2B5EF4-FFF2-40B4-BE49-F238E27FC236}">
                <a16:creationId xmlns:a16="http://schemas.microsoft.com/office/drawing/2014/main" id="{2532D3EC-2B44-4E62-B79B-D1849A09192B}"/>
              </a:ext>
            </a:extLst>
          </p:cNvPr>
          <p:cNvPicPr>
            <a:picLocks noChangeAspect="1"/>
          </p:cNvPicPr>
          <p:nvPr/>
        </p:nvPicPr>
        <p:blipFill>
          <a:blip r:embed="rId3"/>
          <a:stretch>
            <a:fillRect/>
          </a:stretch>
        </p:blipFill>
        <p:spPr>
          <a:xfrm>
            <a:off x="6330928" y="2730272"/>
            <a:ext cx="5104317" cy="2156754"/>
          </a:xfrm>
          <a:prstGeom prst="rect">
            <a:avLst/>
          </a:prstGeom>
        </p:spPr>
      </p:pic>
      <p:sp>
        <p:nvSpPr>
          <p:cNvPr id="22" name="Rectangle 21">
            <a:extLst>
              <a:ext uri="{FF2B5EF4-FFF2-40B4-BE49-F238E27FC236}">
                <a16:creationId xmlns:a16="http://schemas.microsoft.com/office/drawing/2014/main" id="{481A5B1A-9AB5-4ACA-B43C-9E6C85FEDA21}"/>
              </a:ext>
            </a:extLst>
          </p:cNvPr>
          <p:cNvSpPr/>
          <p:nvPr/>
        </p:nvSpPr>
        <p:spPr>
          <a:xfrm>
            <a:off x="1268676" y="3662882"/>
            <a:ext cx="4100513" cy="27699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B5F2EAF-E849-43CC-BD77-32A32FDB9CF1}"/>
              </a:ext>
            </a:extLst>
          </p:cNvPr>
          <p:cNvSpPr/>
          <p:nvPr/>
        </p:nvSpPr>
        <p:spPr>
          <a:xfrm>
            <a:off x="6631453" y="3567737"/>
            <a:ext cx="4100513" cy="27699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64510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36</a:t>
            </a:fld>
            <a:endParaRPr lang="en-US" dirty="0"/>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RESULTS REGRESSION</a:t>
            </a:r>
            <a:endParaRPr lang="en-US" dirty="0"/>
          </a:p>
        </p:txBody>
      </p:sp>
      <p:sp>
        <p:nvSpPr>
          <p:cNvPr id="9" name="Content Placeholder 1">
            <a:extLst>
              <a:ext uri="{FF2B5EF4-FFF2-40B4-BE49-F238E27FC236}">
                <a16:creationId xmlns:a16="http://schemas.microsoft.com/office/drawing/2014/main" id="{5AE8186E-635A-46BD-87D8-AEAF4D82418D}"/>
              </a:ext>
            </a:extLst>
          </p:cNvPr>
          <p:cNvSpPr txBox="1">
            <a:spLocks/>
          </p:cNvSpPr>
          <p:nvPr/>
        </p:nvSpPr>
        <p:spPr>
          <a:xfrm>
            <a:off x="609599" y="988384"/>
            <a:ext cx="11275463" cy="275032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dirty="0"/>
              <a:t>Metric of focus here is </a:t>
            </a:r>
            <a:r>
              <a:rPr lang="en-US" sz="2800" b="1" dirty="0"/>
              <a:t>R2 score.</a:t>
            </a:r>
          </a:p>
          <a:p>
            <a:r>
              <a:rPr lang="en-US" sz="2800" dirty="0"/>
              <a:t>Specifies how good the fit of the curve is</a:t>
            </a:r>
          </a:p>
          <a:p>
            <a:r>
              <a:rPr lang="en-US" sz="2800" dirty="0"/>
              <a:t>Overall , disease agnostic and directional approaches worked better than disease specific approach</a:t>
            </a:r>
          </a:p>
          <a:p>
            <a:endParaRPr lang="en-US" sz="2800" dirty="0"/>
          </a:p>
        </p:txBody>
      </p:sp>
    </p:spTree>
    <p:extLst>
      <p:ext uri="{BB962C8B-B14F-4D97-AF65-F5344CB8AC3E}">
        <p14:creationId xmlns:p14="http://schemas.microsoft.com/office/powerpoint/2010/main" val="19052492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37</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RESULTS REGRESSION COVID-19</a:t>
            </a:r>
            <a:endParaRPr lang="en-US" dirty="0"/>
          </a:p>
        </p:txBody>
      </p:sp>
      <p:sp>
        <p:nvSpPr>
          <p:cNvPr id="6" name="TextBox 5">
            <a:extLst>
              <a:ext uri="{FF2B5EF4-FFF2-40B4-BE49-F238E27FC236}">
                <a16:creationId xmlns:a16="http://schemas.microsoft.com/office/drawing/2014/main" id="{73B435D2-48A8-4C6F-A7A5-286DDC5F78D7}"/>
              </a:ext>
            </a:extLst>
          </p:cNvPr>
          <p:cNvSpPr txBox="1"/>
          <p:nvPr/>
        </p:nvSpPr>
        <p:spPr>
          <a:xfrm>
            <a:off x="5638800" y="2971800"/>
            <a:ext cx="65" cy="276999"/>
          </a:xfrm>
          <a:prstGeom prst="rect">
            <a:avLst/>
          </a:prstGeom>
          <a:noFill/>
        </p:spPr>
        <p:txBody>
          <a:bodyPr wrap="none" lIns="0" tIns="0" rIns="0" bIns="0" rtlCol="0">
            <a:spAutoFit/>
          </a:bodyPr>
          <a:lstStyle/>
          <a:p>
            <a:endParaRPr lang="en-US" dirty="0"/>
          </a:p>
        </p:txBody>
      </p:sp>
      <p:sp>
        <p:nvSpPr>
          <p:cNvPr id="9" name="Content Placeholder 1">
            <a:extLst>
              <a:ext uri="{FF2B5EF4-FFF2-40B4-BE49-F238E27FC236}">
                <a16:creationId xmlns:a16="http://schemas.microsoft.com/office/drawing/2014/main" id="{5AE8186E-635A-46BD-87D8-AEAF4D82418D}"/>
              </a:ext>
            </a:extLst>
          </p:cNvPr>
          <p:cNvSpPr txBox="1">
            <a:spLocks/>
          </p:cNvSpPr>
          <p:nvPr/>
        </p:nvSpPr>
        <p:spPr>
          <a:xfrm>
            <a:off x="609599" y="988385"/>
            <a:ext cx="11275463" cy="135476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2800" b="1" dirty="0"/>
          </a:p>
        </p:txBody>
      </p:sp>
      <p:sp>
        <p:nvSpPr>
          <p:cNvPr id="15" name="TextBox 14">
            <a:extLst>
              <a:ext uri="{FF2B5EF4-FFF2-40B4-BE49-F238E27FC236}">
                <a16:creationId xmlns:a16="http://schemas.microsoft.com/office/drawing/2014/main" id="{82FB08FF-DF38-430D-A888-E419336B11DF}"/>
              </a:ext>
            </a:extLst>
          </p:cNvPr>
          <p:cNvSpPr txBox="1"/>
          <p:nvPr/>
        </p:nvSpPr>
        <p:spPr>
          <a:xfrm>
            <a:off x="1443823" y="1534219"/>
            <a:ext cx="4021154" cy="369332"/>
          </a:xfrm>
          <a:prstGeom prst="rect">
            <a:avLst/>
          </a:prstGeom>
          <a:noFill/>
        </p:spPr>
        <p:txBody>
          <a:bodyPr wrap="square" rtlCol="0">
            <a:spAutoFit/>
          </a:bodyPr>
          <a:lstStyle/>
          <a:p>
            <a:pPr algn="ctr"/>
            <a:r>
              <a:rPr lang="en-US" sz="1800" b="1" dirty="0"/>
              <a:t>SIMPLE REGRESSION :Random Forest</a:t>
            </a:r>
          </a:p>
        </p:txBody>
      </p:sp>
      <p:sp>
        <p:nvSpPr>
          <p:cNvPr id="16" name="TextBox 15">
            <a:extLst>
              <a:ext uri="{FF2B5EF4-FFF2-40B4-BE49-F238E27FC236}">
                <a16:creationId xmlns:a16="http://schemas.microsoft.com/office/drawing/2014/main" id="{DF06ABFF-831E-4F40-B31F-8893A1AAA46F}"/>
              </a:ext>
            </a:extLst>
          </p:cNvPr>
          <p:cNvSpPr txBox="1"/>
          <p:nvPr/>
        </p:nvSpPr>
        <p:spPr>
          <a:xfrm>
            <a:off x="7152582" y="1535305"/>
            <a:ext cx="4021154" cy="369332"/>
          </a:xfrm>
          <a:prstGeom prst="rect">
            <a:avLst/>
          </a:prstGeom>
          <a:noFill/>
        </p:spPr>
        <p:txBody>
          <a:bodyPr wrap="square" rtlCol="0">
            <a:spAutoFit/>
          </a:bodyPr>
          <a:lstStyle/>
          <a:p>
            <a:pPr algn="ctr"/>
            <a:r>
              <a:rPr lang="en-US" b="1" dirty="0"/>
              <a:t>DIRECTION SUPPORTED REGRESSION</a:t>
            </a:r>
            <a:endParaRPr lang="en-US" dirty="0"/>
          </a:p>
        </p:txBody>
      </p:sp>
      <p:pic>
        <p:nvPicPr>
          <p:cNvPr id="24" name="Picture 23">
            <a:extLst>
              <a:ext uri="{FF2B5EF4-FFF2-40B4-BE49-F238E27FC236}">
                <a16:creationId xmlns:a16="http://schemas.microsoft.com/office/drawing/2014/main" id="{EBA02CBD-D803-4A3A-94D8-452C756C3424}"/>
              </a:ext>
            </a:extLst>
          </p:cNvPr>
          <p:cNvPicPr>
            <a:picLocks noChangeAspect="1"/>
          </p:cNvPicPr>
          <p:nvPr/>
        </p:nvPicPr>
        <p:blipFill>
          <a:blip r:embed="rId2"/>
          <a:stretch>
            <a:fillRect/>
          </a:stretch>
        </p:blipFill>
        <p:spPr>
          <a:xfrm>
            <a:off x="955682" y="1864615"/>
            <a:ext cx="4997435" cy="2719997"/>
          </a:xfrm>
          <a:prstGeom prst="rect">
            <a:avLst/>
          </a:prstGeom>
        </p:spPr>
      </p:pic>
      <p:pic>
        <p:nvPicPr>
          <p:cNvPr id="26" name="Picture 25">
            <a:extLst>
              <a:ext uri="{FF2B5EF4-FFF2-40B4-BE49-F238E27FC236}">
                <a16:creationId xmlns:a16="http://schemas.microsoft.com/office/drawing/2014/main" id="{A613F9F3-0377-495B-8F5B-84F6C6AEE66B}"/>
              </a:ext>
            </a:extLst>
          </p:cNvPr>
          <p:cNvPicPr>
            <a:picLocks noChangeAspect="1"/>
          </p:cNvPicPr>
          <p:nvPr/>
        </p:nvPicPr>
        <p:blipFill>
          <a:blip r:embed="rId3"/>
          <a:stretch>
            <a:fillRect/>
          </a:stretch>
        </p:blipFill>
        <p:spPr>
          <a:xfrm>
            <a:off x="1803609" y="4833672"/>
            <a:ext cx="3563714" cy="1133289"/>
          </a:xfrm>
          <a:prstGeom prst="rect">
            <a:avLst/>
          </a:prstGeom>
        </p:spPr>
      </p:pic>
      <p:pic>
        <p:nvPicPr>
          <p:cNvPr id="28" name="Picture 27">
            <a:extLst>
              <a:ext uri="{FF2B5EF4-FFF2-40B4-BE49-F238E27FC236}">
                <a16:creationId xmlns:a16="http://schemas.microsoft.com/office/drawing/2014/main" id="{C37B9784-B337-4A69-AFCC-F0850C47D741}"/>
              </a:ext>
            </a:extLst>
          </p:cNvPr>
          <p:cNvPicPr>
            <a:picLocks noChangeAspect="1"/>
          </p:cNvPicPr>
          <p:nvPr/>
        </p:nvPicPr>
        <p:blipFill>
          <a:blip r:embed="rId4"/>
          <a:stretch>
            <a:fillRect/>
          </a:stretch>
        </p:blipFill>
        <p:spPr>
          <a:xfrm>
            <a:off x="6484214" y="1888800"/>
            <a:ext cx="5132054" cy="2793267"/>
          </a:xfrm>
          <a:prstGeom prst="rect">
            <a:avLst/>
          </a:prstGeom>
        </p:spPr>
      </p:pic>
      <p:pic>
        <p:nvPicPr>
          <p:cNvPr id="30" name="Picture 29">
            <a:extLst>
              <a:ext uri="{FF2B5EF4-FFF2-40B4-BE49-F238E27FC236}">
                <a16:creationId xmlns:a16="http://schemas.microsoft.com/office/drawing/2014/main" id="{188468C1-D7DE-4791-8C0E-ED76F9316765}"/>
              </a:ext>
            </a:extLst>
          </p:cNvPr>
          <p:cNvPicPr>
            <a:picLocks noChangeAspect="1"/>
          </p:cNvPicPr>
          <p:nvPr/>
        </p:nvPicPr>
        <p:blipFill>
          <a:blip r:embed="rId5"/>
          <a:stretch>
            <a:fillRect/>
          </a:stretch>
        </p:blipFill>
        <p:spPr>
          <a:xfrm>
            <a:off x="7230555" y="4826415"/>
            <a:ext cx="3639371" cy="1147801"/>
          </a:xfrm>
          <a:prstGeom prst="rect">
            <a:avLst/>
          </a:prstGeom>
        </p:spPr>
      </p:pic>
      <p:sp>
        <p:nvSpPr>
          <p:cNvPr id="2" name="TextBox 1">
            <a:extLst>
              <a:ext uri="{FF2B5EF4-FFF2-40B4-BE49-F238E27FC236}">
                <a16:creationId xmlns:a16="http://schemas.microsoft.com/office/drawing/2014/main" id="{67E10E33-EE9E-4C1E-A485-BC856CCD1E89}"/>
              </a:ext>
            </a:extLst>
          </p:cNvPr>
          <p:cNvSpPr txBox="1"/>
          <p:nvPr/>
        </p:nvSpPr>
        <p:spPr>
          <a:xfrm>
            <a:off x="955682" y="1027071"/>
            <a:ext cx="10735734" cy="523220"/>
          </a:xfrm>
          <a:prstGeom prst="rect">
            <a:avLst/>
          </a:prstGeom>
          <a:noFill/>
        </p:spPr>
        <p:txBody>
          <a:bodyPr wrap="square" rtlCol="0">
            <a:spAutoFit/>
          </a:bodyPr>
          <a:lstStyle/>
          <a:p>
            <a:r>
              <a:rPr lang="en-US" sz="2800" dirty="0"/>
              <a:t>Data Used : </a:t>
            </a:r>
            <a:r>
              <a:rPr lang="en-US" sz="2800" b="1" dirty="0"/>
              <a:t>Influenza like Illnesses</a:t>
            </a:r>
          </a:p>
        </p:txBody>
      </p:sp>
    </p:spTree>
    <p:extLst>
      <p:ext uri="{BB962C8B-B14F-4D97-AF65-F5344CB8AC3E}">
        <p14:creationId xmlns:p14="http://schemas.microsoft.com/office/powerpoint/2010/main" val="7055871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38</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RESULTS REGRESSION COVID-19</a:t>
            </a:r>
            <a:endParaRPr lang="en-US" dirty="0"/>
          </a:p>
        </p:txBody>
      </p:sp>
      <p:sp>
        <p:nvSpPr>
          <p:cNvPr id="6" name="TextBox 5">
            <a:extLst>
              <a:ext uri="{FF2B5EF4-FFF2-40B4-BE49-F238E27FC236}">
                <a16:creationId xmlns:a16="http://schemas.microsoft.com/office/drawing/2014/main" id="{73B435D2-48A8-4C6F-A7A5-286DDC5F78D7}"/>
              </a:ext>
            </a:extLst>
          </p:cNvPr>
          <p:cNvSpPr txBox="1"/>
          <p:nvPr/>
        </p:nvSpPr>
        <p:spPr>
          <a:xfrm>
            <a:off x="5545664" y="3048003"/>
            <a:ext cx="65" cy="276999"/>
          </a:xfrm>
          <a:prstGeom prst="rect">
            <a:avLst/>
          </a:prstGeom>
          <a:noFill/>
        </p:spPr>
        <p:txBody>
          <a:bodyPr wrap="none" lIns="0" tIns="0" rIns="0" bIns="0" rtlCol="0">
            <a:spAutoFit/>
          </a:bodyPr>
          <a:lstStyle/>
          <a:p>
            <a:endParaRPr lang="en-US" dirty="0"/>
          </a:p>
        </p:txBody>
      </p:sp>
      <p:sp>
        <p:nvSpPr>
          <p:cNvPr id="9" name="Content Placeholder 1">
            <a:extLst>
              <a:ext uri="{FF2B5EF4-FFF2-40B4-BE49-F238E27FC236}">
                <a16:creationId xmlns:a16="http://schemas.microsoft.com/office/drawing/2014/main" id="{5AE8186E-635A-46BD-87D8-AEAF4D82418D}"/>
              </a:ext>
            </a:extLst>
          </p:cNvPr>
          <p:cNvSpPr txBox="1">
            <a:spLocks/>
          </p:cNvSpPr>
          <p:nvPr/>
        </p:nvSpPr>
        <p:spPr>
          <a:xfrm>
            <a:off x="609599" y="988385"/>
            <a:ext cx="11275463" cy="135476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icrosoft PhagsPa" panose="020B0502040204020203"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icrosoft PhagsPa" panose="020B0502040204020203"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icrosoft PhagsPa" panose="020B0502040204020203"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icrosoft PhagsPa" panose="020B0502040204020203"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2800" b="1" dirty="0"/>
          </a:p>
        </p:txBody>
      </p:sp>
      <p:sp>
        <p:nvSpPr>
          <p:cNvPr id="15" name="TextBox 14">
            <a:extLst>
              <a:ext uri="{FF2B5EF4-FFF2-40B4-BE49-F238E27FC236}">
                <a16:creationId xmlns:a16="http://schemas.microsoft.com/office/drawing/2014/main" id="{82FB08FF-DF38-430D-A888-E419336B11DF}"/>
              </a:ext>
            </a:extLst>
          </p:cNvPr>
          <p:cNvSpPr txBox="1"/>
          <p:nvPr/>
        </p:nvSpPr>
        <p:spPr>
          <a:xfrm>
            <a:off x="1367620" y="1525453"/>
            <a:ext cx="4021154" cy="369332"/>
          </a:xfrm>
          <a:prstGeom prst="rect">
            <a:avLst/>
          </a:prstGeom>
          <a:noFill/>
        </p:spPr>
        <p:txBody>
          <a:bodyPr wrap="square" rtlCol="0">
            <a:spAutoFit/>
          </a:bodyPr>
          <a:lstStyle/>
          <a:p>
            <a:pPr algn="ctr"/>
            <a:r>
              <a:rPr lang="en-US" sz="1800" b="1" dirty="0"/>
              <a:t>SIMPLE REGRESSION :Random Forest</a:t>
            </a:r>
          </a:p>
        </p:txBody>
      </p:sp>
      <p:sp>
        <p:nvSpPr>
          <p:cNvPr id="16" name="TextBox 15">
            <a:extLst>
              <a:ext uri="{FF2B5EF4-FFF2-40B4-BE49-F238E27FC236}">
                <a16:creationId xmlns:a16="http://schemas.microsoft.com/office/drawing/2014/main" id="{DF06ABFF-831E-4F40-B31F-8893A1AAA46F}"/>
              </a:ext>
            </a:extLst>
          </p:cNvPr>
          <p:cNvSpPr txBox="1"/>
          <p:nvPr/>
        </p:nvSpPr>
        <p:spPr>
          <a:xfrm>
            <a:off x="7030965" y="1492338"/>
            <a:ext cx="4021154" cy="369332"/>
          </a:xfrm>
          <a:prstGeom prst="rect">
            <a:avLst/>
          </a:prstGeom>
          <a:noFill/>
        </p:spPr>
        <p:txBody>
          <a:bodyPr wrap="square" rtlCol="0">
            <a:spAutoFit/>
          </a:bodyPr>
          <a:lstStyle/>
          <a:p>
            <a:pPr algn="ctr"/>
            <a:r>
              <a:rPr lang="en-US" b="1" dirty="0"/>
              <a:t>DIRECTION SUPPORTED REGRESSION</a:t>
            </a:r>
            <a:endParaRPr lang="en-US" dirty="0"/>
          </a:p>
        </p:txBody>
      </p:sp>
      <p:pic>
        <p:nvPicPr>
          <p:cNvPr id="32" name="Picture 31">
            <a:extLst>
              <a:ext uri="{FF2B5EF4-FFF2-40B4-BE49-F238E27FC236}">
                <a16:creationId xmlns:a16="http://schemas.microsoft.com/office/drawing/2014/main" id="{416AA901-0F2A-4873-AA45-5520C6897385}"/>
              </a:ext>
            </a:extLst>
          </p:cNvPr>
          <p:cNvPicPr>
            <a:picLocks noChangeAspect="1"/>
          </p:cNvPicPr>
          <p:nvPr/>
        </p:nvPicPr>
        <p:blipFill>
          <a:blip r:embed="rId2"/>
          <a:stretch>
            <a:fillRect/>
          </a:stretch>
        </p:blipFill>
        <p:spPr>
          <a:xfrm>
            <a:off x="6349615" y="1848747"/>
            <a:ext cx="5173516" cy="2815834"/>
          </a:xfrm>
          <a:prstGeom prst="rect">
            <a:avLst/>
          </a:prstGeom>
        </p:spPr>
      </p:pic>
      <p:pic>
        <p:nvPicPr>
          <p:cNvPr id="34" name="Picture 33">
            <a:extLst>
              <a:ext uri="{FF2B5EF4-FFF2-40B4-BE49-F238E27FC236}">
                <a16:creationId xmlns:a16="http://schemas.microsoft.com/office/drawing/2014/main" id="{31DA62D8-16C2-4513-987D-4E605E33EBDF}"/>
              </a:ext>
            </a:extLst>
          </p:cNvPr>
          <p:cNvPicPr>
            <a:picLocks noChangeAspect="1"/>
          </p:cNvPicPr>
          <p:nvPr/>
        </p:nvPicPr>
        <p:blipFill>
          <a:blip r:embed="rId3"/>
          <a:stretch>
            <a:fillRect/>
          </a:stretch>
        </p:blipFill>
        <p:spPr>
          <a:xfrm>
            <a:off x="7109624" y="4823495"/>
            <a:ext cx="4072211" cy="1227880"/>
          </a:xfrm>
          <a:prstGeom prst="rect">
            <a:avLst/>
          </a:prstGeom>
        </p:spPr>
      </p:pic>
      <p:pic>
        <p:nvPicPr>
          <p:cNvPr id="36" name="Picture 35">
            <a:extLst>
              <a:ext uri="{FF2B5EF4-FFF2-40B4-BE49-F238E27FC236}">
                <a16:creationId xmlns:a16="http://schemas.microsoft.com/office/drawing/2014/main" id="{D30252C1-0C6E-464B-84CF-077E547191FB}"/>
              </a:ext>
            </a:extLst>
          </p:cNvPr>
          <p:cNvPicPr>
            <a:picLocks noChangeAspect="1"/>
          </p:cNvPicPr>
          <p:nvPr/>
        </p:nvPicPr>
        <p:blipFill>
          <a:blip r:embed="rId4"/>
          <a:stretch>
            <a:fillRect/>
          </a:stretch>
        </p:blipFill>
        <p:spPr>
          <a:xfrm>
            <a:off x="953609" y="1914744"/>
            <a:ext cx="4994063" cy="2718162"/>
          </a:xfrm>
          <a:prstGeom prst="rect">
            <a:avLst/>
          </a:prstGeom>
        </p:spPr>
      </p:pic>
      <p:pic>
        <p:nvPicPr>
          <p:cNvPr id="38" name="Picture 37">
            <a:extLst>
              <a:ext uri="{FF2B5EF4-FFF2-40B4-BE49-F238E27FC236}">
                <a16:creationId xmlns:a16="http://schemas.microsoft.com/office/drawing/2014/main" id="{B338187E-BE71-4823-AA5B-7D1E73956D48}"/>
              </a:ext>
            </a:extLst>
          </p:cNvPr>
          <p:cNvPicPr>
            <a:picLocks noChangeAspect="1"/>
          </p:cNvPicPr>
          <p:nvPr/>
        </p:nvPicPr>
        <p:blipFill rotWithShape="1">
          <a:blip r:embed="rId5"/>
          <a:srcRect t="1680" r="6694" b="8809"/>
          <a:stretch/>
        </p:blipFill>
        <p:spPr>
          <a:xfrm>
            <a:off x="1711378" y="4823495"/>
            <a:ext cx="4020666" cy="1227880"/>
          </a:xfrm>
          <a:prstGeom prst="rect">
            <a:avLst/>
          </a:prstGeom>
        </p:spPr>
      </p:pic>
      <p:sp>
        <p:nvSpPr>
          <p:cNvPr id="39" name="TextBox 38">
            <a:extLst>
              <a:ext uri="{FF2B5EF4-FFF2-40B4-BE49-F238E27FC236}">
                <a16:creationId xmlns:a16="http://schemas.microsoft.com/office/drawing/2014/main" id="{CC2C6930-D417-44D7-B9B8-A58D1C256638}"/>
              </a:ext>
            </a:extLst>
          </p:cNvPr>
          <p:cNvSpPr txBox="1"/>
          <p:nvPr/>
        </p:nvSpPr>
        <p:spPr>
          <a:xfrm>
            <a:off x="963061" y="982781"/>
            <a:ext cx="10735734" cy="523220"/>
          </a:xfrm>
          <a:prstGeom prst="rect">
            <a:avLst/>
          </a:prstGeom>
          <a:noFill/>
        </p:spPr>
        <p:txBody>
          <a:bodyPr wrap="square" rtlCol="0">
            <a:spAutoFit/>
          </a:bodyPr>
          <a:lstStyle/>
          <a:p>
            <a:r>
              <a:rPr lang="en-US" sz="2800" dirty="0"/>
              <a:t>Data Used : </a:t>
            </a:r>
            <a:r>
              <a:rPr lang="en-US" sz="2800" b="1" dirty="0"/>
              <a:t>Only Covid-19 </a:t>
            </a:r>
            <a:endParaRPr lang="en-US" sz="2800" dirty="0"/>
          </a:p>
        </p:txBody>
      </p:sp>
    </p:spTree>
    <p:extLst>
      <p:ext uri="{BB962C8B-B14F-4D97-AF65-F5344CB8AC3E}">
        <p14:creationId xmlns:p14="http://schemas.microsoft.com/office/powerpoint/2010/main" val="25068522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a:bodyPr>
          <a:lstStyle/>
          <a:p>
            <a:r>
              <a:rPr lang="en-US" dirty="0"/>
              <a:t>Possible reasons for low F1 scores</a:t>
            </a:r>
          </a:p>
          <a:p>
            <a:pPr lvl="1"/>
            <a:r>
              <a:rPr lang="en-US" dirty="0"/>
              <a:t>Data granularity </a:t>
            </a:r>
          </a:p>
          <a:p>
            <a:pPr lvl="2"/>
            <a:r>
              <a:rPr lang="en-US" dirty="0"/>
              <a:t>Features like mean precipitation, avg income might not capture the disparity in places when aggregated over whole states.</a:t>
            </a:r>
          </a:p>
          <a:p>
            <a:pPr lvl="1"/>
            <a:r>
              <a:rPr lang="en-US" dirty="0"/>
              <a:t>Data drift (more hospitals use </a:t>
            </a:r>
            <a:r>
              <a:rPr lang="en-US" dirty="0" err="1"/>
              <a:t>cureMD</a:t>
            </a:r>
            <a:r>
              <a:rPr lang="en-US" dirty="0"/>
              <a:t> application in recent years)</a:t>
            </a:r>
          </a:p>
          <a:p>
            <a:pPr marL="457200" lvl="1" indent="0">
              <a:buNone/>
            </a:pPr>
            <a:endParaRPr lang="en-US" dirty="0"/>
          </a:p>
          <a:p>
            <a:pPr lvl="1"/>
            <a:endParaRPr lang="en-US" dirty="0"/>
          </a:p>
          <a:p>
            <a:endParaRPr lang="en-US" dirty="0"/>
          </a:p>
        </p:txBody>
      </p:sp>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39</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Reuslts Discussion</a:t>
            </a:r>
            <a:endParaRPr lang="en-US" dirty="0"/>
          </a:p>
        </p:txBody>
      </p:sp>
    </p:spTree>
    <p:extLst>
      <p:ext uri="{BB962C8B-B14F-4D97-AF65-F5344CB8AC3E}">
        <p14:creationId xmlns:p14="http://schemas.microsoft.com/office/powerpoint/2010/main" val="14557507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0"/>
          <p:cNvSpPr txBox="1">
            <a:spLocks noGrp="1"/>
          </p:cNvSpPr>
          <p:nvPr>
            <p:ph type="dt" idx="10"/>
          </p:nvPr>
        </p:nvSpPr>
        <p:spPr>
          <a:xfrm>
            <a:off x="609600" y="6356351"/>
            <a:ext cx="2844800" cy="365200"/>
          </a:xfrm>
          <a:prstGeom prst="rect">
            <a:avLst/>
          </a:prstGeom>
          <a:noFill/>
          <a:ln>
            <a:noFill/>
          </a:ln>
        </p:spPr>
        <p:txBody>
          <a:bodyPr spcFirstLastPara="1" vert="horz" wrap="square" lIns="91433" tIns="45700" rIns="91433" bIns="45700" rtlCol="0" anchor="ctr" anchorCtr="0">
            <a:noAutofit/>
          </a:bodyPr>
          <a:lstStyle/>
          <a:p>
            <a:r>
              <a:rPr lang="en-US" dirty="0"/>
              <a:t>January 22, 2025</a:t>
            </a:r>
            <a:endParaRPr dirty="0"/>
          </a:p>
        </p:txBody>
      </p:sp>
      <p:sp>
        <p:nvSpPr>
          <p:cNvPr id="266" name="Google Shape;266;p40"/>
          <p:cNvSpPr txBox="1">
            <a:spLocks noGrp="1"/>
          </p:cNvSpPr>
          <p:nvPr>
            <p:ph type="sldNum" idx="12"/>
          </p:nvPr>
        </p:nvSpPr>
        <p:spPr>
          <a:xfrm>
            <a:off x="4673600" y="6356351"/>
            <a:ext cx="2844800" cy="365200"/>
          </a:xfrm>
          <a:prstGeom prst="rect">
            <a:avLst/>
          </a:prstGeom>
          <a:noFill/>
          <a:ln>
            <a:noFill/>
          </a:ln>
        </p:spPr>
        <p:txBody>
          <a:bodyPr spcFirstLastPara="1" vert="horz" wrap="square" lIns="91433" tIns="45700" rIns="91433" bIns="45700" rtlCol="0" anchor="ctr" anchorCtr="0">
            <a:noAutofit/>
          </a:bodyPr>
          <a:lstStyle/>
          <a:p>
            <a:fld id="{00000000-1234-1234-1234-123412341234}" type="slidenum">
              <a:rPr lang="en"/>
              <a:pPr/>
              <a:t>40</a:t>
            </a:fld>
            <a:endParaRPr/>
          </a:p>
        </p:txBody>
      </p:sp>
      <p:sp>
        <p:nvSpPr>
          <p:cNvPr id="267" name="Google Shape;267;p40"/>
          <p:cNvSpPr txBox="1">
            <a:spLocks noGrp="1"/>
          </p:cNvSpPr>
          <p:nvPr>
            <p:ph type="ctrTitle"/>
          </p:nvPr>
        </p:nvSpPr>
        <p:spPr>
          <a:xfrm>
            <a:off x="886713" y="2140771"/>
            <a:ext cx="10363200" cy="3025200"/>
          </a:xfrm>
          <a:prstGeom prst="rect">
            <a:avLst/>
          </a:prstGeom>
          <a:noFill/>
          <a:ln>
            <a:noFill/>
          </a:ln>
        </p:spPr>
        <p:txBody>
          <a:bodyPr spcFirstLastPara="1" vert="horz" wrap="square" lIns="91433" tIns="45700" rIns="91433" bIns="45700" rtlCol="0" anchor="ctr" anchorCtr="0">
            <a:noAutofit/>
          </a:bodyPr>
          <a:lstStyle/>
          <a:p>
            <a:pPr>
              <a:buSzPts val="4100"/>
            </a:pPr>
            <a:r>
              <a:rPr lang="en" sz="5467" b="1" dirty="0"/>
              <a:t>Data Driven Approach (Anomaly Detector)</a:t>
            </a:r>
            <a:endParaRPr dirty="0"/>
          </a:p>
        </p:txBody>
      </p:sp>
    </p:spTree>
    <p:extLst>
      <p:ext uri="{BB962C8B-B14F-4D97-AF65-F5344CB8AC3E}">
        <p14:creationId xmlns:p14="http://schemas.microsoft.com/office/powerpoint/2010/main" val="20542619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a:bodyPr>
          <a:lstStyle/>
          <a:p>
            <a:r>
              <a:rPr lang="en-US" dirty="0"/>
              <a:t>To detect any </a:t>
            </a:r>
            <a:r>
              <a:rPr lang="en-US" b="1" dirty="0"/>
              <a:t>state–disease</a:t>
            </a:r>
            <a:r>
              <a:rPr lang="en-US" dirty="0"/>
              <a:t> combination that deviates from normal patterns.</a:t>
            </a:r>
          </a:p>
          <a:p>
            <a:endParaRPr lang="en-US" dirty="0"/>
          </a:p>
          <a:p>
            <a:r>
              <a:rPr lang="en-US" b="1" dirty="0"/>
              <a:t>Possible use cases:</a:t>
            </a:r>
          </a:p>
          <a:p>
            <a:pPr lvl="1"/>
            <a:r>
              <a:rPr lang="en-US" dirty="0"/>
              <a:t>Identify diseases emerging in regions where they are typically rare.</a:t>
            </a:r>
          </a:p>
          <a:p>
            <a:pPr lvl="1"/>
            <a:r>
              <a:rPr lang="en-US" dirty="0"/>
              <a:t>Spot diseases appearing during unusual times of the Year.</a:t>
            </a:r>
          </a:p>
          <a:p>
            <a:pPr lvl="1"/>
            <a:r>
              <a:rPr lang="en-US" dirty="0"/>
              <a:t>Detect abnormal spikes in overall patient Encounters.</a:t>
            </a:r>
          </a:p>
        </p:txBody>
      </p:sp>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41</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Anomaly Detection</a:t>
            </a:r>
            <a:endParaRPr lang="en-US" dirty="0"/>
          </a:p>
        </p:txBody>
      </p:sp>
    </p:spTree>
    <p:extLst>
      <p:ext uri="{BB962C8B-B14F-4D97-AF65-F5344CB8AC3E}">
        <p14:creationId xmlns:p14="http://schemas.microsoft.com/office/powerpoint/2010/main" val="12823377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a:bodyPr>
          <a:lstStyle/>
          <a:p>
            <a:pPr marL="0" indent="0">
              <a:buNone/>
            </a:pPr>
            <a:r>
              <a:rPr lang="en-US" b="1" dirty="0"/>
              <a:t>Isolation Forest (</a:t>
            </a:r>
            <a:r>
              <a:rPr lang="en-US" b="1" dirty="0" err="1"/>
              <a:t>Sklearn</a:t>
            </a:r>
            <a:r>
              <a:rPr lang="en-US" b="1" dirty="0"/>
              <a:t>) </a:t>
            </a:r>
            <a:r>
              <a:rPr lang="en-US" dirty="0"/>
              <a:t>– A widely used algorithm for identifying outliers.</a:t>
            </a:r>
          </a:p>
          <a:p>
            <a:pPr marL="0" indent="0">
              <a:buNone/>
            </a:pPr>
            <a:r>
              <a:rPr lang="en-US" dirty="0"/>
              <a:t>  </a:t>
            </a:r>
          </a:p>
          <a:p>
            <a:r>
              <a:rPr lang="en-US" dirty="0"/>
              <a:t>Applied to determine whether patient encounter patterns in a given state deviate significantly from normal trends.  </a:t>
            </a:r>
          </a:p>
          <a:p>
            <a:r>
              <a:rPr lang="en-US" b="1" dirty="0"/>
              <a:t>-1 </a:t>
            </a:r>
            <a:r>
              <a:rPr lang="en-US" dirty="0"/>
              <a:t>→ Anomaly (Unusual state–disease occurrence)  </a:t>
            </a:r>
          </a:p>
          <a:p>
            <a:r>
              <a:rPr lang="en-US" dirty="0"/>
              <a:t> </a:t>
            </a:r>
            <a:r>
              <a:rPr lang="en-US" b="1" dirty="0"/>
              <a:t>1</a:t>
            </a:r>
            <a:r>
              <a:rPr lang="en-US" dirty="0"/>
              <a:t> → Normal (Expected behavior)  </a:t>
            </a:r>
          </a:p>
          <a:p>
            <a:r>
              <a:rPr lang="en-US" dirty="0"/>
              <a:t>Short-term and long-term data-driven metrics are assigned weighted scores based on their relevance.</a:t>
            </a:r>
          </a:p>
          <a:p>
            <a:pPr marL="0" indent="0">
              <a:buNone/>
            </a:pPr>
            <a:endParaRPr lang="en-US" dirty="0"/>
          </a:p>
        </p:txBody>
      </p:sp>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42</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Anomaly Detection</a:t>
            </a:r>
            <a:endParaRPr lang="en-US" dirty="0"/>
          </a:p>
        </p:txBody>
      </p:sp>
    </p:spTree>
    <p:extLst>
      <p:ext uri="{BB962C8B-B14F-4D97-AF65-F5344CB8AC3E}">
        <p14:creationId xmlns:p14="http://schemas.microsoft.com/office/powerpoint/2010/main" val="25799949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fontScale="92500" lnSpcReduction="10000"/>
              </a:bodyPr>
              <a:lstStyle/>
              <a:p>
                <a:pPr marL="0" indent="0">
                  <a:buNone/>
                </a:pPr>
                <a:r>
                  <a:rPr lang="en-US" b="1" dirty="0"/>
                  <a:t>Isolation Forest (</a:t>
                </a:r>
                <a:r>
                  <a:rPr lang="en-US" b="1" dirty="0" err="1"/>
                  <a:t>Sklearn</a:t>
                </a:r>
                <a:r>
                  <a:rPr lang="en-US" b="1" dirty="0"/>
                  <a:t>):</a:t>
                </a:r>
                <a:endParaRPr lang="en-US" dirty="0"/>
              </a:p>
              <a:p>
                <a:r>
                  <a:rPr lang="en-US" sz="2800" dirty="0"/>
                  <a:t>Isolation Forest assigns an anomaly score based on how early a point is isolated in a randomly generated decision tree.</a:t>
                </a:r>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sz="3000" b="1" i="1" smtClean="0">
                          <a:latin typeface="Cambria Math" panose="02040503050406030204" pitchFamily="18" charset="0"/>
                        </a:rPr>
                        <m:t>𝑨</m:t>
                      </m:r>
                      <m:d>
                        <m:dPr>
                          <m:ctrlPr>
                            <a:rPr lang="en-US" sz="3000" b="1" i="1" smtClean="0">
                              <a:latin typeface="Cambria Math" panose="02040503050406030204" pitchFamily="18" charset="0"/>
                            </a:rPr>
                          </m:ctrlPr>
                        </m:dPr>
                        <m:e>
                          <m:r>
                            <a:rPr lang="en-US" sz="3000" b="1" i="1" smtClean="0">
                              <a:latin typeface="Cambria Math" panose="02040503050406030204" pitchFamily="18" charset="0"/>
                            </a:rPr>
                            <m:t>𝒙</m:t>
                          </m:r>
                        </m:e>
                      </m:d>
                      <m:r>
                        <a:rPr lang="en-US" sz="3000" b="1" i="1" smtClean="0">
                          <a:latin typeface="Cambria Math" panose="02040503050406030204" pitchFamily="18" charset="0"/>
                        </a:rPr>
                        <m:t>= </m:t>
                      </m:r>
                      <m:f>
                        <m:fPr>
                          <m:ctrlPr>
                            <a:rPr lang="en-US" sz="3000" b="1" i="1" smtClean="0">
                              <a:latin typeface="Cambria Math" panose="02040503050406030204" pitchFamily="18" charset="0"/>
                            </a:rPr>
                          </m:ctrlPr>
                        </m:fPr>
                        <m:num>
                          <m:sSup>
                            <m:sSupPr>
                              <m:ctrlPr>
                                <a:rPr lang="en-US" sz="3000" b="1" i="1" smtClean="0">
                                  <a:latin typeface="Cambria Math" panose="02040503050406030204" pitchFamily="18" charset="0"/>
                                </a:rPr>
                              </m:ctrlPr>
                            </m:sSupPr>
                            <m:e>
                              <m:r>
                                <a:rPr lang="en-US" sz="3000" b="1" i="1" smtClean="0">
                                  <a:latin typeface="Cambria Math" panose="02040503050406030204" pitchFamily="18" charset="0"/>
                                </a:rPr>
                                <m:t>𝟐</m:t>
                              </m:r>
                            </m:e>
                            <m:sup>
                              <m:f>
                                <m:fPr>
                                  <m:ctrlPr>
                                    <a:rPr lang="en-US" sz="3000" b="1" i="1" smtClean="0">
                                      <a:latin typeface="Cambria Math" panose="02040503050406030204" pitchFamily="18" charset="0"/>
                                    </a:rPr>
                                  </m:ctrlPr>
                                </m:fPr>
                                <m:num>
                                  <m:r>
                                    <a:rPr lang="en-US" sz="3000" b="1" i="1" smtClean="0">
                                      <a:latin typeface="Cambria Math" panose="02040503050406030204" pitchFamily="18" charset="0"/>
                                    </a:rPr>
                                    <m:t>−</m:t>
                                  </m:r>
                                  <m:r>
                                    <a:rPr lang="en-US" sz="3000" b="1" i="1" smtClean="0">
                                      <a:latin typeface="Cambria Math" panose="02040503050406030204" pitchFamily="18" charset="0"/>
                                    </a:rPr>
                                    <m:t>𝑬</m:t>
                                  </m:r>
                                  <m:r>
                                    <a:rPr lang="en-US" sz="3000" b="1" i="1" smtClean="0">
                                      <a:latin typeface="Cambria Math" panose="02040503050406030204" pitchFamily="18" charset="0"/>
                                    </a:rPr>
                                    <m:t>(</m:t>
                                  </m:r>
                                  <m:r>
                                    <a:rPr lang="en-US" sz="3000" b="1" i="1" smtClean="0">
                                      <a:latin typeface="Cambria Math" panose="02040503050406030204" pitchFamily="18" charset="0"/>
                                    </a:rPr>
                                    <m:t>𝒉</m:t>
                                  </m:r>
                                  <m:d>
                                    <m:dPr>
                                      <m:ctrlPr>
                                        <a:rPr lang="en-US" sz="3000" b="1" i="1" smtClean="0">
                                          <a:latin typeface="Cambria Math" panose="02040503050406030204" pitchFamily="18" charset="0"/>
                                        </a:rPr>
                                      </m:ctrlPr>
                                    </m:dPr>
                                    <m:e>
                                      <m:r>
                                        <a:rPr lang="en-US" sz="3000" b="1" i="1" smtClean="0">
                                          <a:latin typeface="Cambria Math" panose="02040503050406030204" pitchFamily="18" charset="0"/>
                                        </a:rPr>
                                        <m:t>𝒙</m:t>
                                      </m:r>
                                    </m:e>
                                  </m:d>
                                  <m:r>
                                    <a:rPr lang="en-US" sz="3000" b="1" i="1" smtClean="0">
                                      <a:latin typeface="Cambria Math" panose="02040503050406030204" pitchFamily="18" charset="0"/>
                                    </a:rPr>
                                    <m:t>)</m:t>
                                  </m:r>
                                </m:num>
                                <m:den>
                                  <m:r>
                                    <a:rPr lang="en-US" sz="3000" b="1" i="1" smtClean="0">
                                      <a:latin typeface="Cambria Math" panose="02040503050406030204" pitchFamily="18" charset="0"/>
                                    </a:rPr>
                                    <m:t>𝒄</m:t>
                                  </m:r>
                                  <m:r>
                                    <a:rPr lang="en-US" sz="3000" b="1" i="1" smtClean="0">
                                      <a:latin typeface="Cambria Math" panose="02040503050406030204" pitchFamily="18" charset="0"/>
                                    </a:rPr>
                                    <m:t>(</m:t>
                                  </m:r>
                                  <m:r>
                                    <a:rPr lang="en-US" sz="3000" b="1" i="1" smtClean="0">
                                      <a:latin typeface="Cambria Math" panose="02040503050406030204" pitchFamily="18" charset="0"/>
                                    </a:rPr>
                                    <m:t>𝒏</m:t>
                                  </m:r>
                                  <m:r>
                                    <a:rPr lang="en-US" sz="3000" b="1" i="1" smtClean="0">
                                      <a:latin typeface="Cambria Math" panose="02040503050406030204" pitchFamily="18" charset="0"/>
                                    </a:rPr>
                                    <m:t>)</m:t>
                                  </m:r>
                                </m:den>
                              </m:f>
                            </m:sup>
                          </m:sSup>
                        </m:num>
                        <m:den>
                          <m:r>
                            <a:rPr lang="en-US" sz="3000" b="1" i="1" smtClean="0">
                              <a:latin typeface="Cambria Math" panose="02040503050406030204" pitchFamily="18" charset="0"/>
                            </a:rPr>
                            <m:t>𝟏</m:t>
                          </m:r>
                        </m:den>
                      </m:f>
                    </m:oMath>
                  </m:oMathPara>
                </a14:m>
                <a:endParaRPr lang="en-US" sz="3000" b="1" dirty="0"/>
              </a:p>
              <a:p>
                <a:r>
                  <a:rPr lang="en-US" sz="2800" dirty="0"/>
                  <a:t>Where:</a:t>
                </a:r>
              </a:p>
              <a:p>
                <a:pPr>
                  <a:buFont typeface="Arial" panose="020B0604020202020204" pitchFamily="34" charset="0"/>
                  <a:buChar char="•"/>
                </a:pPr>
                <a:r>
                  <a:rPr lang="en-US" sz="2800" b="1" dirty="0"/>
                  <a:t>h(x)</a:t>
                </a:r>
                <a:r>
                  <a:rPr lang="en-US" sz="2800" dirty="0"/>
                  <a:t> is the path length of x in the tree,</a:t>
                </a:r>
              </a:p>
              <a:p>
                <a:pPr>
                  <a:buFont typeface="Arial" panose="020B0604020202020204" pitchFamily="34" charset="0"/>
                  <a:buChar char="•"/>
                </a:pPr>
                <a:r>
                  <a:rPr lang="en-US" sz="2800" b="1" dirty="0"/>
                  <a:t>E(h(x)) </a:t>
                </a:r>
                <a:r>
                  <a:rPr lang="en-US" sz="2800" dirty="0"/>
                  <a:t>is the expected path length,</a:t>
                </a:r>
              </a:p>
              <a:p>
                <a:pPr>
                  <a:buFont typeface="Arial" panose="020B0604020202020204" pitchFamily="34" charset="0"/>
                  <a:buChar char="•"/>
                </a:pPr>
                <a:r>
                  <a:rPr lang="en-US" sz="2800" b="1" dirty="0"/>
                  <a:t>c(n)</a:t>
                </a:r>
                <a:r>
                  <a:rPr lang="en-US" sz="2800" dirty="0"/>
                  <a:t> is the average path length of an unsuccessful search in a Binary Search Tree.</a:t>
                </a:r>
              </a:p>
              <a:p>
                <a:pPr marL="0" indent="0">
                  <a:buNone/>
                </a:pPr>
                <a:endParaRPr lang="en-US" dirty="0"/>
              </a:p>
            </p:txBody>
          </p:sp>
        </mc:Choice>
        <mc:Fallback>
          <p:sp>
            <p:nvSpPr>
              <p:cNvPr id="2" name="Content Placeholder 1">
                <a:extLst>
                  <a:ext uri="{FF2B5EF4-FFF2-40B4-BE49-F238E27FC236}">
                    <a16:creationId xmlns:a16="http://schemas.microsoft.com/office/drawing/2014/main" id="{F06A1136-ADF8-4041-90C3-99C5CDEBE274}"/>
                  </a:ext>
                </a:extLst>
              </p:cNvPr>
              <p:cNvSpPr>
                <a:spLocks noGrp="1" noRot="1" noChangeAspect="1" noMove="1" noResize="1" noEditPoints="1" noAdjustHandles="1" noChangeArrowheads="1" noChangeShapeType="1" noTextEdit="1"/>
              </p:cNvSpPr>
              <p:nvPr>
                <p:ph idx="1"/>
              </p:nvPr>
            </p:nvSpPr>
            <p:spPr>
              <a:xfrm>
                <a:off x="609600" y="988383"/>
                <a:ext cx="10972800" cy="5367967"/>
              </a:xfrm>
              <a:blipFill>
                <a:blip r:embed="rId2"/>
                <a:stretch>
                  <a:fillRect l="-1278" t="-2270" r="-944"/>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43</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b="1" dirty="0"/>
              <a:t>Isolation Forest</a:t>
            </a:r>
            <a:endParaRPr lang="en-US" dirty="0"/>
          </a:p>
        </p:txBody>
      </p:sp>
    </p:spTree>
    <p:extLst>
      <p:ext uri="{BB962C8B-B14F-4D97-AF65-F5344CB8AC3E}">
        <p14:creationId xmlns:p14="http://schemas.microsoft.com/office/powerpoint/2010/main" val="669336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a:bodyPr>
              <a:lstStyle/>
              <a:p>
                <a:pPr marL="0" indent="0">
                  <a:buNone/>
                </a:pPr>
                <a:r>
                  <a:rPr lang="en-US" sz="3000" b="1" dirty="0"/>
                  <a:t>Linear Regression (</a:t>
                </a:r>
                <a:r>
                  <a:rPr lang="en-US" sz="3000" b="1" dirty="0" err="1"/>
                  <a:t>Sklearn</a:t>
                </a:r>
                <a:r>
                  <a:rPr lang="en-US" sz="3000" b="1" dirty="0"/>
                  <a:t>):</a:t>
                </a:r>
              </a:p>
              <a:p>
                <a:r>
                  <a:rPr lang="en-US" sz="2600" dirty="0"/>
                  <a:t>Residuals are calculated as the difference between actual and predicted values</a:t>
                </a:r>
                <a:r>
                  <a:rPr lang="en-US" sz="3400" dirty="0"/>
                  <a:t>:</a:t>
                </a:r>
                <a:endParaRPr lang="en-US" sz="3400" i="1" dirty="0">
                  <a:latin typeface="Cambria Math" panose="02040503050406030204" pitchFamily="18" charset="0"/>
                </a:endParaRPr>
              </a:p>
              <a:p>
                <a:pPr marL="0" indent="0">
                  <a:buNone/>
                </a:pPr>
                <a:r>
                  <a:rPr lang="en-US" sz="3400" dirty="0"/>
                  <a:t>                     </a:t>
                </a:r>
                <a14:m>
                  <m:oMath xmlns:m="http://schemas.openxmlformats.org/officeDocument/2006/math">
                    <m:sSub>
                      <m:sSubPr>
                        <m:ctrlPr>
                          <a:rPr lang="en-US" sz="2800" b="1" i="1" smtClean="0">
                            <a:latin typeface="Cambria Math" panose="02040503050406030204" pitchFamily="18" charset="0"/>
                          </a:rPr>
                        </m:ctrlPr>
                      </m:sSubPr>
                      <m:e>
                        <m:r>
                          <a:rPr lang="en-US" sz="2800" b="1" i="1" smtClean="0">
                            <a:latin typeface="Cambria Math" panose="02040503050406030204" pitchFamily="18" charset="0"/>
                          </a:rPr>
                          <m:t>𝑹𝒆𝒔𝒊𝒅𝒖𝒂𝒍</m:t>
                        </m:r>
                        <m:r>
                          <a:rPr lang="en-US" sz="2800" b="1" i="1" smtClean="0">
                            <a:latin typeface="Cambria Math" panose="02040503050406030204" pitchFamily="18" charset="0"/>
                          </a:rPr>
                          <m:t>= </m:t>
                        </m:r>
                        <m:r>
                          <a:rPr lang="en-US" sz="2800" b="1" i="1" smtClean="0">
                            <a:latin typeface="Cambria Math" panose="02040503050406030204" pitchFamily="18" charset="0"/>
                          </a:rPr>
                          <m:t>𝒚</m:t>
                        </m:r>
                      </m:e>
                      <m:sub>
                        <m:r>
                          <a:rPr lang="en-US" sz="2800" b="1" i="1" smtClean="0">
                            <a:latin typeface="Cambria Math" panose="02040503050406030204" pitchFamily="18" charset="0"/>
                          </a:rPr>
                          <m:t>𝒊</m:t>
                        </m:r>
                      </m:sub>
                    </m:sSub>
                    <m:r>
                      <a:rPr lang="en-US" sz="2800" b="1" i="1" smtClean="0">
                        <a:latin typeface="Cambria Math" panose="02040503050406030204" pitchFamily="18" charset="0"/>
                      </a:rPr>
                      <m:t>−</m:t>
                    </m:r>
                    <m:sSub>
                      <m:sSubPr>
                        <m:ctrlPr>
                          <a:rPr lang="en-US" sz="2800" b="1" i="1" smtClean="0">
                            <a:latin typeface="Cambria Math" panose="02040503050406030204" pitchFamily="18" charset="0"/>
                          </a:rPr>
                        </m:ctrlPr>
                      </m:sSubPr>
                      <m:e>
                        <m:acc>
                          <m:accPr>
                            <m:chr m:val="̂"/>
                            <m:ctrlPr>
                              <a:rPr lang="en-US" sz="2800" b="1" i="1" dirty="0">
                                <a:solidFill>
                                  <a:srgbClr val="836967"/>
                                </a:solidFill>
                                <a:latin typeface="Cambria Math" panose="02040503050406030204" pitchFamily="18" charset="0"/>
                              </a:rPr>
                            </m:ctrlPr>
                          </m:accPr>
                          <m:e>
                            <m:r>
                              <a:rPr lang="en-US" sz="2800" b="1" i="1" dirty="0">
                                <a:latin typeface="Cambria Math" panose="02040503050406030204" pitchFamily="18" charset="0"/>
                              </a:rPr>
                              <m:t>𝒚</m:t>
                            </m:r>
                          </m:e>
                        </m:acc>
                      </m:e>
                      <m:sub>
                        <m:r>
                          <a:rPr lang="en-US" sz="2800" b="1" i="1" smtClean="0">
                            <a:latin typeface="Cambria Math" panose="02040503050406030204" pitchFamily="18" charset="0"/>
                          </a:rPr>
                          <m:t>𝒑𝒓𝒆</m:t>
                        </m:r>
                        <m:sSub>
                          <m:sSubPr>
                            <m:ctrlPr>
                              <a:rPr lang="en-US" sz="2800" b="1" i="1" smtClean="0">
                                <a:latin typeface="Cambria Math" panose="02040503050406030204" pitchFamily="18" charset="0"/>
                              </a:rPr>
                            </m:ctrlPr>
                          </m:sSubPr>
                          <m:e>
                            <m:r>
                              <a:rPr lang="en-US" sz="2800" b="1" i="1" smtClean="0">
                                <a:latin typeface="Cambria Math" panose="02040503050406030204" pitchFamily="18" charset="0"/>
                              </a:rPr>
                              <m:t>𝒅</m:t>
                            </m:r>
                          </m:e>
                          <m:sub>
                            <m:r>
                              <a:rPr lang="en-US" sz="2800" b="1" i="1" smtClean="0">
                                <a:latin typeface="Cambria Math" panose="02040503050406030204" pitchFamily="18" charset="0"/>
                              </a:rPr>
                              <m:t>𝒊</m:t>
                            </m:r>
                          </m:sub>
                        </m:sSub>
                      </m:sub>
                    </m:sSub>
                  </m:oMath>
                </a14:m>
                <a:endParaRPr lang="en-US" sz="2800" b="1" i="1" dirty="0">
                  <a:latin typeface="Cambria Math" panose="02040503050406030204" pitchFamily="18" charset="0"/>
                </a:endParaRPr>
              </a:p>
              <a:p>
                <a:pPr marL="0" indent="0">
                  <a:buNone/>
                </a:pPr>
                <a:r>
                  <a:rPr lang="en-US" sz="2800" b="1" dirty="0"/>
                  <a:t>                         </a:t>
                </a:r>
                <a14:m>
                  <m:oMath xmlns:m="http://schemas.openxmlformats.org/officeDocument/2006/math">
                    <m:sSub>
                      <m:sSubPr>
                        <m:ctrlPr>
                          <a:rPr lang="en-US" sz="2800" b="1" i="1">
                            <a:latin typeface="Cambria Math" panose="02040503050406030204" pitchFamily="18" charset="0"/>
                          </a:rPr>
                        </m:ctrlPr>
                      </m:sSubPr>
                      <m:e>
                        <m:acc>
                          <m:accPr>
                            <m:chr m:val="̂"/>
                            <m:ctrlPr>
                              <a:rPr lang="en-US" sz="2800" b="1" i="1" dirty="0">
                                <a:solidFill>
                                  <a:srgbClr val="836967"/>
                                </a:solidFill>
                                <a:latin typeface="Cambria Math" panose="02040503050406030204" pitchFamily="18" charset="0"/>
                              </a:rPr>
                            </m:ctrlPr>
                          </m:accPr>
                          <m:e>
                            <m:r>
                              <a:rPr lang="en-US" sz="2800" b="1" i="1" dirty="0">
                                <a:latin typeface="Cambria Math" panose="02040503050406030204" pitchFamily="18" charset="0"/>
                              </a:rPr>
                              <m:t>𝒚</m:t>
                            </m:r>
                          </m:e>
                        </m:acc>
                      </m:e>
                      <m:sub>
                        <m:r>
                          <a:rPr lang="en-US" sz="2800" b="1" i="1">
                            <a:latin typeface="Cambria Math" panose="02040503050406030204" pitchFamily="18" charset="0"/>
                          </a:rPr>
                          <m:t>𝒑𝒓𝒆</m:t>
                        </m:r>
                        <m:sSub>
                          <m:sSubPr>
                            <m:ctrlPr>
                              <a:rPr lang="en-US" sz="2800" b="1" i="1">
                                <a:latin typeface="Cambria Math" panose="02040503050406030204" pitchFamily="18" charset="0"/>
                              </a:rPr>
                            </m:ctrlPr>
                          </m:sSubPr>
                          <m:e>
                            <m:r>
                              <a:rPr lang="en-US" sz="2800" b="1" i="1">
                                <a:latin typeface="Cambria Math" panose="02040503050406030204" pitchFamily="18" charset="0"/>
                              </a:rPr>
                              <m:t>𝒅</m:t>
                            </m:r>
                          </m:e>
                          <m:sub>
                            <m:r>
                              <a:rPr lang="en-US" sz="2800" b="1" i="1">
                                <a:latin typeface="Cambria Math" panose="02040503050406030204" pitchFamily="18" charset="0"/>
                              </a:rPr>
                              <m:t>𝒊</m:t>
                            </m:r>
                          </m:sub>
                        </m:sSub>
                        <m:r>
                          <a:rPr lang="en-US" sz="2800" b="1" i="1">
                            <a:latin typeface="Cambria Math" panose="02040503050406030204" pitchFamily="18" charset="0"/>
                          </a:rPr>
                          <m:t>=  </m:t>
                        </m:r>
                      </m:sub>
                    </m:sSub>
                    <m:r>
                      <a:rPr lang="en-US" sz="2800" b="1" i="1" smtClean="0">
                        <a:latin typeface="Cambria Math" panose="02040503050406030204" pitchFamily="18" charset="0"/>
                      </a:rPr>
                      <m:t>=</m:t>
                    </m:r>
                    <m:sSub>
                      <m:sSubPr>
                        <m:ctrlPr>
                          <a:rPr lang="en-US" sz="2800" b="1" dirty="0" smtClean="0">
                            <a:solidFill>
                              <a:srgbClr val="836967"/>
                            </a:solidFill>
                            <a:latin typeface="Cambria Math" panose="02040503050406030204" pitchFamily="18" charset="0"/>
                          </a:rPr>
                        </m:ctrlPr>
                      </m:sSubPr>
                      <m:e>
                        <m:r>
                          <a:rPr lang="en-US" sz="2800" b="1" i="1" dirty="0" smtClean="0">
                            <a:latin typeface="Cambria Math" panose="02040503050406030204" pitchFamily="18" charset="0"/>
                          </a:rPr>
                          <m:t>𝜷</m:t>
                        </m:r>
                      </m:e>
                      <m:sub>
                        <m:r>
                          <a:rPr lang="en-US" sz="2800" b="1" i="0" dirty="0" smtClean="0">
                            <a:latin typeface="Cambria Math" panose="02040503050406030204" pitchFamily="18" charset="0"/>
                          </a:rPr>
                          <m:t>𝟎</m:t>
                        </m:r>
                      </m:sub>
                    </m:sSub>
                    <m:r>
                      <a:rPr lang="en-US" sz="2800" b="1" i="0" dirty="0" smtClean="0">
                        <a:latin typeface="Cambria Math" panose="02040503050406030204" pitchFamily="18" charset="0"/>
                      </a:rPr>
                      <m:t>+</m:t>
                    </m:r>
                    <m:sSub>
                      <m:sSubPr>
                        <m:ctrlPr>
                          <a:rPr lang="en-US" sz="2800" b="1" i="1" dirty="0" smtClean="0">
                            <a:latin typeface="Cambria Math" panose="02040503050406030204" pitchFamily="18" charset="0"/>
                          </a:rPr>
                        </m:ctrlPr>
                      </m:sSubPr>
                      <m:e>
                        <m:r>
                          <a:rPr lang="en-US" sz="2800" b="1" i="1" dirty="0">
                            <a:latin typeface="Cambria Math" panose="02040503050406030204" pitchFamily="18" charset="0"/>
                          </a:rPr>
                          <m:t>𝜷</m:t>
                        </m:r>
                      </m:e>
                      <m:sub>
                        <m:r>
                          <a:rPr lang="en-US" sz="2800" b="1" i="1" dirty="0" smtClean="0">
                            <a:latin typeface="Cambria Math" panose="02040503050406030204" pitchFamily="18" charset="0"/>
                          </a:rPr>
                          <m:t>𝟏</m:t>
                        </m:r>
                      </m:sub>
                    </m:sSub>
                    <m:r>
                      <a:rPr lang="en-US" sz="2800" b="1" i="1" dirty="0" smtClean="0">
                        <a:latin typeface="Cambria Math" panose="02040503050406030204" pitchFamily="18" charset="0"/>
                      </a:rPr>
                      <m:t>∗</m:t>
                    </m:r>
                    <m:sSub>
                      <m:sSubPr>
                        <m:ctrlPr>
                          <a:rPr lang="en-US" sz="2800" b="1" i="1" dirty="0" smtClean="0">
                            <a:latin typeface="Cambria Math" panose="02040503050406030204" pitchFamily="18" charset="0"/>
                          </a:rPr>
                        </m:ctrlPr>
                      </m:sSubPr>
                      <m:e>
                        <m:r>
                          <a:rPr lang="en-US" sz="2800" b="1" i="1" dirty="0" smtClean="0">
                            <a:latin typeface="Cambria Math" panose="02040503050406030204" pitchFamily="18" charset="0"/>
                          </a:rPr>
                          <m:t>𝒙</m:t>
                        </m:r>
                      </m:e>
                      <m:sub>
                        <m:r>
                          <a:rPr lang="en-US" sz="2800" b="1" i="1" dirty="0" smtClean="0">
                            <a:latin typeface="Cambria Math" panose="02040503050406030204" pitchFamily="18" charset="0"/>
                          </a:rPr>
                          <m:t>𝒊</m:t>
                        </m:r>
                      </m:sub>
                    </m:sSub>
                  </m:oMath>
                </a14:m>
                <a:endParaRPr lang="en-US" sz="2800" b="1" dirty="0"/>
              </a:p>
              <a:p>
                <a:pPr marL="0" indent="0">
                  <a:buNone/>
                </a:pPr>
                <a:r>
                  <a:rPr lang="en-US" sz="2800" b="1" dirty="0"/>
                  <a:t>					</a:t>
                </a:r>
              </a:p>
              <a:p>
                <a:r>
                  <a:rPr lang="en-US" sz="2000" dirty="0"/>
                  <a:t>Only </a:t>
                </a:r>
                <a:r>
                  <a:rPr lang="en-US" sz="2000" b="1" dirty="0"/>
                  <a:t>positive residuals</a:t>
                </a:r>
                <a:r>
                  <a:rPr lang="en-US" sz="2000" dirty="0"/>
                  <a:t> are considered for anomaly scoring:</a:t>
                </a:r>
              </a:p>
              <a:p>
                <a:pPr marL="0" indent="0">
                  <a:buNone/>
                </a:pPr>
                <a:r>
                  <a:rPr lang="en-US" sz="2000" b="1" dirty="0"/>
                  <a:t>                                   </a:t>
                </a:r>
                <a14:m>
                  <m:oMath xmlns:m="http://schemas.openxmlformats.org/officeDocument/2006/math">
                    <m:sSub>
                      <m:sSubPr>
                        <m:ctrlPr>
                          <a:rPr lang="en-US" sz="2800" b="1" i="1" smtClean="0">
                            <a:latin typeface="Cambria Math" panose="02040503050406030204" pitchFamily="18" charset="0"/>
                          </a:rPr>
                        </m:ctrlPr>
                      </m:sSubPr>
                      <m:e>
                        <m:r>
                          <a:rPr lang="en-US" sz="2800" b="1" i="1" smtClean="0">
                            <a:latin typeface="Cambria Math" panose="02040503050406030204" pitchFamily="18" charset="0"/>
                          </a:rPr>
                          <m:t>𝑹𝒆𝒔𝒊𝒅𝒖𝒂𝒍</m:t>
                        </m:r>
                      </m:e>
                      <m:sub>
                        <m:r>
                          <a:rPr lang="en-US" sz="2800" b="1" i="1" smtClean="0">
                            <a:latin typeface="Cambria Math" panose="02040503050406030204" pitchFamily="18" charset="0"/>
                          </a:rPr>
                          <m:t>+</m:t>
                        </m:r>
                      </m:sub>
                    </m:sSub>
                    <m:r>
                      <a:rPr lang="en-US" sz="2800" b="1" i="1" smtClean="0">
                        <a:latin typeface="Cambria Math" panose="02040503050406030204" pitchFamily="18" charset="0"/>
                      </a:rPr>
                      <m:t>=</m:t>
                    </m:r>
                    <m:r>
                      <a:rPr lang="en-US" sz="2800" b="1" i="0" smtClean="0">
                        <a:latin typeface="Cambria Math" panose="02040503050406030204" pitchFamily="18" charset="0"/>
                      </a:rPr>
                      <m:t>𝐦𝐚𝐱</m:t>
                    </m:r>
                    <m:r>
                      <a:rPr lang="en-US" sz="2800" b="1" i="1" smtClean="0">
                        <a:latin typeface="Cambria Math" panose="02040503050406030204" pitchFamily="18" charset="0"/>
                      </a:rPr>
                      <m:t>⁡(</m:t>
                    </m:r>
                    <m:r>
                      <a:rPr lang="en-US" sz="2800" b="1" i="1" smtClean="0">
                        <a:latin typeface="Cambria Math" panose="02040503050406030204" pitchFamily="18" charset="0"/>
                      </a:rPr>
                      <m:t>𝟎</m:t>
                    </m:r>
                    <m:r>
                      <a:rPr lang="en-US" sz="2800" b="1" i="1" smtClean="0">
                        <a:latin typeface="Cambria Math" panose="02040503050406030204" pitchFamily="18" charset="0"/>
                      </a:rPr>
                      <m:t>,</m:t>
                    </m:r>
                    <m:r>
                      <a:rPr lang="en-US" sz="2800" b="1" i="1" smtClean="0">
                        <a:latin typeface="Cambria Math" panose="02040503050406030204" pitchFamily="18" charset="0"/>
                      </a:rPr>
                      <m:t>𝑹𝒆𝒔𝒊𝒅𝒖𝒂𝒍</m:t>
                    </m:r>
                    <m:r>
                      <a:rPr lang="en-US" sz="2800" b="1" i="1" smtClean="0">
                        <a:latin typeface="Cambria Math" panose="02040503050406030204" pitchFamily="18" charset="0"/>
                      </a:rPr>
                      <m:t>)</m:t>
                    </m:r>
                  </m:oMath>
                </a14:m>
                <a:endParaRPr lang="en-US" sz="2800" b="1" dirty="0"/>
              </a:p>
              <a:p>
                <a:endParaRPr lang="en-US" sz="2000" dirty="0"/>
              </a:p>
            </p:txBody>
          </p:sp>
        </mc:Choice>
        <mc:Fallback>
          <p:sp>
            <p:nvSpPr>
              <p:cNvPr id="2" name="Content Placeholder 1">
                <a:extLst>
                  <a:ext uri="{FF2B5EF4-FFF2-40B4-BE49-F238E27FC236}">
                    <a16:creationId xmlns:a16="http://schemas.microsoft.com/office/drawing/2014/main" id="{F06A1136-ADF8-4041-90C3-99C5CDEBE274}"/>
                  </a:ext>
                </a:extLst>
              </p:cNvPr>
              <p:cNvSpPr>
                <a:spLocks noGrp="1" noRot="1" noChangeAspect="1" noMove="1" noResize="1" noEditPoints="1" noAdjustHandles="1" noChangeArrowheads="1" noChangeShapeType="1" noTextEdit="1"/>
              </p:cNvSpPr>
              <p:nvPr>
                <p:ph idx="1"/>
              </p:nvPr>
            </p:nvSpPr>
            <p:spPr>
              <a:xfrm>
                <a:off x="609600" y="988383"/>
                <a:ext cx="10972800" cy="5367967"/>
              </a:xfrm>
              <a:blipFill>
                <a:blip r:embed="rId2"/>
                <a:stretch>
                  <a:fillRect l="-1278" t="-1476" r="-1167"/>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44</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US" dirty="0"/>
              <a:t>Regression-Based Residual Analysis</a:t>
            </a:r>
          </a:p>
        </p:txBody>
      </p:sp>
    </p:spTree>
    <p:extLst>
      <p:ext uri="{BB962C8B-B14F-4D97-AF65-F5344CB8AC3E}">
        <p14:creationId xmlns:p14="http://schemas.microsoft.com/office/powerpoint/2010/main" val="10218547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45</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Regression Line </a:t>
            </a:r>
            <a:endParaRPr lang="en-US" dirty="0"/>
          </a:p>
        </p:txBody>
      </p:sp>
      <p:sp>
        <p:nvSpPr>
          <p:cNvPr id="6" name="TextBox 5">
            <a:extLst>
              <a:ext uri="{FF2B5EF4-FFF2-40B4-BE49-F238E27FC236}">
                <a16:creationId xmlns:a16="http://schemas.microsoft.com/office/drawing/2014/main" id="{73B435D2-48A8-4C6F-A7A5-286DDC5F78D7}"/>
              </a:ext>
            </a:extLst>
          </p:cNvPr>
          <p:cNvSpPr txBox="1"/>
          <p:nvPr/>
        </p:nvSpPr>
        <p:spPr>
          <a:xfrm>
            <a:off x="5638800" y="2971800"/>
            <a:ext cx="65" cy="276999"/>
          </a:xfrm>
          <a:prstGeom prst="rect">
            <a:avLst/>
          </a:prstGeom>
          <a:noFill/>
        </p:spPr>
        <p:txBody>
          <a:bodyPr wrap="none" lIns="0" tIns="0" rIns="0" bIns="0" rtlCol="0">
            <a:spAutoFit/>
          </a:bodyPr>
          <a:lstStyle/>
          <a:p>
            <a:endParaRPr lang="en-US" dirty="0"/>
          </a:p>
        </p:txBody>
      </p:sp>
      <p:pic>
        <p:nvPicPr>
          <p:cNvPr id="8" name="Picture 7">
            <a:extLst>
              <a:ext uri="{FF2B5EF4-FFF2-40B4-BE49-F238E27FC236}">
                <a16:creationId xmlns:a16="http://schemas.microsoft.com/office/drawing/2014/main" id="{1DA6F6E9-AFFB-4B30-877A-B0A08487969A}"/>
              </a:ext>
            </a:extLst>
          </p:cNvPr>
          <p:cNvPicPr>
            <a:picLocks noChangeAspect="1"/>
          </p:cNvPicPr>
          <p:nvPr/>
        </p:nvPicPr>
        <p:blipFill>
          <a:blip r:embed="rId2"/>
          <a:stretch>
            <a:fillRect/>
          </a:stretch>
        </p:blipFill>
        <p:spPr>
          <a:xfrm>
            <a:off x="936580" y="941721"/>
            <a:ext cx="9404440" cy="5315146"/>
          </a:xfrm>
          <a:prstGeom prst="rect">
            <a:avLst/>
          </a:prstGeom>
        </p:spPr>
      </p:pic>
    </p:spTree>
    <p:extLst>
      <p:ext uri="{BB962C8B-B14F-4D97-AF65-F5344CB8AC3E}">
        <p14:creationId xmlns:p14="http://schemas.microsoft.com/office/powerpoint/2010/main" val="28197839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a:bodyPr>
              <a:lstStyle/>
              <a:p>
                <a:pPr>
                  <a:lnSpc>
                    <a:spcPct val="160000"/>
                  </a:lnSpc>
                </a:pPr>
                <a:r>
                  <a:rPr lang="en-US" sz="2400" b="1" dirty="0"/>
                  <a:t>Computed the Weekly percentage:</a:t>
                </a:r>
              </a:p>
              <a:p>
                <a:pPr marL="0" indent="0" algn="ctr">
                  <a:lnSpc>
                    <a:spcPct val="160000"/>
                  </a:lnSpc>
                  <a:buNone/>
                </a:pPr>
                <a:r>
                  <a:rPr lang="en-US" sz="1600" b="1" dirty="0"/>
                  <a:t>      </a:t>
                </a:r>
                <a14:m>
                  <m:oMath xmlns:m="http://schemas.openxmlformats.org/officeDocument/2006/math">
                    <m:r>
                      <m:rPr>
                        <m:nor/>
                      </m:rPr>
                      <a:rPr lang="en-US" sz="1600" b="1" i="0" dirty="0" smtClean="0"/>
                      <m:t>Weekly</m:t>
                    </m:r>
                    <m:r>
                      <a:rPr lang="en-US" sz="1600" b="1" i="1" dirty="0" smtClean="0">
                        <a:latin typeface="Cambria Math" panose="02040503050406030204" pitchFamily="18" charset="0"/>
                      </a:rPr>
                      <m:t> </m:t>
                    </m:r>
                    <m:r>
                      <a:rPr lang="en-US" sz="1600" b="1" i="1" dirty="0" smtClean="0">
                        <a:latin typeface="Cambria Math" panose="02040503050406030204" pitchFamily="18" charset="0"/>
                      </a:rPr>
                      <m:t>𝑪𝒉𝒂𝒏𝒈𝒆</m:t>
                    </m:r>
                    <m:r>
                      <a:rPr lang="en-US" sz="1600" b="1" i="1" dirty="0" smtClean="0">
                        <a:latin typeface="Cambria Math" panose="02040503050406030204" pitchFamily="18" charset="0"/>
                      </a:rPr>
                      <m:t> =</m:t>
                    </m:r>
                    <m:f>
                      <m:fPr>
                        <m:ctrlPr>
                          <a:rPr lang="en-US" sz="1600" b="1" i="1" smtClean="0">
                            <a:latin typeface="Cambria Math" panose="02040503050406030204" pitchFamily="18" charset="0"/>
                          </a:rPr>
                        </m:ctrlPr>
                      </m:fPr>
                      <m:num>
                        <m:r>
                          <m:rPr>
                            <m:nor/>
                          </m:rPr>
                          <a:rPr lang="en-US" sz="1600" b="1" dirty="0"/>
                          <m:t>(</m:t>
                        </m:r>
                        <m:sSub>
                          <m:sSubPr>
                            <m:ctrlPr>
                              <a:rPr lang="en-US" sz="1600" b="1" i="1" dirty="0" smtClean="0">
                                <a:latin typeface="Cambria Math" panose="02040503050406030204" pitchFamily="18" charset="0"/>
                              </a:rPr>
                            </m:ctrlPr>
                          </m:sSubPr>
                          <m:e>
                            <m:r>
                              <m:rPr>
                                <m:nor/>
                              </m:rPr>
                              <a:rPr lang="en-US" sz="1600" b="1" dirty="0"/>
                              <m:t>Num</m:t>
                            </m:r>
                            <m:r>
                              <m:rPr>
                                <m:nor/>
                              </m:rPr>
                              <a:rPr lang="en-US" sz="1600" b="1" dirty="0"/>
                              <m:t>_</m:t>
                            </m:r>
                            <m:r>
                              <m:rPr>
                                <m:nor/>
                              </m:rPr>
                              <a:rPr lang="en-US" sz="1600" b="1" dirty="0"/>
                              <m:t>Encounters</m:t>
                            </m:r>
                          </m:e>
                          <m:sub>
                            <m:r>
                              <a:rPr lang="en-US" sz="1600" b="1" i="1" dirty="0">
                                <a:latin typeface="Cambria Math" panose="02040503050406030204" pitchFamily="18" charset="0"/>
                              </a:rPr>
                              <m:t>𝒕</m:t>
                            </m:r>
                          </m:sub>
                        </m:sSub>
                        <m:r>
                          <m:rPr>
                            <m:nor/>
                          </m:rPr>
                          <a:rPr lang="en-US" sz="1600" b="1" dirty="0"/>
                          <m:t> − </m:t>
                        </m:r>
                        <m:sSub>
                          <m:sSubPr>
                            <m:ctrlPr>
                              <a:rPr lang="en-US" sz="1600" b="1" i="1" dirty="0" smtClean="0">
                                <a:latin typeface="Cambria Math" panose="02040503050406030204" pitchFamily="18" charset="0"/>
                              </a:rPr>
                            </m:ctrlPr>
                          </m:sSubPr>
                          <m:e>
                            <m:r>
                              <m:rPr>
                                <m:nor/>
                              </m:rPr>
                              <a:rPr lang="en-US" sz="1600" b="1" dirty="0"/>
                              <m:t>Num</m:t>
                            </m:r>
                            <m:r>
                              <m:rPr>
                                <m:nor/>
                              </m:rPr>
                              <a:rPr lang="en-US" sz="1600" b="1" dirty="0"/>
                              <m:t>_</m:t>
                            </m:r>
                            <m:r>
                              <m:rPr>
                                <m:nor/>
                              </m:rPr>
                              <a:rPr lang="en-US" sz="1600" b="1" dirty="0"/>
                              <m:t>Encounters</m:t>
                            </m:r>
                          </m:e>
                          <m:sub>
                            <m:r>
                              <a:rPr lang="en-US" sz="1600" b="1" i="1" dirty="0" smtClean="0">
                                <a:latin typeface="Cambria Math" panose="02040503050406030204" pitchFamily="18" charset="0"/>
                              </a:rPr>
                              <m:t>𝒕</m:t>
                            </m:r>
                            <m:r>
                              <a:rPr lang="en-US" sz="1600" b="1" i="1" dirty="0" smtClean="0">
                                <a:latin typeface="Cambria Math" panose="02040503050406030204" pitchFamily="18" charset="0"/>
                              </a:rPr>
                              <m:t>−</m:t>
                            </m:r>
                            <m:r>
                              <a:rPr lang="en-US" sz="1600" b="1" i="1" dirty="0" smtClean="0">
                                <a:latin typeface="Cambria Math" panose="02040503050406030204" pitchFamily="18" charset="0"/>
                              </a:rPr>
                              <m:t>𝟏</m:t>
                            </m:r>
                          </m:sub>
                        </m:sSub>
                        <m:r>
                          <m:rPr>
                            <m:nor/>
                          </m:rPr>
                          <a:rPr lang="en-US" sz="1600" b="1" dirty="0"/>
                          <m:t>)</m:t>
                        </m:r>
                      </m:num>
                      <m:den>
                        <m:sSub>
                          <m:sSubPr>
                            <m:ctrlPr>
                              <a:rPr lang="en-US" sz="1600" b="1" i="1" dirty="0">
                                <a:latin typeface="Cambria Math" panose="02040503050406030204" pitchFamily="18" charset="0"/>
                              </a:rPr>
                            </m:ctrlPr>
                          </m:sSubPr>
                          <m:e>
                            <m:r>
                              <m:rPr>
                                <m:nor/>
                              </m:rPr>
                              <a:rPr lang="en-US" sz="1600" b="1" i="0" dirty="0" smtClean="0">
                                <a:latin typeface="Cambria Math" panose="02040503050406030204" pitchFamily="18" charset="0"/>
                              </a:rPr>
                              <m:t>(</m:t>
                            </m:r>
                            <m:r>
                              <m:rPr>
                                <m:nor/>
                              </m:rPr>
                              <a:rPr lang="en-US" sz="1600" b="1" dirty="0"/>
                              <m:t>Num</m:t>
                            </m:r>
                            <m:r>
                              <m:rPr>
                                <m:nor/>
                              </m:rPr>
                              <a:rPr lang="en-US" sz="1600" b="1" dirty="0"/>
                              <m:t>_</m:t>
                            </m:r>
                            <m:r>
                              <m:rPr>
                                <m:nor/>
                              </m:rPr>
                              <a:rPr lang="en-US" sz="1600" b="1" dirty="0"/>
                              <m:t>Encounters</m:t>
                            </m:r>
                          </m:e>
                          <m:sub>
                            <m:r>
                              <a:rPr lang="en-US" sz="1600" b="1" i="1" dirty="0">
                                <a:latin typeface="Cambria Math" panose="02040503050406030204" pitchFamily="18" charset="0"/>
                              </a:rPr>
                              <m:t>𝒕</m:t>
                            </m:r>
                            <m:r>
                              <a:rPr lang="en-US" sz="1600" b="1" i="1" dirty="0">
                                <a:latin typeface="Cambria Math" panose="02040503050406030204" pitchFamily="18" charset="0"/>
                              </a:rPr>
                              <m:t>−</m:t>
                            </m:r>
                            <m:r>
                              <a:rPr lang="en-US" sz="1600" b="1" i="1" dirty="0">
                                <a:latin typeface="Cambria Math" panose="02040503050406030204" pitchFamily="18" charset="0"/>
                              </a:rPr>
                              <m:t>𝟏</m:t>
                            </m:r>
                          </m:sub>
                        </m:sSub>
                        <m:r>
                          <a:rPr lang="en-US" sz="1600" b="1" i="1" dirty="0" smtClean="0">
                            <a:latin typeface="Cambria Math" panose="02040503050406030204" pitchFamily="18" charset="0"/>
                          </a:rPr>
                          <m:t>+</m:t>
                        </m:r>
                        <m:r>
                          <a:rPr lang="en-US" sz="1600" b="1" i="1" dirty="0" smtClean="0">
                            <a:latin typeface="Cambria Math" panose="02040503050406030204" pitchFamily="18" charset="0"/>
                          </a:rPr>
                          <m:t>𝟏</m:t>
                        </m:r>
                        <m:r>
                          <a:rPr lang="en-US" sz="1600" b="1" i="1" dirty="0" smtClean="0">
                            <a:latin typeface="Cambria Math" panose="02040503050406030204" pitchFamily="18" charset="0"/>
                          </a:rPr>
                          <m:t>)</m:t>
                        </m:r>
                      </m:den>
                    </m:f>
                    <m:r>
                      <a:rPr lang="en-US" sz="1600" b="1" i="1" dirty="0" smtClean="0">
                        <a:latin typeface="Cambria Math" panose="02040503050406030204" pitchFamily="18" charset="0"/>
                      </a:rPr>
                      <m:t> ∗</m:t>
                    </m:r>
                    <m:r>
                      <a:rPr lang="en-US" sz="1600" b="1" i="1" dirty="0" smtClean="0">
                        <a:latin typeface="Cambria Math" panose="02040503050406030204" pitchFamily="18" charset="0"/>
                      </a:rPr>
                      <m:t>𝟏𝟎𝟎</m:t>
                    </m:r>
                  </m:oMath>
                </a14:m>
                <a:r>
                  <a:rPr lang="en-US" sz="1600" dirty="0"/>
                  <a:t> </a:t>
                </a:r>
              </a:p>
              <a:p>
                <a:pPr marL="0" indent="0">
                  <a:lnSpc>
                    <a:spcPct val="160000"/>
                  </a:lnSpc>
                  <a:buNone/>
                </a:pPr>
                <a:endParaRPr lang="en-US" sz="1400" b="1" dirty="0"/>
              </a:p>
              <a:p>
                <a:pPr>
                  <a:lnSpc>
                    <a:spcPct val="160000"/>
                  </a:lnSpc>
                </a:pPr>
                <a:r>
                  <a:rPr lang="en-US" sz="2000" dirty="0"/>
                  <a:t>Measures week-over-week relative increase in encounters</a:t>
                </a:r>
                <a:r>
                  <a:rPr lang="en-US" sz="1600" dirty="0"/>
                  <a:t>.</a:t>
                </a:r>
              </a:p>
              <a:p>
                <a:pPr marL="0" indent="0">
                  <a:lnSpc>
                    <a:spcPct val="160000"/>
                  </a:lnSpc>
                  <a:buNone/>
                </a:pPr>
                <a:endParaRPr lang="en-US" sz="1600" dirty="0"/>
              </a:p>
              <a:p>
                <a:pPr lvl="1">
                  <a:lnSpc>
                    <a:spcPct val="160000"/>
                  </a:lnSpc>
                </a:pPr>
                <a14:m>
                  <m:oMath xmlns:m="http://schemas.openxmlformats.org/officeDocument/2006/math">
                    <m:sSub>
                      <m:sSubPr>
                        <m:ctrlPr>
                          <a:rPr lang="en-US" sz="1600" b="1" i="1" dirty="0" smtClean="0">
                            <a:latin typeface="Cambria Math" panose="02040503050406030204" pitchFamily="18" charset="0"/>
                          </a:rPr>
                        </m:ctrlPr>
                      </m:sSubPr>
                      <m:e>
                        <m:r>
                          <m:rPr>
                            <m:nor/>
                          </m:rPr>
                          <a:rPr lang="en-US" sz="1600" b="1" dirty="0"/>
                          <m:t>Num</m:t>
                        </m:r>
                        <m:r>
                          <m:rPr>
                            <m:nor/>
                          </m:rPr>
                          <a:rPr lang="en-US" sz="1600" b="1" dirty="0"/>
                          <m:t>_</m:t>
                        </m:r>
                        <m:r>
                          <m:rPr>
                            <m:nor/>
                          </m:rPr>
                          <a:rPr lang="en-US" sz="1600" b="1" dirty="0"/>
                          <m:t>Encounters</m:t>
                        </m:r>
                      </m:e>
                      <m:sub>
                        <m:r>
                          <a:rPr lang="en-US" sz="1600" b="1" i="1" dirty="0">
                            <a:latin typeface="Cambria Math" panose="02040503050406030204" pitchFamily="18" charset="0"/>
                          </a:rPr>
                          <m:t>𝒕</m:t>
                        </m:r>
                      </m:sub>
                    </m:sSub>
                  </m:oMath>
                </a14:m>
                <a:r>
                  <a:rPr lang="en-US" sz="1600" b="1" i="1" dirty="0">
                    <a:latin typeface="Cambria Math" panose="02040503050406030204" pitchFamily="18" charset="0"/>
                  </a:rPr>
                  <a:t> </a:t>
                </a:r>
                <a:r>
                  <a:rPr lang="en-US" sz="1600" dirty="0"/>
                  <a:t>is the number of the encounters in the current week </a:t>
                </a:r>
                <a:r>
                  <a:rPr lang="en-US" sz="1600" b="1" i="1" dirty="0">
                    <a:latin typeface="Cambria Math" panose="02040503050406030204" pitchFamily="18" charset="0"/>
                  </a:rPr>
                  <a:t>					</a:t>
                </a:r>
              </a:p>
              <a:p>
                <a:pPr lvl="1">
                  <a:lnSpc>
                    <a:spcPct val="160000"/>
                  </a:lnSpc>
                </a:pPr>
                <a14:m>
                  <m:oMath xmlns:m="http://schemas.openxmlformats.org/officeDocument/2006/math">
                    <m:sSub>
                      <m:sSubPr>
                        <m:ctrlPr>
                          <a:rPr lang="en-US" sz="1600" b="1" i="1" dirty="0" smtClean="0">
                            <a:latin typeface="Cambria Math" panose="02040503050406030204" pitchFamily="18" charset="0"/>
                          </a:rPr>
                        </m:ctrlPr>
                      </m:sSubPr>
                      <m:e>
                        <m:r>
                          <m:rPr>
                            <m:nor/>
                          </m:rPr>
                          <a:rPr lang="en-US" sz="1600" b="1" dirty="0"/>
                          <m:t>Num</m:t>
                        </m:r>
                        <m:r>
                          <m:rPr>
                            <m:nor/>
                          </m:rPr>
                          <a:rPr lang="en-US" sz="1600" b="1" dirty="0"/>
                          <m:t>_</m:t>
                        </m:r>
                        <m:r>
                          <m:rPr>
                            <m:nor/>
                          </m:rPr>
                          <a:rPr lang="en-US" sz="1600" b="1" dirty="0"/>
                          <m:t>Encounters</m:t>
                        </m:r>
                      </m:e>
                      <m:sub>
                        <m:r>
                          <a:rPr lang="en-US" sz="1600" b="1" i="1" dirty="0" smtClean="0">
                            <a:latin typeface="Cambria Math" panose="02040503050406030204" pitchFamily="18" charset="0"/>
                          </a:rPr>
                          <m:t>𝒕</m:t>
                        </m:r>
                        <m:r>
                          <a:rPr lang="en-US" sz="1600" b="1" i="1" dirty="0" smtClean="0">
                            <a:latin typeface="Cambria Math" panose="02040503050406030204" pitchFamily="18" charset="0"/>
                          </a:rPr>
                          <m:t>−</m:t>
                        </m:r>
                        <m:r>
                          <a:rPr lang="en-US" sz="1600" b="1" i="1" dirty="0" smtClean="0">
                            <a:latin typeface="Cambria Math" panose="02040503050406030204" pitchFamily="18" charset="0"/>
                          </a:rPr>
                          <m:t>𝟏</m:t>
                        </m:r>
                      </m:sub>
                    </m:sSub>
                  </m:oMath>
                </a14:m>
                <a:r>
                  <a:rPr lang="en-US" sz="1600" dirty="0"/>
                  <a:t> is the number of the encounters in the previous week</a:t>
                </a:r>
              </a:p>
            </p:txBody>
          </p:sp>
        </mc:Choice>
        <mc:Fallback>
          <p:sp>
            <p:nvSpPr>
              <p:cNvPr id="2" name="Content Placeholder 1">
                <a:extLst>
                  <a:ext uri="{FF2B5EF4-FFF2-40B4-BE49-F238E27FC236}">
                    <a16:creationId xmlns:a16="http://schemas.microsoft.com/office/drawing/2014/main" id="{F06A1136-ADF8-4041-90C3-99C5CDEBE274}"/>
                  </a:ext>
                </a:extLst>
              </p:cNvPr>
              <p:cNvSpPr>
                <a:spLocks noGrp="1" noRot="1" noChangeAspect="1" noMove="1" noResize="1" noEditPoints="1" noAdjustHandles="1" noChangeArrowheads="1" noChangeShapeType="1" noTextEdit="1"/>
              </p:cNvSpPr>
              <p:nvPr>
                <p:ph idx="1"/>
              </p:nvPr>
            </p:nvSpPr>
            <p:spPr>
              <a:xfrm>
                <a:off x="609600" y="988383"/>
                <a:ext cx="10972800" cy="5367967"/>
              </a:xfrm>
              <a:blipFill>
                <a:blip r:embed="rId2"/>
                <a:stretch>
                  <a:fillRect l="-722"/>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46</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US" dirty="0"/>
              <a:t>Short-Term Anomaly Indicators</a:t>
            </a:r>
          </a:p>
        </p:txBody>
      </p:sp>
      <p:sp>
        <p:nvSpPr>
          <p:cNvPr id="6" name="TextBox 5">
            <a:extLst>
              <a:ext uri="{FF2B5EF4-FFF2-40B4-BE49-F238E27FC236}">
                <a16:creationId xmlns:a16="http://schemas.microsoft.com/office/drawing/2014/main" id="{73B435D2-48A8-4C6F-A7A5-286DDC5F78D7}"/>
              </a:ext>
            </a:extLst>
          </p:cNvPr>
          <p:cNvSpPr txBox="1"/>
          <p:nvPr/>
        </p:nvSpPr>
        <p:spPr>
          <a:xfrm>
            <a:off x="5638800" y="2971800"/>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27236345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fontScale="70000" lnSpcReduction="20000"/>
              </a:bodyPr>
              <a:lstStyle/>
              <a:p>
                <a:pPr>
                  <a:lnSpc>
                    <a:spcPct val="160000"/>
                  </a:lnSpc>
                </a:pPr>
                <a:r>
                  <a:rPr lang="en-US" sz="3100" b="1" dirty="0"/>
                  <a:t>2-Week Rolling Mean Percentage Change:</a:t>
                </a:r>
              </a:p>
              <a:p>
                <a:pPr>
                  <a:lnSpc>
                    <a:spcPct val="160000"/>
                  </a:lnSpc>
                </a:pPr>
                <a:r>
                  <a:rPr lang="en-US" sz="2800" dirty="0"/>
                  <a:t>Computed the moving average(MA) for two weeks:</a:t>
                </a:r>
                <a:endParaRPr lang="en-US" sz="2800" b="1" dirty="0"/>
              </a:p>
              <a:p>
                <a:pPr marL="0" indent="0">
                  <a:lnSpc>
                    <a:spcPct val="160000"/>
                  </a:lnSpc>
                  <a:buNone/>
                </a:pPr>
                <a14:m>
                  <m:oMathPara xmlns:m="http://schemas.openxmlformats.org/officeDocument/2006/math">
                    <m:oMathParaPr>
                      <m:jc m:val="centerGroup"/>
                    </m:oMathParaPr>
                    <m:oMath xmlns:m="http://schemas.openxmlformats.org/officeDocument/2006/math">
                      <m:sSub>
                        <m:sSubPr>
                          <m:ctrlPr>
                            <a:rPr lang="en-US" sz="2100" b="1" i="1" dirty="0" smtClean="0">
                              <a:latin typeface="Cambria Math" panose="02040503050406030204" pitchFamily="18" charset="0"/>
                            </a:rPr>
                          </m:ctrlPr>
                        </m:sSubPr>
                        <m:e>
                          <m:r>
                            <a:rPr lang="en-US" sz="2100" b="1" i="1" dirty="0" smtClean="0">
                              <a:latin typeface="Cambria Math" panose="02040503050406030204" pitchFamily="18" charset="0"/>
                            </a:rPr>
                            <m:t>𝑴𝑨</m:t>
                          </m:r>
                        </m:e>
                        <m:sub>
                          <m:r>
                            <a:rPr lang="en-US" sz="2100" b="1" i="1" dirty="0" smtClean="0">
                              <a:latin typeface="Cambria Math" panose="02040503050406030204" pitchFamily="18" charset="0"/>
                            </a:rPr>
                            <m:t>𝟐</m:t>
                          </m:r>
                          <m:r>
                            <a:rPr lang="en-US" sz="2100" b="1" i="1" dirty="0" smtClean="0">
                              <a:latin typeface="Cambria Math" panose="02040503050406030204" pitchFamily="18" charset="0"/>
                            </a:rPr>
                            <m:t>,</m:t>
                          </m:r>
                          <m:r>
                            <a:rPr lang="en-US" sz="2100" b="1" i="1" dirty="0" smtClean="0">
                              <a:latin typeface="Cambria Math" panose="02040503050406030204" pitchFamily="18" charset="0"/>
                            </a:rPr>
                            <m:t>𝒕</m:t>
                          </m:r>
                        </m:sub>
                      </m:sSub>
                      <m:r>
                        <a:rPr lang="en-US" sz="2100" b="1" i="1" dirty="0" smtClean="0">
                          <a:latin typeface="Cambria Math" panose="02040503050406030204" pitchFamily="18" charset="0"/>
                        </a:rPr>
                        <m:t>=</m:t>
                      </m:r>
                      <m:f>
                        <m:fPr>
                          <m:ctrlPr>
                            <a:rPr lang="en-US" sz="2100" b="1" i="1" smtClean="0">
                              <a:latin typeface="Cambria Math" panose="02040503050406030204" pitchFamily="18" charset="0"/>
                            </a:rPr>
                          </m:ctrlPr>
                        </m:fPr>
                        <m:num>
                          <m:nary>
                            <m:naryPr>
                              <m:chr m:val="∑"/>
                              <m:limLoc m:val="subSup"/>
                              <m:ctrlPr>
                                <a:rPr lang="en-US" sz="2100" b="1" i="1" smtClean="0">
                                  <a:latin typeface="Cambria Math" panose="02040503050406030204" pitchFamily="18" charset="0"/>
                                </a:rPr>
                              </m:ctrlPr>
                            </m:naryPr>
                            <m:sub>
                              <m:r>
                                <m:rPr>
                                  <m:brk m:alnAt="25"/>
                                </m:rPr>
                                <a:rPr lang="en-US" sz="2100" b="1" i="1" smtClean="0">
                                  <a:latin typeface="Cambria Math" panose="02040503050406030204" pitchFamily="18" charset="0"/>
                                </a:rPr>
                                <m:t>𝒊</m:t>
                              </m:r>
                              <m:r>
                                <a:rPr lang="en-US" sz="2100" b="1" i="1" smtClean="0">
                                  <a:latin typeface="Cambria Math" panose="02040503050406030204" pitchFamily="18" charset="0"/>
                                </a:rPr>
                                <m:t>=</m:t>
                              </m:r>
                              <m:r>
                                <a:rPr lang="en-US" sz="2100" b="1" i="1" smtClean="0">
                                  <a:latin typeface="Cambria Math" panose="02040503050406030204" pitchFamily="18" charset="0"/>
                                </a:rPr>
                                <m:t>𝒕</m:t>
                              </m:r>
                              <m:r>
                                <a:rPr lang="en-US" sz="2100" b="1" i="1" smtClean="0">
                                  <a:latin typeface="Cambria Math" panose="02040503050406030204" pitchFamily="18" charset="0"/>
                                </a:rPr>
                                <m:t>−</m:t>
                              </m:r>
                              <m:r>
                                <a:rPr lang="en-US" sz="2100" b="1" i="1" smtClean="0">
                                  <a:latin typeface="Cambria Math" panose="02040503050406030204" pitchFamily="18" charset="0"/>
                                </a:rPr>
                                <m:t>𝟏</m:t>
                              </m:r>
                            </m:sub>
                            <m:sup>
                              <m:r>
                                <a:rPr lang="en-US" sz="2100" b="1" i="1" smtClean="0">
                                  <a:latin typeface="Cambria Math" panose="02040503050406030204" pitchFamily="18" charset="0"/>
                                </a:rPr>
                                <m:t>𝒕</m:t>
                              </m:r>
                            </m:sup>
                            <m:e>
                              <m:sSub>
                                <m:sSubPr>
                                  <m:ctrlPr>
                                    <a:rPr lang="en-US" sz="2100" b="1" i="1" dirty="0">
                                      <a:latin typeface="Cambria Math" panose="02040503050406030204" pitchFamily="18" charset="0"/>
                                    </a:rPr>
                                  </m:ctrlPr>
                                </m:sSubPr>
                                <m:e>
                                  <m:r>
                                    <m:rPr>
                                      <m:nor/>
                                    </m:rPr>
                                    <a:rPr lang="en-US" sz="2100" b="1" dirty="0"/>
                                    <m:t>Num</m:t>
                                  </m:r>
                                  <m:r>
                                    <m:rPr>
                                      <m:nor/>
                                    </m:rPr>
                                    <a:rPr lang="en-US" sz="2100" b="1" dirty="0"/>
                                    <m:t>_</m:t>
                                  </m:r>
                                  <m:r>
                                    <m:rPr>
                                      <m:nor/>
                                    </m:rPr>
                                    <a:rPr lang="en-US" sz="2100" b="1" dirty="0"/>
                                    <m:t>Encounters</m:t>
                                  </m:r>
                                </m:e>
                                <m:sub>
                                  <m:r>
                                    <a:rPr lang="en-US" sz="2100" b="1" i="1" dirty="0">
                                      <a:latin typeface="Cambria Math" panose="02040503050406030204" pitchFamily="18" charset="0"/>
                                    </a:rPr>
                                    <m:t>𝒕</m:t>
                                  </m:r>
                                </m:sub>
                              </m:sSub>
                            </m:e>
                          </m:nary>
                        </m:num>
                        <m:den>
                          <m:r>
                            <a:rPr lang="en-US" sz="2100" b="1" i="1" dirty="0" smtClean="0">
                              <a:latin typeface="Cambria Math" panose="02040503050406030204" pitchFamily="18" charset="0"/>
                            </a:rPr>
                            <m:t>𝟐</m:t>
                          </m:r>
                        </m:den>
                      </m:f>
                    </m:oMath>
                  </m:oMathPara>
                </a14:m>
                <a:endParaRPr lang="en-US" sz="2100" dirty="0"/>
              </a:p>
              <a:p>
                <a:pPr marL="0" indent="0">
                  <a:lnSpc>
                    <a:spcPct val="160000"/>
                  </a:lnSpc>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𝒄𝒉𝒂𝒏𝒈𝒆</m:t>
                      </m:r>
                      <m:r>
                        <a:rPr lang="en-US" sz="2100" b="1" i="1" smtClean="0">
                          <a:latin typeface="Cambria Math" panose="02040503050406030204" pitchFamily="18" charset="0"/>
                        </a:rPr>
                        <m:t> </m:t>
                      </m:r>
                      <m:r>
                        <a:rPr lang="en-US" sz="2100" b="1" i="1" smtClean="0">
                          <a:latin typeface="Cambria Math" panose="02040503050406030204" pitchFamily="18" charset="0"/>
                        </a:rPr>
                        <m:t>𝒊𝒏</m:t>
                      </m:r>
                      <m:r>
                        <a:rPr lang="en-US" sz="2100" b="1" i="1" smtClean="0">
                          <a:latin typeface="Cambria Math" panose="02040503050406030204" pitchFamily="18" charset="0"/>
                        </a:rPr>
                        <m:t> </m:t>
                      </m:r>
                      <m:r>
                        <a:rPr lang="en-US" sz="2100" b="1" i="1" smtClean="0">
                          <a:latin typeface="Cambria Math" panose="02040503050406030204" pitchFamily="18" charset="0"/>
                        </a:rPr>
                        <m:t>𝟐</m:t>
                      </m:r>
                      <m:r>
                        <a:rPr lang="en-US" sz="2100" b="1" i="1" smtClean="0">
                          <a:latin typeface="Cambria Math" panose="02040503050406030204" pitchFamily="18" charset="0"/>
                        </a:rPr>
                        <m:t> </m:t>
                      </m:r>
                      <m:r>
                        <a:rPr lang="en-US" sz="2100" b="1" i="1" smtClean="0">
                          <a:latin typeface="Cambria Math" panose="02040503050406030204" pitchFamily="18" charset="0"/>
                        </a:rPr>
                        <m:t>𝒘𝒆𝒆𝒌</m:t>
                      </m:r>
                      <m:r>
                        <a:rPr lang="en-US" sz="2100" b="1" i="1" smtClean="0">
                          <a:latin typeface="Cambria Math" panose="02040503050406030204" pitchFamily="18" charset="0"/>
                        </a:rPr>
                        <m:t> </m:t>
                      </m:r>
                      <m:r>
                        <a:rPr lang="en-US" sz="2100" b="1" i="1" smtClean="0">
                          <a:latin typeface="Cambria Math" panose="02040503050406030204" pitchFamily="18" charset="0"/>
                        </a:rPr>
                        <m:t>𝑴𝒆𝒂𝒏</m:t>
                      </m:r>
                      <m:r>
                        <a:rPr lang="en-US" sz="2100" b="1" i="1" smtClean="0">
                          <a:latin typeface="Cambria Math" panose="02040503050406030204" pitchFamily="18" charset="0"/>
                        </a:rPr>
                        <m:t>= </m:t>
                      </m:r>
                      <m:f>
                        <m:fPr>
                          <m:ctrlPr>
                            <a:rPr lang="en-US" sz="2100" b="1" i="1" smtClean="0">
                              <a:latin typeface="Cambria Math" panose="02040503050406030204" pitchFamily="18" charset="0"/>
                            </a:rPr>
                          </m:ctrlPr>
                        </m:fPr>
                        <m:num>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𝑴𝑨</m:t>
                              </m:r>
                            </m:e>
                            <m:sub>
                              <m:r>
                                <a:rPr lang="en-US" sz="2100" b="1" i="1" dirty="0">
                                  <a:latin typeface="Cambria Math" panose="02040503050406030204" pitchFamily="18" charset="0"/>
                                </a:rPr>
                                <m:t>𝟐</m:t>
                              </m:r>
                              <m:r>
                                <a:rPr lang="en-US" sz="2100" b="1" i="1" dirty="0">
                                  <a:latin typeface="Cambria Math" panose="02040503050406030204" pitchFamily="18" charset="0"/>
                                </a:rPr>
                                <m:t>,</m:t>
                              </m:r>
                              <m:r>
                                <a:rPr lang="en-US" sz="2100" b="1" i="1" dirty="0">
                                  <a:latin typeface="Cambria Math" panose="02040503050406030204" pitchFamily="18" charset="0"/>
                                </a:rPr>
                                <m:t>𝒕</m:t>
                              </m:r>
                            </m:sub>
                          </m:sSub>
                          <m:r>
                            <a:rPr lang="en-US" sz="2100" b="1" i="1" dirty="0" smtClean="0">
                              <a:latin typeface="Cambria Math" panose="02040503050406030204" pitchFamily="18" charset="0"/>
                            </a:rPr>
                            <m:t>  −</m:t>
                          </m:r>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𝑴𝑨</m:t>
                              </m:r>
                            </m:e>
                            <m:sub>
                              <m:r>
                                <a:rPr lang="en-US" sz="2100" b="1" i="1" dirty="0">
                                  <a:latin typeface="Cambria Math" panose="02040503050406030204" pitchFamily="18" charset="0"/>
                                </a:rPr>
                                <m:t>𝟐</m:t>
                              </m:r>
                              <m:r>
                                <a:rPr lang="en-US" sz="2100" b="1" i="1" dirty="0">
                                  <a:latin typeface="Cambria Math" panose="02040503050406030204" pitchFamily="18" charset="0"/>
                                </a:rPr>
                                <m:t>,</m:t>
                              </m:r>
                              <m:r>
                                <a:rPr lang="en-US" sz="2100" b="1" i="1" dirty="0">
                                  <a:latin typeface="Cambria Math" panose="02040503050406030204" pitchFamily="18" charset="0"/>
                                </a:rPr>
                                <m:t>𝒕</m:t>
                              </m:r>
                              <m:r>
                                <a:rPr lang="en-US" sz="2100" b="1" i="1" dirty="0" smtClean="0">
                                  <a:latin typeface="Cambria Math" panose="02040503050406030204" pitchFamily="18" charset="0"/>
                                </a:rPr>
                                <m:t>−</m:t>
                              </m:r>
                              <m:r>
                                <a:rPr lang="en-US" sz="2100" b="1" i="1" dirty="0" smtClean="0">
                                  <a:latin typeface="Cambria Math" panose="02040503050406030204" pitchFamily="18" charset="0"/>
                                </a:rPr>
                                <m:t>𝟏</m:t>
                              </m:r>
                            </m:sub>
                          </m:sSub>
                        </m:num>
                        <m:den>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𝑴𝑨</m:t>
                              </m:r>
                            </m:e>
                            <m:sub>
                              <m:r>
                                <a:rPr lang="en-US" sz="2100" b="1" i="1" dirty="0">
                                  <a:latin typeface="Cambria Math" panose="02040503050406030204" pitchFamily="18" charset="0"/>
                                </a:rPr>
                                <m:t>𝟐</m:t>
                              </m:r>
                              <m:r>
                                <a:rPr lang="en-US" sz="2100" b="1" i="1" dirty="0">
                                  <a:latin typeface="Cambria Math" panose="02040503050406030204" pitchFamily="18" charset="0"/>
                                </a:rPr>
                                <m:t>,</m:t>
                              </m:r>
                              <m:r>
                                <a:rPr lang="en-US" sz="2100" b="1" i="1" dirty="0">
                                  <a:latin typeface="Cambria Math" panose="02040503050406030204" pitchFamily="18" charset="0"/>
                                </a:rPr>
                                <m:t>𝒕</m:t>
                              </m:r>
                              <m:r>
                                <a:rPr lang="en-US" sz="2100" b="1" i="1" dirty="0">
                                  <a:latin typeface="Cambria Math" panose="02040503050406030204" pitchFamily="18" charset="0"/>
                                </a:rPr>
                                <m:t>−</m:t>
                              </m:r>
                              <m:r>
                                <a:rPr lang="en-US" sz="2100" b="1" i="1" dirty="0">
                                  <a:latin typeface="Cambria Math" panose="02040503050406030204" pitchFamily="18" charset="0"/>
                                </a:rPr>
                                <m:t>𝟏</m:t>
                              </m:r>
                            </m:sub>
                          </m:sSub>
                        </m:den>
                      </m:f>
                      <m:r>
                        <a:rPr lang="en-US" sz="2100" b="1" i="1" smtClean="0">
                          <a:latin typeface="Cambria Math" panose="02040503050406030204" pitchFamily="18" charset="0"/>
                        </a:rPr>
                        <m:t>∗</m:t>
                      </m:r>
                      <m:r>
                        <a:rPr lang="en-US" sz="2100" b="1" i="1" smtClean="0">
                          <a:latin typeface="Cambria Math" panose="02040503050406030204" pitchFamily="18" charset="0"/>
                        </a:rPr>
                        <m:t>𝟏𝟎𝟎</m:t>
                      </m:r>
                      <m:r>
                        <a:rPr lang="en-US" sz="2100" b="1" i="1" smtClean="0">
                          <a:latin typeface="Cambria Math" panose="02040503050406030204" pitchFamily="18" charset="0"/>
                        </a:rPr>
                        <m:t> </m:t>
                      </m:r>
                    </m:oMath>
                  </m:oMathPara>
                </a14:m>
                <a:endParaRPr lang="en-US" sz="2100" b="1" dirty="0"/>
              </a:p>
              <a:p>
                <a:pPr marL="0" indent="0">
                  <a:lnSpc>
                    <a:spcPct val="160000"/>
                  </a:lnSpc>
                  <a:buNone/>
                </a:pPr>
                <a:r>
                  <a:rPr lang="en-US" sz="1400" b="1" dirty="0"/>
                  <a:t>	</a:t>
                </a:r>
              </a:p>
              <a:p>
                <a:pPr>
                  <a:lnSpc>
                    <a:spcPct val="160000"/>
                  </a:lnSpc>
                </a:pPr>
                <a:r>
                  <a:rPr lang="en-US" sz="3100" b="1" dirty="0"/>
                  <a:t>3-Week Rolling Mean Percentage Change:</a:t>
                </a:r>
              </a:p>
              <a:p>
                <a:pPr>
                  <a:lnSpc>
                    <a:spcPct val="160000"/>
                  </a:lnSpc>
                </a:pPr>
                <a:r>
                  <a:rPr lang="en-US" sz="2800" dirty="0"/>
                  <a:t>Computed the moving average for 4 weeks:</a:t>
                </a:r>
                <a:endParaRPr lang="en-US" sz="2800" b="1" dirty="0"/>
              </a:p>
              <a:p>
                <a:pPr marL="0" indent="0">
                  <a:lnSpc>
                    <a:spcPct val="160000"/>
                  </a:lnSpc>
                  <a:buNone/>
                </a:pPr>
                <a14:m>
                  <m:oMathPara xmlns:m="http://schemas.openxmlformats.org/officeDocument/2006/math">
                    <m:oMathParaPr>
                      <m:jc m:val="centerGroup"/>
                    </m:oMathParaPr>
                    <m:oMath xmlns:m="http://schemas.openxmlformats.org/officeDocument/2006/math">
                      <m:sSub>
                        <m:sSubPr>
                          <m:ctrlPr>
                            <a:rPr lang="en-US" sz="2000" b="1" i="1" dirty="0" smtClean="0">
                              <a:latin typeface="Cambria Math" panose="02040503050406030204" pitchFamily="18" charset="0"/>
                            </a:rPr>
                          </m:ctrlPr>
                        </m:sSubPr>
                        <m:e>
                          <m:r>
                            <a:rPr lang="en-US" sz="2000" b="1" i="1" dirty="0" smtClean="0">
                              <a:latin typeface="Cambria Math" panose="02040503050406030204" pitchFamily="18" charset="0"/>
                            </a:rPr>
                            <m:t>𝑴𝑨</m:t>
                          </m:r>
                        </m:e>
                        <m:sub>
                          <m:r>
                            <a:rPr lang="en-US" sz="2000" b="1" i="1" dirty="0" smtClean="0">
                              <a:latin typeface="Cambria Math" panose="02040503050406030204" pitchFamily="18" charset="0"/>
                            </a:rPr>
                            <m:t>𝟒</m:t>
                          </m:r>
                          <m:r>
                            <a:rPr lang="en-US" sz="2000" b="1" i="1" dirty="0" smtClean="0">
                              <a:latin typeface="Cambria Math" panose="02040503050406030204" pitchFamily="18" charset="0"/>
                            </a:rPr>
                            <m:t>,</m:t>
                          </m:r>
                          <m:r>
                            <a:rPr lang="en-US" sz="2000" b="1" i="1" dirty="0" smtClean="0">
                              <a:latin typeface="Cambria Math" panose="02040503050406030204" pitchFamily="18" charset="0"/>
                            </a:rPr>
                            <m:t>𝒕</m:t>
                          </m:r>
                        </m:sub>
                      </m:sSub>
                      <m:r>
                        <a:rPr lang="en-US" sz="2000" b="1" i="1" dirty="0" smtClean="0">
                          <a:latin typeface="Cambria Math" panose="02040503050406030204" pitchFamily="18" charset="0"/>
                        </a:rPr>
                        <m:t>=</m:t>
                      </m:r>
                      <m:f>
                        <m:fPr>
                          <m:ctrlPr>
                            <a:rPr lang="en-US" sz="2000" b="1" i="1" smtClean="0">
                              <a:latin typeface="Cambria Math" panose="02040503050406030204" pitchFamily="18" charset="0"/>
                            </a:rPr>
                          </m:ctrlPr>
                        </m:fPr>
                        <m:num>
                          <m:nary>
                            <m:naryPr>
                              <m:chr m:val="∑"/>
                              <m:limLoc m:val="subSup"/>
                              <m:ctrlPr>
                                <a:rPr lang="en-US" sz="2000" b="1" i="1" smtClean="0">
                                  <a:latin typeface="Cambria Math" panose="02040503050406030204" pitchFamily="18" charset="0"/>
                                </a:rPr>
                              </m:ctrlPr>
                            </m:naryPr>
                            <m:sub>
                              <m:r>
                                <m:rPr>
                                  <m:brk m:alnAt="25"/>
                                </m:rPr>
                                <a:rPr lang="en-US" sz="2000" b="1" i="1" smtClean="0">
                                  <a:latin typeface="Cambria Math" panose="02040503050406030204" pitchFamily="18" charset="0"/>
                                </a:rPr>
                                <m:t>𝒊</m:t>
                              </m:r>
                              <m:r>
                                <a:rPr lang="en-US" sz="2000" b="1" i="1" smtClean="0">
                                  <a:latin typeface="Cambria Math" panose="02040503050406030204" pitchFamily="18" charset="0"/>
                                </a:rPr>
                                <m:t>=</m:t>
                              </m:r>
                              <m:r>
                                <a:rPr lang="en-US" sz="2000" b="1" i="1" smtClean="0">
                                  <a:latin typeface="Cambria Math" panose="02040503050406030204" pitchFamily="18" charset="0"/>
                                </a:rPr>
                                <m:t>𝒕</m:t>
                              </m:r>
                              <m:r>
                                <a:rPr lang="en-US" sz="2000" b="1" i="1" smtClean="0">
                                  <a:latin typeface="Cambria Math" panose="02040503050406030204" pitchFamily="18" charset="0"/>
                                </a:rPr>
                                <m:t>−</m:t>
                              </m:r>
                              <m:r>
                                <a:rPr lang="en-US" sz="2000" b="1" i="1" smtClean="0">
                                  <a:latin typeface="Cambria Math" panose="02040503050406030204" pitchFamily="18" charset="0"/>
                                </a:rPr>
                                <m:t>𝟏</m:t>
                              </m:r>
                            </m:sub>
                            <m:sup>
                              <m:r>
                                <a:rPr lang="en-US" sz="2000" b="1" i="1" smtClean="0">
                                  <a:latin typeface="Cambria Math" panose="02040503050406030204" pitchFamily="18" charset="0"/>
                                </a:rPr>
                                <m:t>𝒕</m:t>
                              </m:r>
                            </m:sup>
                            <m:e>
                              <m:sSub>
                                <m:sSubPr>
                                  <m:ctrlPr>
                                    <a:rPr lang="en-US" sz="2000" b="1" i="1" dirty="0">
                                      <a:latin typeface="Cambria Math" panose="02040503050406030204" pitchFamily="18" charset="0"/>
                                    </a:rPr>
                                  </m:ctrlPr>
                                </m:sSubPr>
                                <m:e>
                                  <m:r>
                                    <m:rPr>
                                      <m:nor/>
                                    </m:rPr>
                                    <a:rPr lang="en-US" sz="2000" b="1" dirty="0"/>
                                    <m:t>Num</m:t>
                                  </m:r>
                                  <m:r>
                                    <m:rPr>
                                      <m:nor/>
                                    </m:rPr>
                                    <a:rPr lang="en-US" sz="2000" b="1" dirty="0"/>
                                    <m:t>_</m:t>
                                  </m:r>
                                  <m:r>
                                    <m:rPr>
                                      <m:nor/>
                                    </m:rPr>
                                    <a:rPr lang="en-US" sz="2000" b="1" dirty="0"/>
                                    <m:t>Encounters</m:t>
                                  </m:r>
                                </m:e>
                                <m:sub>
                                  <m:r>
                                    <a:rPr lang="en-US" sz="2000" b="1" i="1" dirty="0">
                                      <a:latin typeface="Cambria Math" panose="02040503050406030204" pitchFamily="18" charset="0"/>
                                    </a:rPr>
                                    <m:t>𝒕</m:t>
                                  </m:r>
                                </m:sub>
                              </m:sSub>
                            </m:e>
                          </m:nary>
                        </m:num>
                        <m:den>
                          <m:r>
                            <a:rPr lang="en-US" sz="2000" b="1" i="1" dirty="0" smtClean="0">
                              <a:latin typeface="Cambria Math" panose="02040503050406030204" pitchFamily="18" charset="0"/>
                            </a:rPr>
                            <m:t>𝟒</m:t>
                          </m:r>
                        </m:den>
                      </m:f>
                    </m:oMath>
                  </m:oMathPara>
                </a14:m>
                <a:endParaRPr lang="en-US" sz="2000" dirty="0"/>
              </a:p>
              <a:p>
                <a:pPr marL="0" indent="0">
                  <a:lnSpc>
                    <a:spcPct val="160000"/>
                  </a:lnSpc>
                  <a:buNone/>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𝒄𝒉𝒂𝒏𝒈𝒆</m:t>
                      </m:r>
                      <m:r>
                        <a:rPr lang="en-US" sz="2000" b="1" i="1" smtClean="0">
                          <a:latin typeface="Cambria Math" panose="02040503050406030204" pitchFamily="18" charset="0"/>
                        </a:rPr>
                        <m:t> </m:t>
                      </m:r>
                      <m:r>
                        <a:rPr lang="en-US" sz="2000" b="1" i="1" smtClean="0">
                          <a:latin typeface="Cambria Math" panose="02040503050406030204" pitchFamily="18" charset="0"/>
                        </a:rPr>
                        <m:t>𝒊𝒏</m:t>
                      </m:r>
                      <m:r>
                        <a:rPr lang="en-US" sz="2000" b="1" i="1" smtClean="0">
                          <a:latin typeface="Cambria Math" panose="02040503050406030204" pitchFamily="18" charset="0"/>
                        </a:rPr>
                        <m:t> </m:t>
                      </m:r>
                      <m:r>
                        <a:rPr lang="en-US" sz="2000" b="1" i="1" smtClean="0">
                          <a:latin typeface="Cambria Math" panose="02040503050406030204" pitchFamily="18" charset="0"/>
                        </a:rPr>
                        <m:t>𝟒</m:t>
                      </m:r>
                      <m:r>
                        <a:rPr lang="en-US" sz="2000" b="1" i="1" smtClean="0">
                          <a:latin typeface="Cambria Math" panose="02040503050406030204" pitchFamily="18" charset="0"/>
                        </a:rPr>
                        <m:t> </m:t>
                      </m:r>
                      <m:r>
                        <a:rPr lang="en-US" sz="2000" b="1" i="1" smtClean="0">
                          <a:latin typeface="Cambria Math" panose="02040503050406030204" pitchFamily="18" charset="0"/>
                        </a:rPr>
                        <m:t>𝒘𝒆𝒆𝒌</m:t>
                      </m:r>
                      <m:r>
                        <a:rPr lang="en-US" sz="2000" b="1" i="1" smtClean="0">
                          <a:latin typeface="Cambria Math" panose="02040503050406030204" pitchFamily="18" charset="0"/>
                        </a:rPr>
                        <m:t> </m:t>
                      </m:r>
                      <m:r>
                        <a:rPr lang="en-US" sz="2000" b="1" i="1" smtClean="0">
                          <a:latin typeface="Cambria Math" panose="02040503050406030204" pitchFamily="18" charset="0"/>
                        </a:rPr>
                        <m:t>𝑴𝒆𝒂𝒏</m:t>
                      </m:r>
                      <m:r>
                        <a:rPr lang="en-US" sz="2000" b="1" i="1" smtClean="0">
                          <a:latin typeface="Cambria Math" panose="02040503050406030204" pitchFamily="18" charset="0"/>
                        </a:rPr>
                        <m:t>= </m:t>
                      </m:r>
                      <m:f>
                        <m:fPr>
                          <m:ctrlPr>
                            <a:rPr lang="en-US" sz="2000" b="1" i="1" smtClean="0">
                              <a:latin typeface="Cambria Math" panose="02040503050406030204" pitchFamily="18" charset="0"/>
                            </a:rPr>
                          </m:ctrlPr>
                        </m:fPr>
                        <m:num>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𝑴𝑨</m:t>
                              </m:r>
                            </m:e>
                            <m:sub>
                              <m:r>
                                <a:rPr lang="en-US" sz="2000" b="1" i="1" dirty="0" smtClean="0">
                                  <a:latin typeface="Cambria Math" panose="02040503050406030204" pitchFamily="18" charset="0"/>
                                </a:rPr>
                                <m:t>𝟒</m:t>
                              </m:r>
                              <m:r>
                                <a:rPr lang="en-US" sz="2000" b="1" i="1" dirty="0">
                                  <a:latin typeface="Cambria Math" panose="02040503050406030204" pitchFamily="18" charset="0"/>
                                </a:rPr>
                                <m:t>,</m:t>
                              </m:r>
                              <m:r>
                                <a:rPr lang="en-US" sz="2000" b="1" i="1" dirty="0">
                                  <a:latin typeface="Cambria Math" panose="02040503050406030204" pitchFamily="18" charset="0"/>
                                </a:rPr>
                                <m:t>𝒕</m:t>
                              </m:r>
                            </m:sub>
                          </m:sSub>
                          <m:r>
                            <a:rPr lang="en-US" sz="2000" b="1" i="1" dirty="0" smtClean="0">
                              <a:latin typeface="Cambria Math" panose="02040503050406030204" pitchFamily="18" charset="0"/>
                            </a:rPr>
                            <m:t>  −</m:t>
                          </m:r>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𝑴𝑨</m:t>
                              </m:r>
                            </m:e>
                            <m:sub>
                              <m:r>
                                <a:rPr lang="en-US" sz="2000" b="1" i="1" dirty="0" smtClean="0">
                                  <a:latin typeface="Cambria Math" panose="02040503050406030204" pitchFamily="18" charset="0"/>
                                </a:rPr>
                                <m:t>𝟒</m:t>
                              </m:r>
                              <m:r>
                                <a:rPr lang="en-US" sz="2000" b="1" i="1" dirty="0">
                                  <a:latin typeface="Cambria Math" panose="02040503050406030204" pitchFamily="18" charset="0"/>
                                </a:rPr>
                                <m:t>,</m:t>
                              </m:r>
                              <m:r>
                                <a:rPr lang="en-US" sz="2000" b="1" i="1" dirty="0">
                                  <a:latin typeface="Cambria Math" panose="02040503050406030204" pitchFamily="18" charset="0"/>
                                </a:rPr>
                                <m:t>𝒕</m:t>
                              </m:r>
                              <m:r>
                                <a:rPr lang="en-US" sz="2000" b="1" i="1" dirty="0" smtClean="0">
                                  <a:latin typeface="Cambria Math" panose="02040503050406030204" pitchFamily="18" charset="0"/>
                                </a:rPr>
                                <m:t>−</m:t>
                              </m:r>
                              <m:r>
                                <a:rPr lang="en-US" sz="2000" b="1" i="1" dirty="0" smtClean="0">
                                  <a:latin typeface="Cambria Math" panose="02040503050406030204" pitchFamily="18" charset="0"/>
                                </a:rPr>
                                <m:t>𝟏</m:t>
                              </m:r>
                            </m:sub>
                          </m:sSub>
                        </m:num>
                        <m:den>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𝑴𝑨</m:t>
                              </m:r>
                            </m:e>
                            <m:sub>
                              <m:r>
                                <a:rPr lang="en-US" sz="2000" b="1" i="1" dirty="0" smtClean="0">
                                  <a:latin typeface="Cambria Math" panose="02040503050406030204" pitchFamily="18" charset="0"/>
                                </a:rPr>
                                <m:t>𝟒</m:t>
                              </m:r>
                              <m:r>
                                <a:rPr lang="en-US" sz="2000" b="1" i="1" dirty="0">
                                  <a:latin typeface="Cambria Math" panose="02040503050406030204" pitchFamily="18" charset="0"/>
                                </a:rPr>
                                <m:t>,</m:t>
                              </m:r>
                              <m:r>
                                <a:rPr lang="en-US" sz="2000" b="1" i="1" dirty="0">
                                  <a:latin typeface="Cambria Math" panose="02040503050406030204" pitchFamily="18" charset="0"/>
                                </a:rPr>
                                <m:t>𝒕</m:t>
                              </m:r>
                              <m:r>
                                <a:rPr lang="en-US" sz="2000" b="1" i="1" dirty="0">
                                  <a:latin typeface="Cambria Math" panose="02040503050406030204" pitchFamily="18" charset="0"/>
                                </a:rPr>
                                <m:t>−</m:t>
                              </m:r>
                              <m:r>
                                <a:rPr lang="en-US" sz="2000" b="1" i="1" dirty="0">
                                  <a:latin typeface="Cambria Math" panose="02040503050406030204" pitchFamily="18" charset="0"/>
                                </a:rPr>
                                <m:t>𝟏</m:t>
                              </m:r>
                            </m:sub>
                          </m:sSub>
                        </m:den>
                      </m:f>
                      <m:r>
                        <a:rPr lang="en-US" sz="2000" b="1" i="1" smtClean="0">
                          <a:latin typeface="Cambria Math" panose="02040503050406030204" pitchFamily="18" charset="0"/>
                        </a:rPr>
                        <m:t>∗</m:t>
                      </m:r>
                      <m:r>
                        <a:rPr lang="en-US" sz="2000" b="1" i="1" smtClean="0">
                          <a:latin typeface="Cambria Math" panose="02040503050406030204" pitchFamily="18" charset="0"/>
                        </a:rPr>
                        <m:t>𝟏𝟎𝟎</m:t>
                      </m:r>
                      <m:r>
                        <a:rPr lang="en-US" sz="2000" b="1" i="1" smtClean="0">
                          <a:latin typeface="Cambria Math" panose="02040503050406030204" pitchFamily="18" charset="0"/>
                        </a:rPr>
                        <m:t> </m:t>
                      </m:r>
                    </m:oMath>
                  </m:oMathPara>
                </a14:m>
                <a:endParaRPr lang="en-US" sz="2000" b="1" dirty="0"/>
              </a:p>
            </p:txBody>
          </p:sp>
        </mc:Choice>
        <mc:Fallback>
          <p:sp>
            <p:nvSpPr>
              <p:cNvPr id="2" name="Content Placeholder 1">
                <a:extLst>
                  <a:ext uri="{FF2B5EF4-FFF2-40B4-BE49-F238E27FC236}">
                    <a16:creationId xmlns:a16="http://schemas.microsoft.com/office/drawing/2014/main" id="{F06A1136-ADF8-4041-90C3-99C5CDEBE274}"/>
                  </a:ext>
                </a:extLst>
              </p:cNvPr>
              <p:cNvSpPr>
                <a:spLocks noGrp="1" noRot="1" noChangeAspect="1" noMove="1" noResize="1" noEditPoints="1" noAdjustHandles="1" noChangeArrowheads="1" noChangeShapeType="1" noTextEdit="1"/>
              </p:cNvSpPr>
              <p:nvPr>
                <p:ph idx="1"/>
              </p:nvPr>
            </p:nvSpPr>
            <p:spPr>
              <a:xfrm>
                <a:off x="609600" y="988383"/>
                <a:ext cx="10972800" cy="5367967"/>
              </a:xfrm>
              <a:blipFill>
                <a:blip r:embed="rId2"/>
                <a:stretch>
                  <a:fillRect l="-611"/>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47</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US" dirty="0"/>
              <a:t>Short-Term Anomaly Indicators</a:t>
            </a:r>
          </a:p>
        </p:txBody>
      </p:sp>
      <p:sp>
        <p:nvSpPr>
          <p:cNvPr id="6" name="TextBox 5">
            <a:extLst>
              <a:ext uri="{FF2B5EF4-FFF2-40B4-BE49-F238E27FC236}">
                <a16:creationId xmlns:a16="http://schemas.microsoft.com/office/drawing/2014/main" id="{73B435D2-48A8-4C6F-A7A5-286DDC5F78D7}"/>
              </a:ext>
            </a:extLst>
          </p:cNvPr>
          <p:cNvSpPr txBox="1"/>
          <p:nvPr/>
        </p:nvSpPr>
        <p:spPr>
          <a:xfrm>
            <a:off x="5638800" y="2971800"/>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40775676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a:bodyPr>
              <a:lstStyle/>
              <a:p>
                <a:pPr>
                  <a:lnSpc>
                    <a:spcPct val="160000"/>
                  </a:lnSpc>
                </a:pPr>
                <a:r>
                  <a:rPr lang="en-US" sz="3100" b="1" dirty="0"/>
                  <a:t>6-Week Rolling Mean Percentage Change:</a:t>
                </a:r>
              </a:p>
              <a:p>
                <a:pPr>
                  <a:lnSpc>
                    <a:spcPct val="160000"/>
                  </a:lnSpc>
                </a:pPr>
                <a:r>
                  <a:rPr lang="en-US" sz="2800" dirty="0"/>
                  <a:t>Computed the moving average(MA) for two weeks:</a:t>
                </a:r>
                <a:endParaRPr lang="en-US" sz="2800" b="1" dirty="0"/>
              </a:p>
              <a:p>
                <a:pPr marL="0" indent="0">
                  <a:lnSpc>
                    <a:spcPct val="160000"/>
                  </a:lnSpc>
                  <a:buNone/>
                </a:pPr>
                <a14:m>
                  <m:oMathPara xmlns:m="http://schemas.openxmlformats.org/officeDocument/2006/math">
                    <m:oMathParaPr>
                      <m:jc m:val="centerGroup"/>
                    </m:oMathParaPr>
                    <m:oMath xmlns:m="http://schemas.openxmlformats.org/officeDocument/2006/math">
                      <m:sSub>
                        <m:sSubPr>
                          <m:ctrlPr>
                            <a:rPr lang="en-US" sz="2100" b="1" i="1" dirty="0" smtClean="0">
                              <a:latin typeface="Cambria Math" panose="02040503050406030204" pitchFamily="18" charset="0"/>
                            </a:rPr>
                          </m:ctrlPr>
                        </m:sSubPr>
                        <m:e>
                          <m:r>
                            <a:rPr lang="en-US" sz="2100" b="1" i="1" dirty="0" smtClean="0">
                              <a:latin typeface="Cambria Math" panose="02040503050406030204" pitchFamily="18" charset="0"/>
                            </a:rPr>
                            <m:t>𝑴𝑨</m:t>
                          </m:r>
                        </m:e>
                        <m:sub>
                          <m:r>
                            <a:rPr lang="en-US" sz="2100" b="1" i="1" dirty="0" smtClean="0">
                              <a:latin typeface="Cambria Math" panose="02040503050406030204" pitchFamily="18" charset="0"/>
                            </a:rPr>
                            <m:t>𝟔</m:t>
                          </m:r>
                          <m:r>
                            <a:rPr lang="en-US" sz="2100" b="1" i="1" dirty="0" smtClean="0">
                              <a:latin typeface="Cambria Math" panose="02040503050406030204" pitchFamily="18" charset="0"/>
                            </a:rPr>
                            <m:t>,</m:t>
                          </m:r>
                          <m:r>
                            <a:rPr lang="en-US" sz="2100" b="1" i="1" dirty="0" smtClean="0">
                              <a:latin typeface="Cambria Math" panose="02040503050406030204" pitchFamily="18" charset="0"/>
                            </a:rPr>
                            <m:t>𝒕</m:t>
                          </m:r>
                        </m:sub>
                      </m:sSub>
                      <m:r>
                        <a:rPr lang="en-US" sz="2100" b="1" i="1" dirty="0" smtClean="0">
                          <a:latin typeface="Cambria Math" panose="02040503050406030204" pitchFamily="18" charset="0"/>
                        </a:rPr>
                        <m:t>=</m:t>
                      </m:r>
                      <m:f>
                        <m:fPr>
                          <m:ctrlPr>
                            <a:rPr lang="en-US" sz="2100" b="1" i="1" smtClean="0">
                              <a:latin typeface="Cambria Math" panose="02040503050406030204" pitchFamily="18" charset="0"/>
                            </a:rPr>
                          </m:ctrlPr>
                        </m:fPr>
                        <m:num>
                          <m:nary>
                            <m:naryPr>
                              <m:chr m:val="∑"/>
                              <m:limLoc m:val="subSup"/>
                              <m:ctrlPr>
                                <a:rPr lang="en-US" sz="2100" b="1" i="1" smtClean="0">
                                  <a:latin typeface="Cambria Math" panose="02040503050406030204" pitchFamily="18" charset="0"/>
                                </a:rPr>
                              </m:ctrlPr>
                            </m:naryPr>
                            <m:sub>
                              <m:r>
                                <m:rPr>
                                  <m:brk m:alnAt="25"/>
                                </m:rPr>
                                <a:rPr lang="en-US" sz="2100" b="1" i="1" smtClean="0">
                                  <a:latin typeface="Cambria Math" panose="02040503050406030204" pitchFamily="18" charset="0"/>
                                </a:rPr>
                                <m:t>𝒊</m:t>
                              </m:r>
                              <m:r>
                                <a:rPr lang="en-US" sz="2100" b="1" i="1" smtClean="0">
                                  <a:latin typeface="Cambria Math" panose="02040503050406030204" pitchFamily="18" charset="0"/>
                                </a:rPr>
                                <m:t>=</m:t>
                              </m:r>
                              <m:r>
                                <a:rPr lang="en-US" sz="2100" b="1" i="1" smtClean="0">
                                  <a:latin typeface="Cambria Math" panose="02040503050406030204" pitchFamily="18" charset="0"/>
                                </a:rPr>
                                <m:t>𝒕</m:t>
                              </m:r>
                              <m:r>
                                <a:rPr lang="en-US" sz="2100" b="1" i="1" smtClean="0">
                                  <a:latin typeface="Cambria Math" panose="02040503050406030204" pitchFamily="18" charset="0"/>
                                </a:rPr>
                                <m:t>−</m:t>
                              </m:r>
                              <m:r>
                                <a:rPr lang="en-US" sz="2100" b="1" i="1" smtClean="0">
                                  <a:latin typeface="Cambria Math" panose="02040503050406030204" pitchFamily="18" charset="0"/>
                                </a:rPr>
                                <m:t>𝟏</m:t>
                              </m:r>
                            </m:sub>
                            <m:sup>
                              <m:r>
                                <a:rPr lang="en-US" sz="2100" b="1" i="1" smtClean="0">
                                  <a:latin typeface="Cambria Math" panose="02040503050406030204" pitchFamily="18" charset="0"/>
                                </a:rPr>
                                <m:t>𝒕</m:t>
                              </m:r>
                            </m:sup>
                            <m:e>
                              <m:sSub>
                                <m:sSubPr>
                                  <m:ctrlPr>
                                    <a:rPr lang="en-US" sz="2100" b="1" i="1" dirty="0">
                                      <a:latin typeface="Cambria Math" panose="02040503050406030204" pitchFamily="18" charset="0"/>
                                    </a:rPr>
                                  </m:ctrlPr>
                                </m:sSubPr>
                                <m:e>
                                  <m:r>
                                    <m:rPr>
                                      <m:nor/>
                                    </m:rPr>
                                    <a:rPr lang="en-US" sz="2100" b="1" dirty="0"/>
                                    <m:t>Num</m:t>
                                  </m:r>
                                  <m:r>
                                    <m:rPr>
                                      <m:nor/>
                                    </m:rPr>
                                    <a:rPr lang="en-US" sz="2100" b="1" dirty="0"/>
                                    <m:t>_</m:t>
                                  </m:r>
                                  <m:r>
                                    <m:rPr>
                                      <m:nor/>
                                    </m:rPr>
                                    <a:rPr lang="en-US" sz="2100" b="1" dirty="0"/>
                                    <m:t>Encounters</m:t>
                                  </m:r>
                                </m:e>
                                <m:sub>
                                  <m:r>
                                    <a:rPr lang="en-US" sz="2100" b="1" i="1" dirty="0">
                                      <a:latin typeface="Cambria Math" panose="02040503050406030204" pitchFamily="18" charset="0"/>
                                    </a:rPr>
                                    <m:t>𝒕</m:t>
                                  </m:r>
                                </m:sub>
                              </m:sSub>
                            </m:e>
                          </m:nary>
                        </m:num>
                        <m:den>
                          <m:r>
                            <a:rPr lang="en-US" sz="2100" b="1" i="1" dirty="0" smtClean="0">
                              <a:latin typeface="Cambria Math" panose="02040503050406030204" pitchFamily="18" charset="0"/>
                            </a:rPr>
                            <m:t>𝟔</m:t>
                          </m:r>
                        </m:den>
                      </m:f>
                    </m:oMath>
                  </m:oMathPara>
                </a14:m>
                <a:endParaRPr lang="en-US" sz="2100" dirty="0"/>
              </a:p>
              <a:p>
                <a:pPr marL="0" indent="0">
                  <a:lnSpc>
                    <a:spcPct val="160000"/>
                  </a:lnSpc>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𝒄𝒉𝒂𝒏𝒈𝒆</m:t>
                      </m:r>
                      <m:r>
                        <a:rPr lang="en-US" sz="2100" b="1" i="1" smtClean="0">
                          <a:latin typeface="Cambria Math" panose="02040503050406030204" pitchFamily="18" charset="0"/>
                        </a:rPr>
                        <m:t> </m:t>
                      </m:r>
                      <m:r>
                        <a:rPr lang="en-US" sz="2100" b="1" i="1" smtClean="0">
                          <a:latin typeface="Cambria Math" panose="02040503050406030204" pitchFamily="18" charset="0"/>
                        </a:rPr>
                        <m:t>𝒊𝒏</m:t>
                      </m:r>
                      <m:r>
                        <a:rPr lang="en-US" sz="2100" b="1" i="1" smtClean="0">
                          <a:latin typeface="Cambria Math" panose="02040503050406030204" pitchFamily="18" charset="0"/>
                        </a:rPr>
                        <m:t> </m:t>
                      </m:r>
                      <m:r>
                        <a:rPr lang="en-US" sz="2100" b="1" i="1" smtClean="0">
                          <a:latin typeface="Cambria Math" panose="02040503050406030204" pitchFamily="18" charset="0"/>
                        </a:rPr>
                        <m:t>𝟔</m:t>
                      </m:r>
                      <m:r>
                        <a:rPr lang="en-US" sz="2100" b="1" i="1" smtClean="0">
                          <a:latin typeface="Cambria Math" panose="02040503050406030204" pitchFamily="18" charset="0"/>
                        </a:rPr>
                        <m:t> </m:t>
                      </m:r>
                      <m:r>
                        <a:rPr lang="en-US" sz="2100" b="1" i="1" smtClean="0">
                          <a:latin typeface="Cambria Math" panose="02040503050406030204" pitchFamily="18" charset="0"/>
                        </a:rPr>
                        <m:t>𝒘𝒆𝒆𝒌</m:t>
                      </m:r>
                      <m:r>
                        <a:rPr lang="en-US" sz="2100" b="1" i="1" smtClean="0">
                          <a:latin typeface="Cambria Math" panose="02040503050406030204" pitchFamily="18" charset="0"/>
                        </a:rPr>
                        <m:t> </m:t>
                      </m:r>
                      <m:r>
                        <a:rPr lang="en-US" sz="2100" b="1" i="1" smtClean="0">
                          <a:latin typeface="Cambria Math" panose="02040503050406030204" pitchFamily="18" charset="0"/>
                        </a:rPr>
                        <m:t>𝑴𝒆𝒂𝒏</m:t>
                      </m:r>
                      <m:r>
                        <a:rPr lang="en-US" sz="2100" b="1" i="1" smtClean="0">
                          <a:latin typeface="Cambria Math" panose="02040503050406030204" pitchFamily="18" charset="0"/>
                        </a:rPr>
                        <m:t>= </m:t>
                      </m:r>
                      <m:f>
                        <m:fPr>
                          <m:ctrlPr>
                            <a:rPr lang="en-US" sz="2100" b="1" i="1" smtClean="0">
                              <a:latin typeface="Cambria Math" panose="02040503050406030204" pitchFamily="18" charset="0"/>
                            </a:rPr>
                          </m:ctrlPr>
                        </m:fPr>
                        <m:num>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𝑴𝑨</m:t>
                              </m:r>
                            </m:e>
                            <m:sub>
                              <m:r>
                                <a:rPr lang="en-US" sz="2100" b="1" i="1" dirty="0" smtClean="0">
                                  <a:latin typeface="Cambria Math" panose="02040503050406030204" pitchFamily="18" charset="0"/>
                                </a:rPr>
                                <m:t>𝟔</m:t>
                              </m:r>
                              <m:r>
                                <a:rPr lang="en-US" sz="2100" b="1" i="1" dirty="0">
                                  <a:latin typeface="Cambria Math" panose="02040503050406030204" pitchFamily="18" charset="0"/>
                                </a:rPr>
                                <m:t>,</m:t>
                              </m:r>
                              <m:r>
                                <a:rPr lang="en-US" sz="2100" b="1" i="1" dirty="0">
                                  <a:latin typeface="Cambria Math" panose="02040503050406030204" pitchFamily="18" charset="0"/>
                                </a:rPr>
                                <m:t>𝒕</m:t>
                              </m:r>
                            </m:sub>
                          </m:sSub>
                          <m:r>
                            <a:rPr lang="en-US" sz="2100" b="1" i="1" dirty="0" smtClean="0">
                              <a:latin typeface="Cambria Math" panose="02040503050406030204" pitchFamily="18" charset="0"/>
                            </a:rPr>
                            <m:t>  −</m:t>
                          </m:r>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𝑴𝑨</m:t>
                              </m:r>
                            </m:e>
                            <m:sub>
                              <m:r>
                                <a:rPr lang="en-US" sz="2100" b="1" i="1" dirty="0" smtClean="0">
                                  <a:latin typeface="Cambria Math" panose="02040503050406030204" pitchFamily="18" charset="0"/>
                                </a:rPr>
                                <m:t>𝟔</m:t>
                              </m:r>
                              <m:r>
                                <a:rPr lang="en-US" sz="2100" b="1" i="1" dirty="0">
                                  <a:latin typeface="Cambria Math" panose="02040503050406030204" pitchFamily="18" charset="0"/>
                                </a:rPr>
                                <m:t>,</m:t>
                              </m:r>
                              <m:r>
                                <a:rPr lang="en-US" sz="2100" b="1" i="1" dirty="0">
                                  <a:latin typeface="Cambria Math" panose="02040503050406030204" pitchFamily="18" charset="0"/>
                                </a:rPr>
                                <m:t>𝒕</m:t>
                              </m:r>
                              <m:r>
                                <a:rPr lang="en-US" sz="2100" b="1" i="1" dirty="0" smtClean="0">
                                  <a:latin typeface="Cambria Math" panose="02040503050406030204" pitchFamily="18" charset="0"/>
                                </a:rPr>
                                <m:t>−</m:t>
                              </m:r>
                              <m:r>
                                <a:rPr lang="en-US" sz="2100" b="1" i="1" dirty="0" smtClean="0">
                                  <a:latin typeface="Cambria Math" panose="02040503050406030204" pitchFamily="18" charset="0"/>
                                </a:rPr>
                                <m:t>𝟏</m:t>
                              </m:r>
                            </m:sub>
                          </m:sSub>
                        </m:num>
                        <m:den>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𝑴𝑨</m:t>
                              </m:r>
                            </m:e>
                            <m:sub>
                              <m:r>
                                <a:rPr lang="en-US" sz="2100" b="1" i="1" dirty="0" smtClean="0">
                                  <a:latin typeface="Cambria Math" panose="02040503050406030204" pitchFamily="18" charset="0"/>
                                </a:rPr>
                                <m:t>𝟔</m:t>
                              </m:r>
                              <m:r>
                                <a:rPr lang="en-US" sz="2100" b="1" i="1" dirty="0">
                                  <a:latin typeface="Cambria Math" panose="02040503050406030204" pitchFamily="18" charset="0"/>
                                </a:rPr>
                                <m:t>,</m:t>
                              </m:r>
                              <m:r>
                                <a:rPr lang="en-US" sz="2100" b="1" i="1" dirty="0">
                                  <a:latin typeface="Cambria Math" panose="02040503050406030204" pitchFamily="18" charset="0"/>
                                </a:rPr>
                                <m:t>𝒕</m:t>
                              </m:r>
                              <m:r>
                                <a:rPr lang="en-US" sz="2100" b="1" i="1" dirty="0">
                                  <a:latin typeface="Cambria Math" panose="02040503050406030204" pitchFamily="18" charset="0"/>
                                </a:rPr>
                                <m:t>−</m:t>
                              </m:r>
                              <m:r>
                                <a:rPr lang="en-US" sz="2100" b="1" i="1" dirty="0">
                                  <a:latin typeface="Cambria Math" panose="02040503050406030204" pitchFamily="18" charset="0"/>
                                </a:rPr>
                                <m:t>𝟏</m:t>
                              </m:r>
                            </m:sub>
                          </m:sSub>
                        </m:den>
                      </m:f>
                      <m:r>
                        <a:rPr lang="en-US" sz="2100" b="1" i="1" smtClean="0">
                          <a:latin typeface="Cambria Math" panose="02040503050406030204" pitchFamily="18" charset="0"/>
                        </a:rPr>
                        <m:t>∗</m:t>
                      </m:r>
                      <m:r>
                        <a:rPr lang="en-US" sz="2100" b="1" i="1" smtClean="0">
                          <a:latin typeface="Cambria Math" panose="02040503050406030204" pitchFamily="18" charset="0"/>
                        </a:rPr>
                        <m:t>𝟏𝟎𝟎</m:t>
                      </m:r>
                      <m:r>
                        <a:rPr lang="en-US" sz="2100" b="1" i="1" smtClean="0">
                          <a:latin typeface="Cambria Math" panose="02040503050406030204" pitchFamily="18" charset="0"/>
                        </a:rPr>
                        <m:t> </m:t>
                      </m:r>
                    </m:oMath>
                  </m:oMathPara>
                </a14:m>
                <a:endParaRPr lang="en-US" sz="2100" b="1" dirty="0"/>
              </a:p>
              <a:p>
                <a:pPr marL="0" indent="0">
                  <a:lnSpc>
                    <a:spcPct val="160000"/>
                  </a:lnSpc>
                  <a:buNone/>
                </a:pPr>
                <a:r>
                  <a:rPr lang="en-US" sz="1400" b="1" dirty="0"/>
                  <a:t>	</a:t>
                </a:r>
              </a:p>
            </p:txBody>
          </p:sp>
        </mc:Choice>
        <mc:Fallback>
          <p:sp>
            <p:nvSpPr>
              <p:cNvPr id="2" name="Content Placeholder 1">
                <a:extLst>
                  <a:ext uri="{FF2B5EF4-FFF2-40B4-BE49-F238E27FC236}">
                    <a16:creationId xmlns:a16="http://schemas.microsoft.com/office/drawing/2014/main" id="{F06A1136-ADF8-4041-90C3-99C5CDEBE274}"/>
                  </a:ext>
                </a:extLst>
              </p:cNvPr>
              <p:cNvSpPr>
                <a:spLocks noGrp="1" noRot="1" noChangeAspect="1" noMove="1" noResize="1" noEditPoints="1" noAdjustHandles="1" noChangeArrowheads="1" noChangeShapeType="1" noTextEdit="1"/>
              </p:cNvSpPr>
              <p:nvPr>
                <p:ph idx="1"/>
              </p:nvPr>
            </p:nvSpPr>
            <p:spPr>
              <a:xfrm>
                <a:off x="609600" y="988383"/>
                <a:ext cx="10972800" cy="5367967"/>
              </a:xfrm>
              <a:blipFill>
                <a:blip r:embed="rId2"/>
                <a:stretch>
                  <a:fillRect l="-1222"/>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48</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US" dirty="0"/>
              <a:t>Long-Term Anomaly Indicators</a:t>
            </a:r>
          </a:p>
        </p:txBody>
      </p:sp>
      <p:sp>
        <p:nvSpPr>
          <p:cNvPr id="6" name="TextBox 5">
            <a:extLst>
              <a:ext uri="{FF2B5EF4-FFF2-40B4-BE49-F238E27FC236}">
                <a16:creationId xmlns:a16="http://schemas.microsoft.com/office/drawing/2014/main" id="{73B435D2-48A8-4C6F-A7A5-286DDC5F78D7}"/>
              </a:ext>
            </a:extLst>
          </p:cNvPr>
          <p:cNvSpPr txBox="1"/>
          <p:nvPr/>
        </p:nvSpPr>
        <p:spPr>
          <a:xfrm>
            <a:off x="5638800" y="2971800"/>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8140767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a:bodyPr>
              <a:lstStyle/>
              <a:p>
                <a:pPr>
                  <a:lnSpc>
                    <a:spcPct val="160000"/>
                  </a:lnSpc>
                </a:pPr>
                <a:r>
                  <a:rPr lang="en-US" sz="3100" b="1" dirty="0"/>
                  <a:t>12-Week Rolling Mean Percentage Change:</a:t>
                </a:r>
              </a:p>
              <a:p>
                <a:pPr>
                  <a:lnSpc>
                    <a:spcPct val="160000"/>
                  </a:lnSpc>
                </a:pPr>
                <a:r>
                  <a:rPr lang="en-US" sz="2800" dirty="0"/>
                  <a:t>Computed the moving average(MA) for two weeks:</a:t>
                </a:r>
                <a:endParaRPr lang="en-US" sz="2800" b="1" dirty="0"/>
              </a:p>
              <a:p>
                <a:pPr marL="0" indent="0">
                  <a:lnSpc>
                    <a:spcPct val="160000"/>
                  </a:lnSpc>
                  <a:buNone/>
                </a:pPr>
                <a14:m>
                  <m:oMathPara xmlns:m="http://schemas.openxmlformats.org/officeDocument/2006/math">
                    <m:oMathParaPr>
                      <m:jc m:val="centerGroup"/>
                    </m:oMathParaPr>
                    <m:oMath xmlns:m="http://schemas.openxmlformats.org/officeDocument/2006/math">
                      <m:sSub>
                        <m:sSubPr>
                          <m:ctrlPr>
                            <a:rPr lang="en-US" sz="2100" b="1" i="1" dirty="0" smtClean="0">
                              <a:latin typeface="Cambria Math" panose="02040503050406030204" pitchFamily="18" charset="0"/>
                            </a:rPr>
                          </m:ctrlPr>
                        </m:sSubPr>
                        <m:e>
                          <m:r>
                            <a:rPr lang="en-US" sz="2100" b="1" i="1" dirty="0" smtClean="0">
                              <a:latin typeface="Cambria Math" panose="02040503050406030204" pitchFamily="18" charset="0"/>
                            </a:rPr>
                            <m:t>𝑴𝑨</m:t>
                          </m:r>
                        </m:e>
                        <m:sub>
                          <m:r>
                            <a:rPr lang="en-US" sz="2100" b="1" i="1" dirty="0" smtClean="0">
                              <a:latin typeface="Cambria Math" panose="02040503050406030204" pitchFamily="18" charset="0"/>
                            </a:rPr>
                            <m:t>𝟏𝟐</m:t>
                          </m:r>
                          <m:r>
                            <a:rPr lang="en-US" sz="2100" b="1" i="1" dirty="0" smtClean="0">
                              <a:latin typeface="Cambria Math" panose="02040503050406030204" pitchFamily="18" charset="0"/>
                            </a:rPr>
                            <m:t>,</m:t>
                          </m:r>
                          <m:r>
                            <a:rPr lang="en-US" sz="2100" b="1" i="1" dirty="0" smtClean="0">
                              <a:latin typeface="Cambria Math" panose="02040503050406030204" pitchFamily="18" charset="0"/>
                            </a:rPr>
                            <m:t>𝒕</m:t>
                          </m:r>
                        </m:sub>
                      </m:sSub>
                      <m:r>
                        <a:rPr lang="en-US" sz="2100" b="1" i="1" dirty="0" smtClean="0">
                          <a:latin typeface="Cambria Math" panose="02040503050406030204" pitchFamily="18" charset="0"/>
                        </a:rPr>
                        <m:t>=</m:t>
                      </m:r>
                      <m:f>
                        <m:fPr>
                          <m:ctrlPr>
                            <a:rPr lang="en-US" sz="2100" b="1" i="1" smtClean="0">
                              <a:latin typeface="Cambria Math" panose="02040503050406030204" pitchFamily="18" charset="0"/>
                            </a:rPr>
                          </m:ctrlPr>
                        </m:fPr>
                        <m:num>
                          <m:nary>
                            <m:naryPr>
                              <m:chr m:val="∑"/>
                              <m:limLoc m:val="subSup"/>
                              <m:ctrlPr>
                                <a:rPr lang="en-US" sz="2100" b="1" i="1" smtClean="0">
                                  <a:latin typeface="Cambria Math" panose="02040503050406030204" pitchFamily="18" charset="0"/>
                                </a:rPr>
                              </m:ctrlPr>
                            </m:naryPr>
                            <m:sub>
                              <m:r>
                                <m:rPr>
                                  <m:brk m:alnAt="25"/>
                                </m:rPr>
                                <a:rPr lang="en-US" sz="2100" b="1" i="1" smtClean="0">
                                  <a:latin typeface="Cambria Math" panose="02040503050406030204" pitchFamily="18" charset="0"/>
                                </a:rPr>
                                <m:t>𝒊</m:t>
                              </m:r>
                              <m:r>
                                <a:rPr lang="en-US" sz="2100" b="1" i="1" smtClean="0">
                                  <a:latin typeface="Cambria Math" panose="02040503050406030204" pitchFamily="18" charset="0"/>
                                </a:rPr>
                                <m:t>=</m:t>
                              </m:r>
                              <m:r>
                                <a:rPr lang="en-US" sz="2100" b="1" i="1" smtClean="0">
                                  <a:latin typeface="Cambria Math" panose="02040503050406030204" pitchFamily="18" charset="0"/>
                                </a:rPr>
                                <m:t>𝒕</m:t>
                              </m:r>
                              <m:r>
                                <a:rPr lang="en-US" sz="2100" b="1" i="1" smtClean="0">
                                  <a:latin typeface="Cambria Math" panose="02040503050406030204" pitchFamily="18" charset="0"/>
                                </a:rPr>
                                <m:t>−</m:t>
                              </m:r>
                              <m:r>
                                <a:rPr lang="en-US" sz="2100" b="1" i="1" smtClean="0">
                                  <a:latin typeface="Cambria Math" panose="02040503050406030204" pitchFamily="18" charset="0"/>
                                </a:rPr>
                                <m:t>𝟏</m:t>
                              </m:r>
                            </m:sub>
                            <m:sup>
                              <m:r>
                                <a:rPr lang="en-US" sz="2100" b="1" i="1" smtClean="0">
                                  <a:latin typeface="Cambria Math" panose="02040503050406030204" pitchFamily="18" charset="0"/>
                                </a:rPr>
                                <m:t>𝒕</m:t>
                              </m:r>
                            </m:sup>
                            <m:e>
                              <m:sSub>
                                <m:sSubPr>
                                  <m:ctrlPr>
                                    <a:rPr lang="en-US" sz="2100" b="1" i="1" dirty="0">
                                      <a:latin typeface="Cambria Math" panose="02040503050406030204" pitchFamily="18" charset="0"/>
                                    </a:rPr>
                                  </m:ctrlPr>
                                </m:sSubPr>
                                <m:e>
                                  <m:r>
                                    <m:rPr>
                                      <m:nor/>
                                    </m:rPr>
                                    <a:rPr lang="en-US" sz="2100" b="1" dirty="0"/>
                                    <m:t>Num</m:t>
                                  </m:r>
                                  <m:r>
                                    <m:rPr>
                                      <m:nor/>
                                    </m:rPr>
                                    <a:rPr lang="en-US" sz="2100" b="1" dirty="0"/>
                                    <m:t>_</m:t>
                                  </m:r>
                                  <m:r>
                                    <m:rPr>
                                      <m:nor/>
                                    </m:rPr>
                                    <a:rPr lang="en-US" sz="2100" b="1" dirty="0"/>
                                    <m:t>Encounters</m:t>
                                  </m:r>
                                </m:e>
                                <m:sub>
                                  <m:r>
                                    <a:rPr lang="en-US" sz="2100" b="1" i="1" dirty="0">
                                      <a:latin typeface="Cambria Math" panose="02040503050406030204" pitchFamily="18" charset="0"/>
                                    </a:rPr>
                                    <m:t>𝒕</m:t>
                                  </m:r>
                                </m:sub>
                              </m:sSub>
                            </m:e>
                          </m:nary>
                        </m:num>
                        <m:den>
                          <m:r>
                            <a:rPr lang="en-US" sz="2100" b="1" i="1" dirty="0" smtClean="0">
                              <a:latin typeface="Cambria Math" panose="02040503050406030204" pitchFamily="18" charset="0"/>
                            </a:rPr>
                            <m:t>𝟏𝟐</m:t>
                          </m:r>
                        </m:den>
                      </m:f>
                    </m:oMath>
                  </m:oMathPara>
                </a14:m>
                <a:endParaRPr lang="en-US" sz="2100" dirty="0"/>
              </a:p>
              <a:p>
                <a:pPr marL="0" indent="0">
                  <a:lnSpc>
                    <a:spcPct val="160000"/>
                  </a:lnSpc>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𝒄𝒉𝒂𝒏𝒈𝒆</m:t>
                      </m:r>
                      <m:r>
                        <a:rPr lang="en-US" sz="2100" b="1" i="1" smtClean="0">
                          <a:latin typeface="Cambria Math" panose="02040503050406030204" pitchFamily="18" charset="0"/>
                        </a:rPr>
                        <m:t> </m:t>
                      </m:r>
                      <m:r>
                        <a:rPr lang="en-US" sz="2100" b="1" i="1" smtClean="0">
                          <a:latin typeface="Cambria Math" panose="02040503050406030204" pitchFamily="18" charset="0"/>
                        </a:rPr>
                        <m:t>𝒊𝒏</m:t>
                      </m:r>
                      <m:r>
                        <a:rPr lang="en-US" sz="2100" b="1" i="1" smtClean="0">
                          <a:latin typeface="Cambria Math" panose="02040503050406030204" pitchFamily="18" charset="0"/>
                        </a:rPr>
                        <m:t> </m:t>
                      </m:r>
                      <m:r>
                        <a:rPr lang="en-US" sz="2100" b="1" i="1" smtClean="0">
                          <a:latin typeface="Cambria Math" panose="02040503050406030204" pitchFamily="18" charset="0"/>
                        </a:rPr>
                        <m:t>𝟏𝟐</m:t>
                      </m:r>
                      <m:r>
                        <a:rPr lang="en-US" sz="2100" b="1" i="1" smtClean="0">
                          <a:latin typeface="Cambria Math" panose="02040503050406030204" pitchFamily="18" charset="0"/>
                        </a:rPr>
                        <m:t> </m:t>
                      </m:r>
                      <m:r>
                        <a:rPr lang="en-US" sz="2100" b="1" i="1" smtClean="0">
                          <a:latin typeface="Cambria Math" panose="02040503050406030204" pitchFamily="18" charset="0"/>
                        </a:rPr>
                        <m:t>𝒘𝒆𝒆𝒌</m:t>
                      </m:r>
                      <m:r>
                        <a:rPr lang="en-US" sz="2100" b="1" i="1" smtClean="0">
                          <a:latin typeface="Cambria Math" panose="02040503050406030204" pitchFamily="18" charset="0"/>
                        </a:rPr>
                        <m:t> </m:t>
                      </m:r>
                      <m:r>
                        <a:rPr lang="en-US" sz="2100" b="1" i="1" smtClean="0">
                          <a:latin typeface="Cambria Math" panose="02040503050406030204" pitchFamily="18" charset="0"/>
                        </a:rPr>
                        <m:t>𝑴𝒆𝒂𝒏</m:t>
                      </m:r>
                      <m:r>
                        <a:rPr lang="en-US" sz="2100" b="1" i="1" smtClean="0">
                          <a:latin typeface="Cambria Math" panose="02040503050406030204" pitchFamily="18" charset="0"/>
                        </a:rPr>
                        <m:t>= </m:t>
                      </m:r>
                      <m:f>
                        <m:fPr>
                          <m:ctrlPr>
                            <a:rPr lang="en-US" sz="2100" b="1" i="1" smtClean="0">
                              <a:latin typeface="Cambria Math" panose="02040503050406030204" pitchFamily="18" charset="0"/>
                            </a:rPr>
                          </m:ctrlPr>
                        </m:fPr>
                        <m:num>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𝑴𝑨</m:t>
                              </m:r>
                            </m:e>
                            <m:sub>
                              <m:r>
                                <a:rPr lang="en-US" sz="2100" b="1" i="1" dirty="0" smtClean="0">
                                  <a:latin typeface="Cambria Math" panose="02040503050406030204" pitchFamily="18" charset="0"/>
                                </a:rPr>
                                <m:t>𝟏𝟐</m:t>
                              </m:r>
                              <m:r>
                                <a:rPr lang="en-US" sz="2100" b="1" i="1" dirty="0">
                                  <a:latin typeface="Cambria Math" panose="02040503050406030204" pitchFamily="18" charset="0"/>
                                </a:rPr>
                                <m:t>,</m:t>
                              </m:r>
                              <m:r>
                                <a:rPr lang="en-US" sz="2100" b="1" i="1" dirty="0">
                                  <a:latin typeface="Cambria Math" panose="02040503050406030204" pitchFamily="18" charset="0"/>
                                </a:rPr>
                                <m:t>𝒕</m:t>
                              </m:r>
                            </m:sub>
                          </m:sSub>
                          <m:r>
                            <a:rPr lang="en-US" sz="2100" b="1" i="1" dirty="0" smtClean="0">
                              <a:latin typeface="Cambria Math" panose="02040503050406030204" pitchFamily="18" charset="0"/>
                            </a:rPr>
                            <m:t>  −</m:t>
                          </m:r>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𝑴𝑨</m:t>
                              </m:r>
                            </m:e>
                            <m:sub>
                              <m:r>
                                <a:rPr lang="en-US" sz="2100" b="1" i="1" dirty="0" smtClean="0">
                                  <a:latin typeface="Cambria Math" panose="02040503050406030204" pitchFamily="18" charset="0"/>
                                </a:rPr>
                                <m:t>𝟏𝟐</m:t>
                              </m:r>
                              <m:r>
                                <a:rPr lang="en-US" sz="2100" b="1" i="1" dirty="0">
                                  <a:latin typeface="Cambria Math" panose="02040503050406030204" pitchFamily="18" charset="0"/>
                                </a:rPr>
                                <m:t>,</m:t>
                              </m:r>
                              <m:r>
                                <a:rPr lang="en-US" sz="2100" b="1" i="1" dirty="0">
                                  <a:latin typeface="Cambria Math" panose="02040503050406030204" pitchFamily="18" charset="0"/>
                                </a:rPr>
                                <m:t>𝒕</m:t>
                              </m:r>
                              <m:r>
                                <a:rPr lang="en-US" sz="2100" b="1" i="1" dirty="0" smtClean="0">
                                  <a:latin typeface="Cambria Math" panose="02040503050406030204" pitchFamily="18" charset="0"/>
                                </a:rPr>
                                <m:t>−</m:t>
                              </m:r>
                              <m:r>
                                <a:rPr lang="en-US" sz="2100" b="1" i="1" dirty="0" smtClean="0">
                                  <a:latin typeface="Cambria Math" panose="02040503050406030204" pitchFamily="18" charset="0"/>
                                </a:rPr>
                                <m:t>𝟏</m:t>
                              </m:r>
                            </m:sub>
                          </m:sSub>
                        </m:num>
                        <m:den>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𝑴𝑨</m:t>
                              </m:r>
                            </m:e>
                            <m:sub>
                              <m:r>
                                <a:rPr lang="en-US" sz="2100" b="1" i="1" dirty="0" smtClean="0">
                                  <a:latin typeface="Cambria Math" panose="02040503050406030204" pitchFamily="18" charset="0"/>
                                </a:rPr>
                                <m:t>𝟏𝟐</m:t>
                              </m:r>
                              <m:r>
                                <a:rPr lang="en-US" sz="2100" b="1" i="1" dirty="0">
                                  <a:latin typeface="Cambria Math" panose="02040503050406030204" pitchFamily="18" charset="0"/>
                                </a:rPr>
                                <m:t>,</m:t>
                              </m:r>
                              <m:r>
                                <a:rPr lang="en-US" sz="2100" b="1" i="1" dirty="0">
                                  <a:latin typeface="Cambria Math" panose="02040503050406030204" pitchFamily="18" charset="0"/>
                                </a:rPr>
                                <m:t>𝒕</m:t>
                              </m:r>
                              <m:r>
                                <a:rPr lang="en-US" sz="2100" b="1" i="1" dirty="0">
                                  <a:latin typeface="Cambria Math" panose="02040503050406030204" pitchFamily="18" charset="0"/>
                                </a:rPr>
                                <m:t>−</m:t>
                              </m:r>
                              <m:r>
                                <a:rPr lang="en-US" sz="2100" b="1" i="1" dirty="0">
                                  <a:latin typeface="Cambria Math" panose="02040503050406030204" pitchFamily="18" charset="0"/>
                                </a:rPr>
                                <m:t>𝟏</m:t>
                              </m:r>
                            </m:sub>
                          </m:sSub>
                        </m:den>
                      </m:f>
                      <m:r>
                        <a:rPr lang="en-US" sz="2100" b="1" i="1" smtClean="0">
                          <a:latin typeface="Cambria Math" panose="02040503050406030204" pitchFamily="18" charset="0"/>
                        </a:rPr>
                        <m:t>∗</m:t>
                      </m:r>
                      <m:r>
                        <a:rPr lang="en-US" sz="2100" b="1" i="1" smtClean="0">
                          <a:latin typeface="Cambria Math" panose="02040503050406030204" pitchFamily="18" charset="0"/>
                        </a:rPr>
                        <m:t>𝟏𝟎𝟎</m:t>
                      </m:r>
                      <m:r>
                        <a:rPr lang="en-US" sz="2100" b="1" i="1" smtClean="0">
                          <a:latin typeface="Cambria Math" panose="02040503050406030204" pitchFamily="18" charset="0"/>
                        </a:rPr>
                        <m:t> </m:t>
                      </m:r>
                    </m:oMath>
                  </m:oMathPara>
                </a14:m>
                <a:endParaRPr lang="en-US" sz="2100" b="1" dirty="0"/>
              </a:p>
              <a:p>
                <a:pPr marL="0" indent="0">
                  <a:lnSpc>
                    <a:spcPct val="160000"/>
                  </a:lnSpc>
                  <a:buNone/>
                </a:pPr>
                <a:r>
                  <a:rPr lang="en-US" sz="1400" b="1" dirty="0"/>
                  <a:t>	</a:t>
                </a:r>
              </a:p>
            </p:txBody>
          </p:sp>
        </mc:Choice>
        <mc:Fallback>
          <p:sp>
            <p:nvSpPr>
              <p:cNvPr id="2" name="Content Placeholder 1">
                <a:extLst>
                  <a:ext uri="{FF2B5EF4-FFF2-40B4-BE49-F238E27FC236}">
                    <a16:creationId xmlns:a16="http://schemas.microsoft.com/office/drawing/2014/main" id="{F06A1136-ADF8-4041-90C3-99C5CDEBE274}"/>
                  </a:ext>
                </a:extLst>
              </p:cNvPr>
              <p:cNvSpPr>
                <a:spLocks noGrp="1" noRot="1" noChangeAspect="1" noMove="1" noResize="1" noEditPoints="1" noAdjustHandles="1" noChangeArrowheads="1" noChangeShapeType="1" noTextEdit="1"/>
              </p:cNvSpPr>
              <p:nvPr>
                <p:ph idx="1"/>
              </p:nvPr>
            </p:nvSpPr>
            <p:spPr>
              <a:xfrm>
                <a:off x="609600" y="988383"/>
                <a:ext cx="10972800" cy="5367967"/>
              </a:xfrm>
              <a:blipFill>
                <a:blip r:embed="rId2"/>
                <a:stretch>
                  <a:fillRect l="-1222"/>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49</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US" dirty="0"/>
              <a:t>Long-Term Anomaly Indicators</a:t>
            </a:r>
          </a:p>
        </p:txBody>
      </p:sp>
      <p:sp>
        <p:nvSpPr>
          <p:cNvPr id="6" name="TextBox 5">
            <a:extLst>
              <a:ext uri="{FF2B5EF4-FFF2-40B4-BE49-F238E27FC236}">
                <a16:creationId xmlns:a16="http://schemas.microsoft.com/office/drawing/2014/main" id="{73B435D2-48A8-4C6F-A7A5-286DDC5F78D7}"/>
              </a:ext>
            </a:extLst>
          </p:cNvPr>
          <p:cNvSpPr txBox="1"/>
          <p:nvPr/>
        </p:nvSpPr>
        <p:spPr>
          <a:xfrm>
            <a:off x="5638800" y="2971800"/>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40613795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a:bodyPr>
              <a:lstStyle/>
              <a:p>
                <a:pPr>
                  <a:lnSpc>
                    <a:spcPct val="160000"/>
                  </a:lnSpc>
                </a:pPr>
                <a:r>
                  <a:rPr lang="en-US" sz="2000" b="1" dirty="0"/>
                  <a:t> Compute the year over year expanding mean percentage change:</a:t>
                </a:r>
              </a:p>
              <a:p>
                <a:pPr marL="457200" lvl="1" indent="0">
                  <a:lnSpc>
                    <a:spcPct val="160000"/>
                  </a:lnSpc>
                  <a:buNone/>
                </a:pPr>
                <a:endParaRPr lang="en-US" sz="1600" b="1" dirty="0"/>
              </a:p>
              <a:p>
                <a:pPr marL="0" indent="0">
                  <a:lnSpc>
                    <a:spcPct val="160000"/>
                  </a:lnSpc>
                  <a:buNone/>
                </a:pPr>
                <a14:m>
                  <m:oMathPara xmlns:m="http://schemas.openxmlformats.org/officeDocument/2006/math">
                    <m:oMathParaPr>
                      <m:jc m:val="centerGroup"/>
                    </m:oMathParaPr>
                    <m:oMath xmlns:m="http://schemas.openxmlformats.org/officeDocument/2006/math">
                      <m:sSub>
                        <m:sSubPr>
                          <m:ctrlPr>
                            <a:rPr lang="en-US" sz="2000" b="1" i="1" dirty="0">
                              <a:latin typeface="Cambria Math" panose="02040503050406030204" pitchFamily="18" charset="0"/>
                            </a:rPr>
                          </m:ctrlPr>
                        </m:sSubPr>
                        <m:e>
                          <m:r>
                            <a:rPr lang="en-US" sz="2000" b="1" i="1" dirty="0" smtClean="0">
                              <a:latin typeface="Cambria Math" panose="02040503050406030204" pitchFamily="18" charset="0"/>
                            </a:rPr>
                            <m:t>𝑬𝒙𝒑𝒂𝒏𝒅𝒊𝒏𝒈</m:t>
                          </m:r>
                          <m:r>
                            <a:rPr lang="en-US" sz="2000" b="1" i="1" dirty="0" smtClean="0">
                              <a:latin typeface="Cambria Math" panose="02040503050406030204" pitchFamily="18" charset="0"/>
                            </a:rPr>
                            <m:t> </m:t>
                          </m:r>
                          <m:r>
                            <a:rPr lang="en-US" sz="2000" b="1" i="1" dirty="0" smtClean="0">
                              <a:latin typeface="Cambria Math" panose="02040503050406030204" pitchFamily="18" charset="0"/>
                            </a:rPr>
                            <m:t>𝑴𝒆𝒂𝒏</m:t>
                          </m:r>
                        </m:e>
                        <m:sub>
                          <m:r>
                            <a:rPr lang="en-US" sz="2000" b="1" i="1" dirty="0">
                              <a:latin typeface="Cambria Math" panose="02040503050406030204" pitchFamily="18" charset="0"/>
                            </a:rPr>
                            <m:t>𝒕</m:t>
                          </m:r>
                        </m:sub>
                      </m:sSub>
                      <m:r>
                        <a:rPr lang="en-US" sz="2000" b="1" i="1" dirty="0">
                          <a:latin typeface="Cambria Math" panose="02040503050406030204" pitchFamily="18" charset="0"/>
                        </a:rPr>
                        <m:t>=</m:t>
                      </m:r>
                      <m:f>
                        <m:fPr>
                          <m:ctrlPr>
                            <a:rPr lang="en-US" sz="2000" b="1" i="1">
                              <a:latin typeface="Cambria Math" panose="02040503050406030204" pitchFamily="18" charset="0"/>
                            </a:rPr>
                          </m:ctrlPr>
                        </m:fPr>
                        <m:num>
                          <m:nary>
                            <m:naryPr>
                              <m:chr m:val="∑"/>
                              <m:limLoc m:val="subSup"/>
                              <m:ctrlPr>
                                <a:rPr lang="en-US" sz="2000" b="1" i="1">
                                  <a:latin typeface="Cambria Math" panose="02040503050406030204" pitchFamily="18" charset="0"/>
                                </a:rPr>
                              </m:ctrlPr>
                            </m:naryPr>
                            <m:sub>
                              <m:r>
                                <m:rPr>
                                  <m:brk m:alnAt="25"/>
                                </m:rPr>
                                <a:rPr lang="en-US" sz="2000" b="1" i="1">
                                  <a:latin typeface="Cambria Math" panose="02040503050406030204" pitchFamily="18" charset="0"/>
                                </a:rPr>
                                <m:t>𝒊</m:t>
                              </m:r>
                              <m:r>
                                <a:rPr lang="en-US" sz="2000" b="1" i="1">
                                  <a:latin typeface="Cambria Math" panose="02040503050406030204" pitchFamily="18" charset="0"/>
                                </a:rPr>
                                <m:t>=</m:t>
                              </m:r>
                              <m:r>
                                <a:rPr lang="en-US" sz="2000" b="1" i="1">
                                  <a:latin typeface="Cambria Math" panose="02040503050406030204" pitchFamily="18" charset="0"/>
                                </a:rPr>
                                <m:t>𝒕</m:t>
                              </m:r>
                              <m:r>
                                <a:rPr lang="en-US" sz="2000" b="1" i="1">
                                  <a:latin typeface="Cambria Math" panose="02040503050406030204" pitchFamily="18" charset="0"/>
                                </a:rPr>
                                <m:t>−</m:t>
                              </m:r>
                              <m:r>
                                <a:rPr lang="en-US" sz="2000" b="1" i="1">
                                  <a:latin typeface="Cambria Math" panose="02040503050406030204" pitchFamily="18" charset="0"/>
                                </a:rPr>
                                <m:t>𝟏</m:t>
                              </m:r>
                            </m:sub>
                            <m:sup>
                              <m:r>
                                <a:rPr lang="en-US" sz="2000" b="1" i="1">
                                  <a:latin typeface="Cambria Math" panose="02040503050406030204" pitchFamily="18" charset="0"/>
                                </a:rPr>
                                <m:t>𝒕</m:t>
                              </m:r>
                            </m:sup>
                            <m:e>
                              <m:sSub>
                                <m:sSubPr>
                                  <m:ctrlPr>
                                    <a:rPr lang="en-US" sz="2000" b="1" i="1" dirty="0">
                                      <a:latin typeface="Cambria Math" panose="02040503050406030204" pitchFamily="18" charset="0"/>
                                    </a:rPr>
                                  </m:ctrlPr>
                                </m:sSubPr>
                                <m:e>
                                  <m:r>
                                    <m:rPr>
                                      <m:nor/>
                                    </m:rPr>
                                    <a:rPr lang="en-US" sz="2000" b="1" dirty="0"/>
                                    <m:t>Num</m:t>
                                  </m:r>
                                  <m:r>
                                    <m:rPr>
                                      <m:nor/>
                                    </m:rPr>
                                    <a:rPr lang="en-US" sz="2000" b="1" dirty="0"/>
                                    <m:t>_</m:t>
                                  </m:r>
                                  <m:r>
                                    <m:rPr>
                                      <m:nor/>
                                    </m:rPr>
                                    <a:rPr lang="en-US" sz="2000" b="1" dirty="0"/>
                                    <m:t>Encounters</m:t>
                                  </m:r>
                                </m:e>
                                <m:sub>
                                  <m:r>
                                    <a:rPr lang="en-US" sz="2000" b="1" i="1" dirty="0">
                                      <a:latin typeface="Cambria Math" panose="02040503050406030204" pitchFamily="18" charset="0"/>
                                    </a:rPr>
                                    <m:t>𝒕</m:t>
                                  </m:r>
                                </m:sub>
                              </m:sSub>
                            </m:e>
                          </m:nary>
                        </m:num>
                        <m:den>
                          <m:r>
                            <a:rPr lang="en-US" sz="2000" b="1" i="1" dirty="0" smtClean="0">
                              <a:latin typeface="Cambria Math" panose="02040503050406030204" pitchFamily="18" charset="0"/>
                            </a:rPr>
                            <m:t>𝒕</m:t>
                          </m:r>
                        </m:den>
                      </m:f>
                    </m:oMath>
                  </m:oMathPara>
                </a14:m>
                <a:endParaRPr lang="en-US" sz="2000" dirty="0"/>
              </a:p>
              <a:p>
                <a:pPr marL="0" indent="0">
                  <a:lnSpc>
                    <a:spcPct val="160000"/>
                  </a:lnSpc>
                  <a:buNone/>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𝒀𝒆𝒂𝒓</m:t>
                      </m:r>
                      <m:r>
                        <a:rPr lang="en-US" sz="2000" b="1" i="1" smtClean="0">
                          <a:latin typeface="Cambria Math" panose="02040503050406030204" pitchFamily="18" charset="0"/>
                        </a:rPr>
                        <m:t>−</m:t>
                      </m:r>
                      <m:r>
                        <a:rPr lang="en-US" sz="2000" b="1" i="1" smtClean="0">
                          <a:latin typeface="Cambria Math" panose="02040503050406030204" pitchFamily="18" charset="0"/>
                        </a:rPr>
                        <m:t>𝒐𝒗𝒆𝒓</m:t>
                      </m:r>
                      <m:r>
                        <a:rPr lang="en-US" sz="2000" b="1" i="1" smtClean="0">
                          <a:latin typeface="Cambria Math" panose="02040503050406030204" pitchFamily="18" charset="0"/>
                        </a:rPr>
                        <m:t>−</m:t>
                      </m:r>
                      <m:r>
                        <a:rPr lang="en-US" sz="2000" b="1" i="1" smtClean="0">
                          <a:latin typeface="Cambria Math" panose="02040503050406030204" pitchFamily="18" charset="0"/>
                        </a:rPr>
                        <m:t>𝒚𝒆𝒂𝒓</m:t>
                      </m:r>
                      <m:r>
                        <a:rPr lang="en-US" sz="2000" b="1" i="1" smtClean="0">
                          <a:latin typeface="Cambria Math" panose="02040503050406030204" pitchFamily="18" charset="0"/>
                        </a:rPr>
                        <m:t> </m:t>
                      </m:r>
                      <m:r>
                        <a:rPr lang="en-US" sz="2000" b="1" i="1" smtClean="0">
                          <a:latin typeface="Cambria Math" panose="02040503050406030204" pitchFamily="18" charset="0"/>
                        </a:rPr>
                        <m:t>𝒄𝒉𝒂𝒏𝒈𝒆</m:t>
                      </m:r>
                      <m:r>
                        <a:rPr lang="en-US" sz="2000" b="1" i="1" smtClean="0">
                          <a:latin typeface="Cambria Math" panose="02040503050406030204" pitchFamily="18" charset="0"/>
                        </a:rPr>
                        <m:t> = </m:t>
                      </m:r>
                      <m:f>
                        <m:fPr>
                          <m:ctrlPr>
                            <a:rPr lang="en-US" sz="2000" b="1" i="1">
                              <a:latin typeface="Cambria Math" panose="02040503050406030204" pitchFamily="18" charset="0"/>
                            </a:rPr>
                          </m:ctrlPr>
                        </m:fPr>
                        <m:num>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𝑬𝒙𝒑𝒂𝒏𝒅𝒊𝒏𝒈</m:t>
                              </m:r>
                              <m:r>
                                <a:rPr lang="en-US" sz="2000" b="1" i="1" dirty="0">
                                  <a:latin typeface="Cambria Math" panose="02040503050406030204" pitchFamily="18" charset="0"/>
                                </a:rPr>
                                <m:t> </m:t>
                              </m:r>
                              <m:r>
                                <a:rPr lang="en-US" sz="2000" b="1" i="1" dirty="0">
                                  <a:latin typeface="Cambria Math" panose="02040503050406030204" pitchFamily="18" charset="0"/>
                                </a:rPr>
                                <m:t>𝑴𝒆𝒂𝒏</m:t>
                              </m:r>
                            </m:e>
                            <m:sub>
                              <m:r>
                                <a:rPr lang="en-US" sz="2000" b="1" i="1" dirty="0">
                                  <a:latin typeface="Cambria Math" panose="02040503050406030204" pitchFamily="18" charset="0"/>
                                </a:rPr>
                                <m:t>𝒕</m:t>
                              </m:r>
                            </m:sub>
                          </m:sSub>
                          <m:r>
                            <a:rPr lang="en-US" sz="2000" b="1" i="1" dirty="0">
                              <a:latin typeface="Cambria Math" panose="02040503050406030204" pitchFamily="18" charset="0"/>
                            </a:rPr>
                            <m:t>−</m:t>
                          </m:r>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𝑬𝒙𝒑𝒂𝒏𝒅𝒊𝒏𝒈</m:t>
                              </m:r>
                              <m:r>
                                <a:rPr lang="en-US" sz="2000" b="1" i="1" dirty="0">
                                  <a:latin typeface="Cambria Math" panose="02040503050406030204" pitchFamily="18" charset="0"/>
                                </a:rPr>
                                <m:t> </m:t>
                              </m:r>
                              <m:r>
                                <a:rPr lang="en-US" sz="2000" b="1" i="1" dirty="0">
                                  <a:latin typeface="Cambria Math" panose="02040503050406030204" pitchFamily="18" charset="0"/>
                                </a:rPr>
                                <m:t>𝑴𝒆𝒂𝒏</m:t>
                              </m:r>
                            </m:e>
                            <m:sub>
                              <m:r>
                                <a:rPr lang="en-US" sz="2000" b="1" i="1" dirty="0">
                                  <a:latin typeface="Cambria Math" panose="02040503050406030204" pitchFamily="18" charset="0"/>
                                </a:rPr>
                                <m:t>𝒕</m:t>
                              </m:r>
                              <m:r>
                                <a:rPr lang="en-US" sz="2000" b="1" i="1" dirty="0" smtClean="0">
                                  <a:latin typeface="Cambria Math" panose="02040503050406030204" pitchFamily="18" charset="0"/>
                                </a:rPr>
                                <m:t>−</m:t>
                              </m:r>
                              <m:r>
                                <a:rPr lang="en-US" sz="2000" b="1" i="1" dirty="0" smtClean="0">
                                  <a:latin typeface="Cambria Math" panose="02040503050406030204" pitchFamily="18" charset="0"/>
                                </a:rPr>
                                <m:t>𝟓𝟐</m:t>
                              </m:r>
                            </m:sub>
                          </m:sSub>
                        </m:num>
                        <m:den>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𝑬𝒙𝒑𝒂𝒏𝒅𝒊𝒏𝒈</m:t>
                              </m:r>
                              <m:r>
                                <a:rPr lang="en-US" sz="2000" b="1" i="1" dirty="0">
                                  <a:latin typeface="Cambria Math" panose="02040503050406030204" pitchFamily="18" charset="0"/>
                                </a:rPr>
                                <m:t> </m:t>
                              </m:r>
                              <m:r>
                                <a:rPr lang="en-US" sz="2000" b="1" i="1" dirty="0">
                                  <a:latin typeface="Cambria Math" panose="02040503050406030204" pitchFamily="18" charset="0"/>
                                </a:rPr>
                                <m:t>𝑴𝒆𝒂𝒏</m:t>
                              </m:r>
                            </m:e>
                            <m:sub>
                              <m:r>
                                <a:rPr lang="en-US" sz="2000" b="1" i="1" dirty="0">
                                  <a:latin typeface="Cambria Math" panose="02040503050406030204" pitchFamily="18" charset="0"/>
                                </a:rPr>
                                <m:t>𝒕</m:t>
                              </m:r>
                              <m:r>
                                <a:rPr lang="en-US" sz="2000" b="1" i="1" dirty="0" smtClean="0">
                                  <a:latin typeface="Cambria Math" panose="02040503050406030204" pitchFamily="18" charset="0"/>
                                </a:rPr>
                                <m:t>−</m:t>
                              </m:r>
                              <m:r>
                                <a:rPr lang="en-US" sz="2000" b="1" i="1" dirty="0" smtClean="0">
                                  <a:latin typeface="Cambria Math" panose="02040503050406030204" pitchFamily="18" charset="0"/>
                                </a:rPr>
                                <m:t>𝟓𝟐</m:t>
                              </m:r>
                            </m:sub>
                          </m:sSub>
                        </m:den>
                      </m:f>
                      <m:r>
                        <a:rPr lang="en-US" sz="2000" b="1" i="1">
                          <a:latin typeface="Cambria Math" panose="02040503050406030204" pitchFamily="18" charset="0"/>
                        </a:rPr>
                        <m:t>∗</m:t>
                      </m:r>
                      <m:r>
                        <a:rPr lang="en-US" sz="2000" b="1" i="1">
                          <a:latin typeface="Cambria Math" panose="02040503050406030204" pitchFamily="18" charset="0"/>
                        </a:rPr>
                        <m:t>𝟏𝟎𝟎</m:t>
                      </m:r>
                      <m:r>
                        <a:rPr lang="en-US" sz="2000" b="1" i="1">
                          <a:latin typeface="Cambria Math" panose="02040503050406030204" pitchFamily="18" charset="0"/>
                        </a:rPr>
                        <m:t> </m:t>
                      </m:r>
                    </m:oMath>
                  </m:oMathPara>
                </a14:m>
                <a:endParaRPr lang="en-US" sz="1800" b="1" dirty="0"/>
              </a:p>
              <a:p>
                <a:pPr marL="0" indent="0">
                  <a:lnSpc>
                    <a:spcPct val="160000"/>
                  </a:lnSpc>
                  <a:buNone/>
                </a:pPr>
                <a:r>
                  <a:rPr lang="en-US" sz="1800" b="1" dirty="0"/>
                  <a:t>Where:</a:t>
                </a:r>
              </a:p>
              <a:p>
                <a:pPr marL="685800" lvl="1">
                  <a:lnSpc>
                    <a:spcPct val="160000"/>
                  </a:lnSpc>
                </a:pPr>
                <a:r>
                  <a:rPr lang="en-US" sz="1600" b="1" dirty="0"/>
                  <a:t>t</a:t>
                </a:r>
                <a:r>
                  <a:rPr lang="en-US" sz="1600" dirty="0"/>
                  <a:t> represents the current week,</a:t>
                </a:r>
              </a:p>
              <a:p>
                <a:pPr marL="685800" lvl="1">
                  <a:lnSpc>
                    <a:spcPct val="160000"/>
                  </a:lnSpc>
                </a:pPr>
                <a:r>
                  <a:rPr lang="en-US" sz="1600" b="1" dirty="0"/>
                  <a:t>𝑡−52 </a:t>
                </a:r>
                <a:r>
                  <a:rPr lang="en-US" sz="1600" dirty="0"/>
                  <a:t>represents the same week from the previous year.</a:t>
                </a:r>
              </a:p>
              <a:p>
                <a:pPr marL="0" indent="0">
                  <a:lnSpc>
                    <a:spcPct val="160000"/>
                  </a:lnSpc>
                  <a:buNone/>
                </a:pPr>
                <a:endParaRPr lang="en-US" sz="2400" dirty="0"/>
              </a:p>
              <a:p>
                <a:pPr>
                  <a:lnSpc>
                    <a:spcPct val="160000"/>
                  </a:lnSpc>
                </a:pPr>
                <a:endParaRPr lang="en-US" sz="2400" dirty="0"/>
              </a:p>
              <a:p>
                <a:pPr marL="0" indent="0">
                  <a:lnSpc>
                    <a:spcPct val="160000"/>
                  </a:lnSpc>
                  <a:buNone/>
                </a:pPr>
                <a:endParaRPr lang="en-US" sz="2400" dirty="0"/>
              </a:p>
              <a:p>
                <a:pPr>
                  <a:lnSpc>
                    <a:spcPct val="160000"/>
                  </a:lnSpc>
                </a:pPr>
                <a:endParaRPr lang="en-US" sz="1600" dirty="0"/>
              </a:p>
              <a:p>
                <a:pPr marL="914400" lvl="1" indent="-457200">
                  <a:lnSpc>
                    <a:spcPct val="160000"/>
                  </a:lnSpc>
                  <a:buFont typeface="+mj-lt"/>
                  <a:buAutoNum type="arabicPeriod"/>
                </a:pPr>
                <a:endParaRPr lang="en-US" sz="2000" dirty="0"/>
              </a:p>
            </p:txBody>
          </p:sp>
        </mc:Choice>
        <mc:Fallback>
          <p:sp>
            <p:nvSpPr>
              <p:cNvPr id="2" name="Content Placeholder 1">
                <a:extLst>
                  <a:ext uri="{FF2B5EF4-FFF2-40B4-BE49-F238E27FC236}">
                    <a16:creationId xmlns:a16="http://schemas.microsoft.com/office/drawing/2014/main" id="{F06A1136-ADF8-4041-90C3-99C5CDEBE274}"/>
                  </a:ext>
                </a:extLst>
              </p:cNvPr>
              <p:cNvSpPr>
                <a:spLocks noGrp="1" noRot="1" noChangeAspect="1" noMove="1" noResize="1" noEditPoints="1" noAdjustHandles="1" noChangeArrowheads="1" noChangeShapeType="1" noTextEdit="1"/>
              </p:cNvSpPr>
              <p:nvPr>
                <p:ph idx="1"/>
              </p:nvPr>
            </p:nvSpPr>
            <p:spPr>
              <a:xfrm>
                <a:off x="609600" y="988383"/>
                <a:ext cx="10972800" cy="5367967"/>
              </a:xfrm>
              <a:blipFill>
                <a:blip r:embed="rId2"/>
                <a:stretch>
                  <a:fillRect l="-500"/>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50</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Year over Year change</a:t>
            </a:r>
            <a:endParaRPr lang="en-US" dirty="0"/>
          </a:p>
        </p:txBody>
      </p:sp>
      <p:sp>
        <p:nvSpPr>
          <p:cNvPr id="6" name="TextBox 5">
            <a:extLst>
              <a:ext uri="{FF2B5EF4-FFF2-40B4-BE49-F238E27FC236}">
                <a16:creationId xmlns:a16="http://schemas.microsoft.com/office/drawing/2014/main" id="{73B435D2-48A8-4C6F-A7A5-286DDC5F78D7}"/>
              </a:ext>
            </a:extLst>
          </p:cNvPr>
          <p:cNvSpPr txBox="1"/>
          <p:nvPr/>
        </p:nvSpPr>
        <p:spPr>
          <a:xfrm>
            <a:off x="5638800" y="2971800"/>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22655087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fontScale="85000" lnSpcReduction="10000"/>
              </a:bodyPr>
              <a:lstStyle/>
              <a:p>
                <a:pPr>
                  <a:lnSpc>
                    <a:spcPct val="160000"/>
                  </a:lnSpc>
                </a:pPr>
                <a:r>
                  <a:rPr lang="en-US" sz="2400" dirty="0"/>
                  <a:t>Concepts used to calculate score</a:t>
                </a:r>
              </a:p>
              <a:p>
                <a:pPr lvl="1">
                  <a:lnSpc>
                    <a:spcPct val="160000"/>
                  </a:lnSpc>
                </a:pPr>
                <a:r>
                  <a:rPr lang="en-US" sz="2000" dirty="0"/>
                  <a:t>Check the transition between the current and previous week</a:t>
                </a:r>
              </a:p>
              <a:p>
                <a:pPr marL="457200" lvl="1" indent="0">
                  <a:lnSpc>
                    <a:spcPct val="160000"/>
                  </a:lnSpc>
                  <a:buNone/>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𝑬𝒏𝒄𝒐𝒖𝒏𝒕𝒆𝒓</m:t>
                      </m:r>
                      <m:r>
                        <a:rPr lang="en-US" sz="2000" b="1" i="1" smtClean="0">
                          <a:latin typeface="Cambria Math" panose="02040503050406030204" pitchFamily="18" charset="0"/>
                        </a:rPr>
                        <m:t> </m:t>
                      </m:r>
                      <m:r>
                        <a:rPr lang="en-US" sz="2000" b="1" i="1" smtClean="0">
                          <a:latin typeface="Cambria Math" panose="02040503050406030204" pitchFamily="18" charset="0"/>
                        </a:rPr>
                        <m:t>𝑪𝒉𝒂𝒏𝒈𝒆</m:t>
                      </m:r>
                      <m:r>
                        <a:rPr lang="en-US" sz="2000" b="1" i="1" smtClean="0">
                          <a:latin typeface="Cambria Math" panose="02040503050406030204" pitchFamily="18" charset="0"/>
                        </a:rPr>
                        <m:t>=</m:t>
                      </m:r>
                      <m:r>
                        <a:rPr lang="en-US" sz="2000" b="1" i="1" smtClean="0">
                          <a:latin typeface="Cambria Math" panose="02040503050406030204" pitchFamily="18" charset="0"/>
                        </a:rPr>
                        <m:t>𝑵𝒖𝒎</m:t>
                      </m:r>
                      <m:r>
                        <a:rPr lang="en-US" sz="2000" b="1" i="1" smtClean="0">
                          <a:latin typeface="Cambria Math" panose="02040503050406030204" pitchFamily="18" charset="0"/>
                        </a:rPr>
                        <m:t>_</m:t>
                      </m:r>
                      <m:r>
                        <a:rPr lang="en-US" sz="2000" b="1" i="1" smtClean="0">
                          <a:latin typeface="Cambria Math" panose="02040503050406030204" pitchFamily="18" charset="0"/>
                        </a:rPr>
                        <m:t>𝑬𝒏𝒄𝒐𝒖𝒏𝒕𝒆𝒓𝒔</m:t>
                      </m:r>
                      <m:r>
                        <a:rPr lang="en-US" sz="2000" b="1" i="1" smtClean="0">
                          <a:latin typeface="Cambria Math" panose="02040503050406030204" pitchFamily="18" charset="0"/>
                        </a:rPr>
                        <m:t>−</m:t>
                      </m:r>
                      <m:r>
                        <a:rPr lang="en-US" sz="2000" b="1" i="1" smtClean="0">
                          <a:latin typeface="Cambria Math" panose="02040503050406030204" pitchFamily="18" charset="0"/>
                        </a:rPr>
                        <m:t>𝑷𝒓𝒆𝒗</m:t>
                      </m:r>
                      <m:r>
                        <a:rPr lang="en-US" sz="2000" b="1" i="1" smtClean="0">
                          <a:latin typeface="Cambria Math" panose="02040503050406030204" pitchFamily="18" charset="0"/>
                        </a:rPr>
                        <m:t>_</m:t>
                      </m:r>
                      <m:r>
                        <a:rPr lang="en-US" sz="2000" b="1" i="1" smtClean="0">
                          <a:latin typeface="Cambria Math" panose="02040503050406030204" pitchFamily="18" charset="0"/>
                        </a:rPr>
                        <m:t>𝑾𝒆𝒆𝒌</m:t>
                      </m:r>
                      <m:r>
                        <a:rPr lang="en-US" sz="2000" b="1" i="1" smtClean="0">
                          <a:latin typeface="Cambria Math" panose="02040503050406030204" pitchFamily="18" charset="0"/>
                        </a:rPr>
                        <m:t>_</m:t>
                      </m:r>
                      <m:r>
                        <a:rPr lang="en-US" sz="2000" b="1" i="1" smtClean="0">
                          <a:latin typeface="Cambria Math" panose="02040503050406030204" pitchFamily="18" charset="0"/>
                        </a:rPr>
                        <m:t>𝑬𝒏𝒄𝒐𝒖𝒏𝒕𝒆𝒓𝒔</m:t>
                      </m:r>
                    </m:oMath>
                  </m:oMathPara>
                </a14:m>
                <a:endParaRPr lang="en-US" sz="2000" b="1" dirty="0"/>
              </a:p>
              <a:p>
                <a:pPr lvl="1">
                  <a:lnSpc>
                    <a:spcPct val="160000"/>
                  </a:lnSpc>
                </a:pPr>
                <a:r>
                  <a:rPr lang="en-US" sz="2000" dirty="0"/>
                  <a:t>Check average number of patients for a disease in a certain week of the year</a:t>
                </a:r>
              </a:p>
              <a:p>
                <a:pPr lvl="1">
                  <a:lnSpc>
                    <a:spcPct val="160000"/>
                  </a:lnSpc>
                </a:pPr>
                <a:r>
                  <a:rPr lang="en-US" sz="2000" dirty="0"/>
                  <a:t>Normalize the scores </a:t>
                </a:r>
                <a:endParaRPr lang="en-US" sz="2000" i="1" dirty="0">
                  <a:latin typeface="Cambria Math" panose="02040503050406030204" pitchFamily="18" charset="0"/>
                </a:endParaRPr>
              </a:p>
              <a:p>
                <a:pPr marL="457200" lvl="1" indent="0">
                  <a:lnSpc>
                    <a:spcPct val="160000"/>
                  </a:lnSpc>
                  <a:buNone/>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𝑵𝒐𝒓𝒎𝒂𝒍𝒊𝒛𝒆𝒅</m:t>
                      </m:r>
                      <m:r>
                        <a:rPr lang="en-US" sz="2000" b="1" i="1" smtClean="0">
                          <a:latin typeface="Cambria Math" panose="02040503050406030204" pitchFamily="18" charset="0"/>
                        </a:rPr>
                        <m:t> </m:t>
                      </m:r>
                      <m:r>
                        <a:rPr lang="en-US" sz="2000" b="1" i="1" smtClean="0">
                          <a:latin typeface="Cambria Math" panose="02040503050406030204" pitchFamily="18" charset="0"/>
                        </a:rPr>
                        <m:t>𝑬𝒏𝒄𝒐𝒖𝒏𝒕𝒆𝒓</m:t>
                      </m:r>
                      <m:r>
                        <a:rPr lang="en-US" sz="2000" b="1" i="1" smtClean="0">
                          <a:latin typeface="Cambria Math" panose="02040503050406030204" pitchFamily="18" charset="0"/>
                        </a:rPr>
                        <m:t> </m:t>
                      </m:r>
                      <m:r>
                        <a:rPr lang="en-US" sz="2000" b="1" i="1" smtClean="0">
                          <a:latin typeface="Cambria Math" panose="02040503050406030204" pitchFamily="18" charset="0"/>
                        </a:rPr>
                        <m:t>𝑪𝒉𝒂𝒏𝒈𝒆</m:t>
                      </m:r>
                      <m:r>
                        <a:rPr lang="en-US" sz="2000" b="1">
                          <a:latin typeface="Cambria Math" panose="02040503050406030204" pitchFamily="18" charset="0"/>
                        </a:rPr>
                        <m:t>=</m:t>
                      </m:r>
                      <m:f>
                        <m:fPr>
                          <m:ctrlPr>
                            <a:rPr lang="en-US" sz="2000" b="1" i="1" smtClean="0">
                              <a:latin typeface="Cambria Math" panose="02040503050406030204" pitchFamily="18" charset="0"/>
                            </a:rPr>
                          </m:ctrlPr>
                        </m:fPr>
                        <m:num>
                          <m:r>
                            <a:rPr lang="en-US" sz="2000" b="1" i="1">
                              <a:latin typeface="Cambria Math" panose="02040503050406030204" pitchFamily="18" charset="0"/>
                            </a:rPr>
                            <m:t>𝑬𝒏𝒄𝒐𝒖𝒏𝒕𝒆𝒓</m:t>
                          </m:r>
                          <m:r>
                            <a:rPr lang="en-US" sz="2000" b="1" i="0" smtClean="0">
                              <a:latin typeface="Cambria Math" panose="02040503050406030204" pitchFamily="18" charset="0"/>
                            </a:rPr>
                            <m:t> </m:t>
                          </m:r>
                          <m:r>
                            <a:rPr lang="en-US" sz="2000" b="1" i="1">
                              <a:latin typeface="Cambria Math" panose="02040503050406030204" pitchFamily="18" charset="0"/>
                            </a:rPr>
                            <m:t>𝑪𝒉𝒂𝒏𝒈𝒆</m:t>
                          </m:r>
                        </m:num>
                        <m:den>
                          <m:r>
                            <a:rPr lang="en-US" sz="2000" b="1" i="1" smtClean="0">
                              <a:latin typeface="Cambria Math" panose="02040503050406030204" pitchFamily="18" charset="0"/>
                            </a:rPr>
                            <m:t>𝑨𝒗𝒆𝒓𝒂𝒈𝒆</m:t>
                          </m:r>
                          <m:r>
                            <a:rPr lang="en-US" sz="2000" b="1" i="0" smtClean="0">
                              <a:latin typeface="Cambria Math" panose="02040503050406030204" pitchFamily="18" charset="0"/>
                            </a:rPr>
                            <m:t> </m:t>
                          </m:r>
                          <m:r>
                            <a:rPr lang="en-US" sz="2000" b="1" i="1">
                              <a:latin typeface="Cambria Math" panose="02040503050406030204" pitchFamily="18" charset="0"/>
                            </a:rPr>
                            <m:t>𝑬𝒏𝒄𝒐𝒖𝒏𝒕𝒆𝒓𝒔</m:t>
                          </m:r>
                        </m:den>
                      </m:f>
                    </m:oMath>
                  </m:oMathPara>
                </a14:m>
                <a:endParaRPr lang="en-US" sz="2000" b="1" dirty="0"/>
              </a:p>
              <a:p>
                <a:pPr lvl="1">
                  <a:lnSpc>
                    <a:spcPct val="160000"/>
                  </a:lnSpc>
                </a:pPr>
                <a:r>
                  <a:rPr lang="en-US" sz="2000" dirty="0"/>
                  <a:t>Focus more on recent data (limits the underlying effect of data drift)</a:t>
                </a:r>
              </a:p>
              <a:p>
                <a:pPr marL="914400" lvl="2" indent="0">
                  <a:lnSpc>
                    <a:spcPct val="160000"/>
                  </a:lnSpc>
                  <a:buNone/>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𝑻𝒆𝒎𝒑𝒐𝒓𝒂𝒍</m:t>
                      </m:r>
                      <m:r>
                        <a:rPr lang="en-US" sz="2000" b="1" i="1" smtClean="0">
                          <a:latin typeface="Cambria Math" panose="02040503050406030204" pitchFamily="18" charset="0"/>
                        </a:rPr>
                        <m:t> </m:t>
                      </m:r>
                      <m:r>
                        <a:rPr lang="en-US" sz="2000" b="1" i="1" smtClean="0">
                          <a:latin typeface="Cambria Math" panose="02040503050406030204" pitchFamily="18" charset="0"/>
                        </a:rPr>
                        <m:t>𝑾𝒆𝒊𝒈𝒉𝒕</m:t>
                      </m:r>
                      <m:r>
                        <a:rPr lang="en-US" sz="2000" b="1" i="1" smtClean="0">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𝒆</m:t>
                          </m:r>
                        </m:e>
                        <m:sup>
                          <m:r>
                            <a:rPr lang="en-US" sz="2000" b="1" i="1" smtClean="0">
                              <a:latin typeface="Cambria Math" panose="02040503050406030204" pitchFamily="18" charset="0"/>
                            </a:rPr>
                            <m:t>−</m:t>
                          </m:r>
                          <m:r>
                            <a:rPr lang="en-US" sz="2000" b="1" i="1" smtClean="0">
                              <a:latin typeface="Cambria Math" panose="02040503050406030204" pitchFamily="18" charset="0"/>
                            </a:rPr>
                            <m:t>𝟎</m:t>
                          </m:r>
                          <m:r>
                            <a:rPr lang="en-US" sz="2000" b="1" i="1" smtClean="0">
                              <a:latin typeface="Cambria Math" panose="02040503050406030204" pitchFamily="18" charset="0"/>
                            </a:rPr>
                            <m:t>.</m:t>
                          </m:r>
                          <m:r>
                            <a:rPr lang="en-US" sz="2000" b="1" i="1" smtClean="0">
                              <a:latin typeface="Cambria Math" panose="02040503050406030204" pitchFamily="18" charset="0"/>
                            </a:rPr>
                            <m:t>𝟏</m:t>
                          </m:r>
                          <m:r>
                            <a:rPr lang="en-US" sz="2000" b="1" i="1">
                              <a:latin typeface="Cambria Math" panose="02040503050406030204" pitchFamily="18" charset="0"/>
                            </a:rPr>
                            <m:t>(</m:t>
                          </m:r>
                          <m:r>
                            <a:rPr lang="en-US" sz="2000" b="1" i="1">
                              <a:latin typeface="Cambria Math" panose="02040503050406030204" pitchFamily="18" charset="0"/>
                            </a:rPr>
                            <m:t>𝒎𝒂𝒙</m:t>
                          </m:r>
                          <m:r>
                            <a:rPr lang="en-US" sz="2000" b="1" i="1">
                              <a:latin typeface="Cambria Math" panose="02040503050406030204" pitchFamily="18" charset="0"/>
                            </a:rPr>
                            <m:t>_</m:t>
                          </m:r>
                          <m:r>
                            <a:rPr lang="en-US" sz="2000" b="1" i="1">
                              <a:latin typeface="Cambria Math" panose="02040503050406030204" pitchFamily="18" charset="0"/>
                            </a:rPr>
                            <m:t>𝒚𝒆𝒂𝒓</m:t>
                          </m:r>
                          <m:r>
                            <a:rPr lang="en-US" sz="2000" b="1" i="1">
                              <a:latin typeface="Cambria Math" panose="02040503050406030204" pitchFamily="18" charset="0"/>
                            </a:rPr>
                            <m:t>−</m:t>
                          </m:r>
                          <m:r>
                            <a:rPr lang="en-US" sz="2000" b="1" i="1">
                              <a:latin typeface="Cambria Math" panose="02040503050406030204" pitchFamily="18" charset="0"/>
                            </a:rPr>
                            <m:t>𝒀𝒆𝒂𝒓</m:t>
                          </m:r>
                          <m:r>
                            <a:rPr lang="en-US" sz="2000" b="1" i="1">
                              <a:latin typeface="Cambria Math" panose="02040503050406030204" pitchFamily="18" charset="0"/>
                            </a:rPr>
                            <m:t>)</m:t>
                          </m:r>
                        </m:sup>
                      </m:sSup>
                    </m:oMath>
                  </m:oMathPara>
                </a14:m>
                <a:endParaRPr lang="en-US" sz="2000" b="1" dirty="0"/>
              </a:p>
              <a:p>
                <a:pPr marL="0" indent="0">
                  <a:lnSpc>
                    <a:spcPct val="160000"/>
                  </a:lnSpc>
                  <a:buNone/>
                </a:pPr>
                <a:r>
                  <a:rPr lang="en-US" sz="2800" dirty="0"/>
                  <a:t>Final Score: </a:t>
                </a:r>
              </a:p>
              <a:p>
                <a:pPr>
                  <a:lnSpc>
                    <a:spcPct val="160000"/>
                  </a:lnSpc>
                </a:pPr>
                <a14:m>
                  <m:oMath xmlns:m="http://schemas.openxmlformats.org/officeDocument/2006/math">
                    <m:r>
                      <a:rPr lang="en-US" sz="2800" i="1">
                        <a:latin typeface="Cambria Math" panose="02040503050406030204" pitchFamily="18" charset="0"/>
                      </a:rPr>
                      <m:t>𝑅𝑖𝑠𝑘</m:t>
                    </m:r>
                    <m:r>
                      <a:rPr lang="en-US" sz="2800" i="1">
                        <a:latin typeface="Cambria Math" panose="02040503050406030204" pitchFamily="18" charset="0"/>
                      </a:rPr>
                      <m:t> </m:t>
                    </m:r>
                    <m:r>
                      <a:rPr lang="en-US" sz="2800" i="1">
                        <a:latin typeface="Cambria Math" panose="02040503050406030204" pitchFamily="18" charset="0"/>
                      </a:rPr>
                      <m:t>𝑆𝑐𝑜𝑟𝑒</m:t>
                    </m:r>
                    <m:r>
                      <a:rPr lang="en-US" sz="2800" i="1">
                        <a:latin typeface="Cambria Math" panose="02040503050406030204" pitchFamily="18" charset="0"/>
                      </a:rPr>
                      <m:t>=</m:t>
                    </m:r>
                    <m:r>
                      <a:rPr lang="en-US" sz="2800" i="1">
                        <a:latin typeface="Cambria Math" panose="02040503050406030204" pitchFamily="18" charset="0"/>
                      </a:rPr>
                      <m:t>𝛼</m:t>
                    </m:r>
                    <m:r>
                      <a:rPr lang="en-US" sz="2800" i="1">
                        <a:latin typeface="Cambria Math" panose="02040503050406030204" pitchFamily="18" charset="0"/>
                      </a:rPr>
                      <m:t>⋅</m:t>
                    </m:r>
                    <m:r>
                      <a:rPr lang="en-US" sz="2800" i="1">
                        <a:latin typeface="Cambria Math" panose="02040503050406030204" pitchFamily="18" charset="0"/>
                      </a:rPr>
                      <m:t>𝑁𝑜𝑟𝑚𝑎𝑙𝑖𝑧𝑒𝑑</m:t>
                    </m:r>
                    <m:r>
                      <a:rPr lang="en-US" sz="2800" i="1">
                        <a:latin typeface="Cambria Math" panose="02040503050406030204" pitchFamily="18" charset="0"/>
                      </a:rPr>
                      <m:t> </m:t>
                    </m:r>
                    <m:r>
                      <a:rPr lang="en-US" sz="2800" i="1">
                        <a:latin typeface="Cambria Math" panose="02040503050406030204" pitchFamily="18" charset="0"/>
                      </a:rPr>
                      <m:t>𝐸𝑛𝑐𝑜𝑢𝑛𝑡𝑒𝑟</m:t>
                    </m:r>
                    <m:r>
                      <a:rPr lang="en-US" sz="2800" i="1">
                        <a:latin typeface="Cambria Math" panose="02040503050406030204" pitchFamily="18" charset="0"/>
                      </a:rPr>
                      <m:t> </m:t>
                    </m:r>
                    <m:r>
                      <a:rPr lang="en-US" sz="2800" i="1">
                        <a:latin typeface="Cambria Math" panose="02040503050406030204" pitchFamily="18" charset="0"/>
                      </a:rPr>
                      <m:t>𝐶h𝑎𝑛𝑔𝑒</m:t>
                    </m:r>
                    <m:r>
                      <a:rPr lang="en-US" sz="2800" i="1">
                        <a:latin typeface="Cambria Math" panose="02040503050406030204" pitchFamily="18" charset="0"/>
                      </a:rPr>
                      <m:t>+</m:t>
                    </m:r>
                    <m:r>
                      <a:rPr lang="en-US" sz="2800" i="1">
                        <a:latin typeface="Cambria Math" panose="02040503050406030204" pitchFamily="18" charset="0"/>
                      </a:rPr>
                      <m:t>𝛽</m:t>
                    </m:r>
                    <m:r>
                      <a:rPr lang="en-US" sz="2800" i="1">
                        <a:latin typeface="Cambria Math" panose="02040503050406030204" pitchFamily="18" charset="0"/>
                      </a:rPr>
                      <m:t>⋅</m:t>
                    </m:r>
                    <m:r>
                      <a:rPr lang="en-US" sz="2800" i="1">
                        <a:latin typeface="Cambria Math" panose="02040503050406030204" pitchFamily="18" charset="0"/>
                      </a:rPr>
                      <m:t>𝑇𝑒𝑚𝑝𝑜𝑟𝑎𝑙</m:t>
                    </m:r>
                    <m:r>
                      <a:rPr lang="en-US" sz="2800" i="1">
                        <a:latin typeface="Cambria Math" panose="02040503050406030204" pitchFamily="18" charset="0"/>
                      </a:rPr>
                      <m:t> </m:t>
                    </m:r>
                    <m:r>
                      <a:rPr lang="en-US" sz="2800" i="1">
                        <a:latin typeface="Cambria Math" panose="02040503050406030204" pitchFamily="18" charset="0"/>
                      </a:rPr>
                      <m:t>𝑊𝑒𝑖𝑔h𝑡</m:t>
                    </m:r>
                  </m:oMath>
                </a14:m>
                <a:endParaRPr lang="en-US" sz="2800" dirty="0"/>
              </a:p>
              <a:p>
                <a:pPr>
                  <a:lnSpc>
                    <a:spcPct val="160000"/>
                  </a:lnSpc>
                </a:pPr>
                <a:endParaRPr lang="en-US" sz="2800" dirty="0"/>
              </a:p>
              <a:p>
                <a:pPr lvl="2">
                  <a:lnSpc>
                    <a:spcPct val="160000"/>
                  </a:lnSpc>
                </a:pPr>
                <a:endParaRPr lang="en-US" sz="1600" dirty="0"/>
              </a:p>
              <a:p>
                <a:pPr marL="914400" lvl="1" indent="-457200">
                  <a:lnSpc>
                    <a:spcPct val="160000"/>
                  </a:lnSpc>
                  <a:buFont typeface="+mj-lt"/>
                  <a:buAutoNum type="arabicPeriod"/>
                </a:pPr>
                <a:endParaRPr lang="en-US" sz="2000" dirty="0"/>
              </a:p>
            </p:txBody>
          </p:sp>
        </mc:Choice>
        <mc:Fallback xmlns="">
          <p:sp>
            <p:nvSpPr>
              <p:cNvPr id="2" name="Content Placeholder 1">
                <a:extLst>
                  <a:ext uri="{FF2B5EF4-FFF2-40B4-BE49-F238E27FC236}">
                    <a16:creationId xmlns:a16="http://schemas.microsoft.com/office/drawing/2014/main" id="{F06A1136-ADF8-4041-90C3-99C5CDEBE274}"/>
                  </a:ext>
                </a:extLst>
              </p:cNvPr>
              <p:cNvSpPr>
                <a:spLocks noGrp="1" noRot="1" noChangeAspect="1" noMove="1" noResize="1" noEditPoints="1" noAdjustHandles="1" noChangeArrowheads="1" noChangeShapeType="1" noTextEdit="1"/>
              </p:cNvSpPr>
              <p:nvPr>
                <p:ph idx="1"/>
              </p:nvPr>
            </p:nvSpPr>
            <p:spPr>
              <a:xfrm>
                <a:off x="609600" y="988383"/>
                <a:ext cx="10972800" cy="5367967"/>
              </a:xfrm>
              <a:blipFill>
                <a:blip r:embed="rId2"/>
                <a:stretch>
                  <a:fillRect l="-833"/>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51</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Year over Year change</a:t>
            </a:r>
            <a:endParaRPr lang="en-US" dirty="0"/>
          </a:p>
        </p:txBody>
      </p:sp>
      <p:sp>
        <p:nvSpPr>
          <p:cNvPr id="6" name="TextBox 5">
            <a:extLst>
              <a:ext uri="{FF2B5EF4-FFF2-40B4-BE49-F238E27FC236}">
                <a16:creationId xmlns:a16="http://schemas.microsoft.com/office/drawing/2014/main" id="{73B435D2-48A8-4C6F-A7A5-286DDC5F78D7}"/>
              </a:ext>
            </a:extLst>
          </p:cNvPr>
          <p:cNvSpPr txBox="1"/>
          <p:nvPr/>
        </p:nvSpPr>
        <p:spPr>
          <a:xfrm>
            <a:off x="5638800" y="2971800"/>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36370342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52</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Correlation of the metrics</a:t>
            </a:r>
            <a:endParaRPr lang="en-US" dirty="0"/>
          </a:p>
        </p:txBody>
      </p:sp>
      <p:sp>
        <p:nvSpPr>
          <p:cNvPr id="6" name="TextBox 5">
            <a:extLst>
              <a:ext uri="{FF2B5EF4-FFF2-40B4-BE49-F238E27FC236}">
                <a16:creationId xmlns:a16="http://schemas.microsoft.com/office/drawing/2014/main" id="{73B435D2-48A8-4C6F-A7A5-286DDC5F78D7}"/>
              </a:ext>
            </a:extLst>
          </p:cNvPr>
          <p:cNvSpPr txBox="1"/>
          <p:nvPr/>
        </p:nvSpPr>
        <p:spPr>
          <a:xfrm>
            <a:off x="5638800" y="2971800"/>
            <a:ext cx="65" cy="276999"/>
          </a:xfrm>
          <a:prstGeom prst="rect">
            <a:avLst/>
          </a:prstGeom>
          <a:noFill/>
        </p:spPr>
        <p:txBody>
          <a:bodyPr wrap="none" lIns="0" tIns="0" rIns="0" bIns="0" rtlCol="0">
            <a:spAutoFit/>
          </a:bodyPr>
          <a:lstStyle/>
          <a:p>
            <a:endParaRPr lang="en-US" dirty="0"/>
          </a:p>
        </p:txBody>
      </p:sp>
      <p:pic>
        <p:nvPicPr>
          <p:cNvPr id="4098" name="Picture 2">
            <a:extLst>
              <a:ext uri="{FF2B5EF4-FFF2-40B4-BE49-F238E27FC236}">
                <a16:creationId xmlns:a16="http://schemas.microsoft.com/office/drawing/2014/main" id="{238CD042-F8CC-48E1-A9BE-2D359E796B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9296" y="997022"/>
            <a:ext cx="7373408" cy="5441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7800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53</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Correlation of the metrics</a:t>
            </a:r>
            <a:endParaRPr lang="en-US" dirty="0"/>
          </a:p>
        </p:txBody>
      </p:sp>
      <p:sp>
        <p:nvSpPr>
          <p:cNvPr id="6" name="TextBox 5">
            <a:extLst>
              <a:ext uri="{FF2B5EF4-FFF2-40B4-BE49-F238E27FC236}">
                <a16:creationId xmlns:a16="http://schemas.microsoft.com/office/drawing/2014/main" id="{73B435D2-48A8-4C6F-A7A5-286DDC5F78D7}"/>
              </a:ext>
            </a:extLst>
          </p:cNvPr>
          <p:cNvSpPr txBox="1"/>
          <p:nvPr/>
        </p:nvSpPr>
        <p:spPr>
          <a:xfrm>
            <a:off x="5638800" y="2971800"/>
            <a:ext cx="65" cy="276999"/>
          </a:xfrm>
          <a:prstGeom prst="rect">
            <a:avLst/>
          </a:prstGeom>
          <a:noFill/>
        </p:spPr>
        <p:txBody>
          <a:bodyPr wrap="none" lIns="0" tIns="0" rIns="0" bIns="0" rtlCol="0">
            <a:spAutoFit/>
          </a:bodyPr>
          <a:lstStyle/>
          <a:p>
            <a:endParaRPr lang="en-US" dirty="0"/>
          </a:p>
        </p:txBody>
      </p:sp>
      <p:pic>
        <p:nvPicPr>
          <p:cNvPr id="5122" name="Picture 2">
            <a:extLst>
              <a:ext uri="{FF2B5EF4-FFF2-40B4-BE49-F238E27FC236}">
                <a16:creationId xmlns:a16="http://schemas.microsoft.com/office/drawing/2014/main" id="{7A8EB26E-7A3C-4924-8455-E492E37CAA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2867" y="940625"/>
            <a:ext cx="7404100" cy="5494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46567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a:bodyPr>
              <a:lstStyle/>
              <a:p>
                <a:pPr marL="0" indent="0">
                  <a:buNone/>
                </a:pPr>
                <a:r>
                  <a:rPr lang="en-US" sz="2800" dirty="0"/>
                  <a:t>Final Anomaly Score computed as: </a:t>
                </a:r>
                <a:endParaRPr lang="en-US" sz="2800" b="0" i="1" dirty="0">
                  <a:latin typeface="Cambria Math" panose="02040503050406030204" pitchFamily="18" charset="0"/>
                </a:endParaRPr>
              </a:p>
              <a:p>
                <a:pPr marL="0" indent="0">
                  <a:buNone/>
                </a:pPr>
                <a:endParaRPr lang="en-US" sz="2800" b="0" i="1" dirty="0">
                  <a:latin typeface="Cambria Math" panose="02040503050406030204" pitchFamily="18" charset="0"/>
                </a:endParaRPr>
              </a:p>
              <a:p>
                <a:pPr marL="0" indent="0">
                  <a:buNone/>
                </a:pPr>
                <a:endParaRPr lang="en-US" sz="28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𝐴𝑛𝑜𝑚𝑎𝑙𝑦</m:t>
                      </m:r>
                      <m:r>
                        <a:rPr lang="en-US" sz="2800" b="0" i="1" smtClean="0">
                          <a:latin typeface="Cambria Math" panose="02040503050406030204" pitchFamily="18" charset="0"/>
                        </a:rPr>
                        <m:t> </m:t>
                      </m:r>
                      <m:r>
                        <a:rPr lang="en-US" sz="2800" b="0" i="1" smtClean="0">
                          <a:latin typeface="Cambria Math" panose="02040503050406030204" pitchFamily="18" charset="0"/>
                        </a:rPr>
                        <m:t>𝑆𝑐𝑜𝑟𝑒</m:t>
                      </m:r>
                      <m:r>
                        <a:rPr lang="en-US" sz="2800" b="0" i="1" smtClean="0">
                          <a:latin typeface="Cambria Math" panose="02040503050406030204" pitchFamily="18" charset="0"/>
                        </a:rPr>
                        <m:t>=</m:t>
                      </m:r>
                      <m:nary>
                        <m:naryPr>
                          <m:chr m:val="∑"/>
                          <m:ctrlPr>
                            <a:rPr lang="en-US" sz="2800" b="0" i="1" smtClean="0">
                              <a:latin typeface="Cambria Math" panose="02040503050406030204" pitchFamily="18" charset="0"/>
                            </a:rPr>
                          </m:ctrlPr>
                        </m:naryPr>
                        <m:sub>
                          <m:r>
                            <m:rPr>
                              <m:brk m:alnAt="23"/>
                            </m:rPr>
                            <a:rPr lang="en-US" sz="2800" b="0" i="1" smtClean="0">
                              <a:latin typeface="Cambria Math" panose="02040503050406030204" pitchFamily="18" charset="0"/>
                            </a:rPr>
                            <m:t>𝑖</m:t>
                          </m:r>
                          <m:r>
                            <a:rPr lang="en-US" sz="2800" b="0" i="1" smtClean="0">
                              <a:latin typeface="Cambria Math" panose="02040503050406030204" pitchFamily="18" charset="0"/>
                            </a:rPr>
                            <m:t>=1</m:t>
                          </m:r>
                        </m:sub>
                        <m:sup>
                          <m:r>
                            <a:rPr lang="en-US" sz="2800" b="0" i="1" smtClean="0">
                              <a:latin typeface="Cambria Math" panose="02040503050406030204" pitchFamily="18" charset="0"/>
                            </a:rPr>
                            <m:t>𝑁</m:t>
                          </m:r>
                        </m:sup>
                        <m:e>
                          <m:r>
                            <a:rPr lang="en-US" sz="2800" b="0" i="1" smtClean="0">
                              <a:latin typeface="Cambria Math" panose="02040503050406030204" pitchFamily="18" charset="0"/>
                            </a:rPr>
                            <m:t>𝐹𝑙𝑎𝑔</m:t>
                          </m:r>
                          <m:r>
                            <a:rPr lang="en-US" sz="2800" b="0" i="1" smtClean="0">
                              <a:latin typeface="Cambria Math" panose="02040503050406030204" pitchFamily="18" charset="0"/>
                            </a:rPr>
                            <m:t>(</m:t>
                          </m:r>
                          <m:r>
                            <a:rPr lang="en-US" sz="2800" b="0" i="1" smtClean="0">
                              <a:latin typeface="Cambria Math" panose="02040503050406030204" pitchFamily="18" charset="0"/>
                            </a:rPr>
                            <m:t>𝑖</m:t>
                          </m:r>
                          <m:r>
                            <a:rPr lang="en-US" sz="2800" b="0" i="1" smtClean="0">
                              <a:latin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𝛼</m:t>
                          </m:r>
                          <m:r>
                            <a:rPr lang="en-US" sz="2800" b="0" i="1" smtClean="0">
                              <a:latin typeface="Cambria Math" panose="02040503050406030204" pitchFamily="18" charset="0"/>
                              <a:ea typeface="Cambria Math" panose="02040503050406030204" pitchFamily="18" charset="0"/>
                            </a:rPr>
                            <m:t>        </m:t>
                          </m:r>
                          <m:d>
                            <m:dPr>
                              <m:begChr m:val="{"/>
                              <m:endChr m:val=""/>
                              <m:ctrlPr>
                                <a:rPr lang="en-US" sz="2800" b="0" i="1" smtClean="0">
                                  <a:latin typeface="Cambria Math" panose="02040503050406030204" pitchFamily="18" charset="0"/>
                                  <a:ea typeface="Cambria Math" panose="02040503050406030204" pitchFamily="18" charset="0"/>
                                </a:rPr>
                              </m:ctrlPr>
                            </m:dPr>
                            <m:e>
                              <m:eqArr>
                                <m:eqArrPr>
                                  <m:ctrlPr>
                                    <a:rPr lang="en-US" sz="2800" b="0" i="1" smtClean="0">
                                      <a:latin typeface="Cambria Math" panose="02040503050406030204" pitchFamily="18" charset="0"/>
                                      <a:ea typeface="Cambria Math" panose="02040503050406030204" pitchFamily="18" charset="0"/>
                                    </a:rPr>
                                  </m:ctrlPr>
                                </m:eqArrPr>
                                <m:e>
                                  <m:r>
                                    <a:rPr lang="en-US" sz="2800" b="0" i="1" smtClean="0">
                                      <a:latin typeface="Cambria Math" panose="02040503050406030204" pitchFamily="18" charset="0"/>
                                      <a:ea typeface="Cambria Math" panose="02040503050406030204" pitchFamily="18" charset="0"/>
                                    </a:rPr>
                                    <m:t>𝑁</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𝑡𝑜𝑡𝑎𝑙</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𝑓𝑙𝑎𝑔𝑠</m:t>
                                  </m:r>
                                </m:e>
                                <m:e>
                                  <m:r>
                                    <a:rPr lang="en-US" sz="2800" i="1">
                                      <a:latin typeface="Cambria Math" panose="02040503050406030204" pitchFamily="18" charset="0"/>
                                      <a:ea typeface="Cambria Math" panose="02040503050406030204" pitchFamily="18" charset="0"/>
                                    </a:rPr>
                                    <m:t>𝛼</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𝑤𝑒𝑖𝑔h𝑡</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𝑎𝑠𝑠𝑖𝑔𝑛𝑒𝑑</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𝑡𝑜</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𝑓𝑙𝑎𝑔</m:t>
                                  </m:r>
                                </m:e>
                              </m:eqArr>
                            </m:e>
                          </m:d>
                        </m:e>
                      </m:nary>
                      <m:r>
                        <a:rPr lang="en-US" sz="2800" b="0" i="1" smtClean="0">
                          <a:latin typeface="Cambria Math" panose="02040503050406030204" pitchFamily="18" charset="0"/>
                        </a:rPr>
                        <m:t> </m:t>
                      </m:r>
                    </m:oMath>
                  </m:oMathPara>
                </a14:m>
                <a:endParaRPr lang="en-US" sz="2800" dirty="0"/>
              </a:p>
              <a:p>
                <a:pPr marL="1371600" lvl="3" indent="0">
                  <a:buNone/>
                </a:pPr>
                <a:endParaRPr lang="en-US" dirty="0"/>
              </a:p>
            </p:txBody>
          </p:sp>
        </mc:Choice>
        <mc:Fallback>
          <p:sp>
            <p:nvSpPr>
              <p:cNvPr id="2" name="Content Placeholder 1">
                <a:extLst>
                  <a:ext uri="{FF2B5EF4-FFF2-40B4-BE49-F238E27FC236}">
                    <a16:creationId xmlns:a16="http://schemas.microsoft.com/office/drawing/2014/main" id="{F06A1136-ADF8-4041-90C3-99C5CDEBE274}"/>
                  </a:ext>
                </a:extLst>
              </p:cNvPr>
              <p:cNvSpPr>
                <a:spLocks noGrp="1" noRot="1" noChangeAspect="1" noMove="1" noResize="1" noEditPoints="1" noAdjustHandles="1" noChangeArrowheads="1" noChangeShapeType="1" noTextEdit="1"/>
              </p:cNvSpPr>
              <p:nvPr>
                <p:ph idx="1"/>
              </p:nvPr>
            </p:nvSpPr>
            <p:spPr>
              <a:xfrm>
                <a:off x="609600" y="988383"/>
                <a:ext cx="10972800" cy="5367967"/>
              </a:xfrm>
              <a:blipFill>
                <a:blip r:embed="rId2"/>
                <a:stretch>
                  <a:fillRect l="-1111" t="-1135"/>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54</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Anomaly Detection</a:t>
            </a:r>
            <a:endParaRPr lang="en-US" dirty="0"/>
          </a:p>
        </p:txBody>
      </p:sp>
    </p:spTree>
    <p:extLst>
      <p:ext uri="{BB962C8B-B14F-4D97-AF65-F5344CB8AC3E}">
        <p14:creationId xmlns:p14="http://schemas.microsoft.com/office/powerpoint/2010/main" val="22374966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55</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Results</a:t>
            </a:r>
            <a:endParaRPr lang="en-US" dirty="0"/>
          </a:p>
        </p:txBody>
      </p:sp>
      <p:pic>
        <p:nvPicPr>
          <p:cNvPr id="11" name="Content Placeholder 10">
            <a:extLst>
              <a:ext uri="{FF2B5EF4-FFF2-40B4-BE49-F238E27FC236}">
                <a16:creationId xmlns:a16="http://schemas.microsoft.com/office/drawing/2014/main" id="{18617BAA-94F7-451C-AEE3-44A724CA8EBC}"/>
              </a:ext>
            </a:extLst>
          </p:cNvPr>
          <p:cNvPicPr>
            <a:picLocks noGrp="1" noChangeAspect="1"/>
          </p:cNvPicPr>
          <p:nvPr>
            <p:ph idx="1"/>
          </p:nvPr>
        </p:nvPicPr>
        <p:blipFill rotWithShape="1">
          <a:blip r:embed="rId2"/>
          <a:srcRect r="1845" b="6421"/>
          <a:stretch/>
        </p:blipFill>
        <p:spPr>
          <a:xfrm>
            <a:off x="1257324" y="1013559"/>
            <a:ext cx="9058251" cy="2816881"/>
          </a:xfrm>
        </p:spPr>
      </p:pic>
      <p:pic>
        <p:nvPicPr>
          <p:cNvPr id="13" name="Picture 12">
            <a:extLst>
              <a:ext uri="{FF2B5EF4-FFF2-40B4-BE49-F238E27FC236}">
                <a16:creationId xmlns:a16="http://schemas.microsoft.com/office/drawing/2014/main" id="{05E6B65D-A084-4331-A537-66069AEB07C6}"/>
              </a:ext>
            </a:extLst>
          </p:cNvPr>
          <p:cNvPicPr>
            <a:picLocks noChangeAspect="1"/>
          </p:cNvPicPr>
          <p:nvPr/>
        </p:nvPicPr>
        <p:blipFill>
          <a:blip r:embed="rId3"/>
          <a:stretch>
            <a:fillRect/>
          </a:stretch>
        </p:blipFill>
        <p:spPr>
          <a:xfrm>
            <a:off x="489249" y="963736"/>
            <a:ext cx="11702751" cy="4930527"/>
          </a:xfrm>
          <a:prstGeom prst="rect">
            <a:avLst/>
          </a:prstGeom>
        </p:spPr>
      </p:pic>
      <p:pic>
        <p:nvPicPr>
          <p:cNvPr id="15" name="Picture 14">
            <a:extLst>
              <a:ext uri="{FF2B5EF4-FFF2-40B4-BE49-F238E27FC236}">
                <a16:creationId xmlns:a16="http://schemas.microsoft.com/office/drawing/2014/main" id="{96B73459-2D71-40BB-8BB1-5D56D4568D39}"/>
              </a:ext>
            </a:extLst>
          </p:cNvPr>
          <p:cNvPicPr>
            <a:picLocks noChangeAspect="1"/>
          </p:cNvPicPr>
          <p:nvPr/>
        </p:nvPicPr>
        <p:blipFill>
          <a:blip r:embed="rId4"/>
          <a:stretch>
            <a:fillRect/>
          </a:stretch>
        </p:blipFill>
        <p:spPr>
          <a:xfrm>
            <a:off x="142875" y="908042"/>
            <a:ext cx="12057322" cy="4986221"/>
          </a:xfrm>
          <a:prstGeom prst="rect">
            <a:avLst/>
          </a:prstGeom>
        </p:spPr>
      </p:pic>
    </p:spTree>
    <p:extLst>
      <p:ext uri="{BB962C8B-B14F-4D97-AF65-F5344CB8AC3E}">
        <p14:creationId xmlns:p14="http://schemas.microsoft.com/office/powerpoint/2010/main" val="295321657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56</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Results</a:t>
            </a:r>
            <a:endParaRPr lang="en-US" dirty="0"/>
          </a:p>
        </p:txBody>
      </p:sp>
      <p:pic>
        <p:nvPicPr>
          <p:cNvPr id="6146" name="Picture 2" descr="Recent weeks graph">
            <a:extLst>
              <a:ext uri="{FF2B5EF4-FFF2-40B4-BE49-F238E27FC236}">
                <a16:creationId xmlns:a16="http://schemas.microsoft.com/office/drawing/2014/main" id="{FC83B9BD-87D4-49CC-B8DB-FE95F649179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46546" y="1063253"/>
            <a:ext cx="7498908" cy="4499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0924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57</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Results</a:t>
            </a:r>
            <a:endParaRPr lang="en-US" dirty="0"/>
          </a:p>
        </p:txBody>
      </p:sp>
      <p:pic>
        <p:nvPicPr>
          <p:cNvPr id="7172" name="Picture 4" descr="Historical graph">
            <a:extLst>
              <a:ext uri="{FF2B5EF4-FFF2-40B4-BE49-F238E27FC236}">
                <a16:creationId xmlns:a16="http://schemas.microsoft.com/office/drawing/2014/main" id="{77949C5D-8405-481D-9B32-BA19A59B969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32000" y="1052053"/>
            <a:ext cx="8548006" cy="4986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65991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1188408"/>
            <a:ext cx="10972800" cy="5367967"/>
          </a:xfrm>
        </p:spPr>
        <p:txBody>
          <a:bodyPr>
            <a:normAutofit/>
          </a:bodyPr>
          <a:lstStyle/>
          <a:p>
            <a:pPr marL="0" indent="0">
              <a:buNone/>
            </a:pPr>
            <a:r>
              <a:rPr lang="en-US" sz="2800" dirty="0"/>
              <a:t>To validate the </a:t>
            </a:r>
            <a:r>
              <a:rPr lang="en-US" sz="2800" b="1" dirty="0"/>
              <a:t>Anomaly Score</a:t>
            </a:r>
            <a:r>
              <a:rPr lang="en-US" sz="2800" dirty="0"/>
              <a:t> for a given </a:t>
            </a:r>
            <a:r>
              <a:rPr lang="en-US" sz="2800" b="1" dirty="0"/>
              <a:t>state and disease</a:t>
            </a:r>
            <a:endParaRPr lang="en-US" sz="2800" dirty="0"/>
          </a:p>
          <a:p>
            <a:pPr marL="0" indent="0">
              <a:buNone/>
            </a:pPr>
            <a:endParaRPr lang="en-US" sz="2800" dirty="0"/>
          </a:p>
          <a:p>
            <a:pPr>
              <a:buFontTx/>
              <a:buChar char="-"/>
            </a:pPr>
            <a:r>
              <a:rPr lang="en-US" sz="2800" dirty="0"/>
              <a:t>We need to ensure that anomaly points are detected at </a:t>
            </a:r>
            <a:r>
              <a:rPr lang="en-US" sz="2800" b="1" dirty="0"/>
              <a:t>peak points</a:t>
            </a:r>
            <a:r>
              <a:rPr lang="en-US" sz="2800" dirty="0"/>
              <a:t>.</a:t>
            </a:r>
          </a:p>
          <a:p>
            <a:pPr>
              <a:buFontTx/>
              <a:buChar char="-"/>
            </a:pPr>
            <a:endParaRPr lang="en-US" sz="2800" dirty="0"/>
          </a:p>
          <a:p>
            <a:pPr>
              <a:buFontTx/>
              <a:buChar char="-"/>
            </a:pPr>
            <a:r>
              <a:rPr lang="en-US" sz="2800" dirty="0"/>
              <a:t>Rather than occurring randomly in the middle of a stable trend.</a:t>
            </a:r>
          </a:p>
          <a:p>
            <a:pPr marL="0" indent="0">
              <a:buNone/>
            </a:pPr>
            <a:endParaRPr lang="en-US" sz="2800" dirty="0"/>
          </a:p>
          <a:p>
            <a:pPr>
              <a:buFontTx/>
              <a:buChar char="-"/>
            </a:pPr>
            <a:endParaRPr lang="en-US" sz="2800" dirty="0"/>
          </a:p>
          <a:p>
            <a:pPr>
              <a:buFontTx/>
              <a:buChar char="-"/>
            </a:pPr>
            <a:endParaRPr lang="en-US" sz="2800" dirty="0"/>
          </a:p>
          <a:p>
            <a:pPr marL="0" indent="0">
              <a:buNone/>
            </a:pPr>
            <a:endParaRPr lang="en-US" sz="2800" i="1" dirty="0">
              <a:latin typeface="Cambria Math" panose="02040503050406030204" pitchFamily="18" charset="0"/>
            </a:endParaRPr>
          </a:p>
          <a:p>
            <a:pPr marL="0" indent="0">
              <a:buNone/>
            </a:pPr>
            <a:endParaRPr lang="en-US" sz="2800" i="1" dirty="0">
              <a:latin typeface="Cambria Math" panose="02040503050406030204" pitchFamily="18" charset="0"/>
            </a:endParaRPr>
          </a:p>
          <a:p>
            <a:pPr marL="0" indent="0">
              <a:buNone/>
            </a:pPr>
            <a:endParaRPr lang="en-US" sz="2800" i="1" dirty="0">
              <a:latin typeface="Cambria Math" panose="02040503050406030204" pitchFamily="18" charset="0"/>
            </a:endParaRPr>
          </a:p>
          <a:p>
            <a:pPr marL="0" indent="0">
              <a:buNone/>
            </a:pPr>
            <a:endParaRPr lang="en-US" sz="2800" i="1" dirty="0">
              <a:latin typeface="Cambria Math" panose="02040503050406030204" pitchFamily="18" charset="0"/>
            </a:endParaRPr>
          </a:p>
          <a:p>
            <a:pPr marL="0" indent="0">
              <a:buNone/>
            </a:pPr>
            <a:endParaRPr lang="en-US" sz="2800" i="1" dirty="0">
              <a:latin typeface="Cambria Math" panose="02040503050406030204" pitchFamily="18" charset="0"/>
            </a:endParaRPr>
          </a:p>
          <a:p>
            <a:pPr marL="0" indent="0">
              <a:buNone/>
            </a:pPr>
            <a:endParaRPr lang="en-US" sz="2800" i="1" dirty="0">
              <a:latin typeface="Cambria Math" panose="02040503050406030204" pitchFamily="18" charset="0"/>
            </a:endParaRPr>
          </a:p>
          <a:p>
            <a:pPr marL="0" indent="0">
              <a:buNone/>
            </a:pPr>
            <a:endParaRPr lang="en-US" sz="2800" i="1" dirty="0">
              <a:latin typeface="Cambria Math" panose="02040503050406030204" pitchFamily="18" charset="0"/>
            </a:endParaRPr>
          </a:p>
          <a:p>
            <a:pPr marL="0" indent="0">
              <a:buNone/>
            </a:pPr>
            <a:endParaRPr lang="en-US" sz="2800" i="1" dirty="0">
              <a:latin typeface="Cambria Math" panose="02040503050406030204" pitchFamily="18" charset="0"/>
            </a:endParaRPr>
          </a:p>
          <a:p>
            <a:pPr marL="0" indent="0">
              <a:buNone/>
            </a:pPr>
            <a:endParaRPr lang="en-US" sz="2800" i="1" dirty="0">
              <a:latin typeface="Cambria Math" panose="02040503050406030204" pitchFamily="18" charset="0"/>
            </a:endParaRPr>
          </a:p>
          <a:p>
            <a:pPr marL="0" indent="0">
              <a:buNone/>
            </a:pPr>
            <a:endParaRPr lang="en-US" sz="2800" b="0" i="1" dirty="0">
              <a:latin typeface="Cambria Math" panose="02040503050406030204" pitchFamily="18" charset="0"/>
            </a:endParaRPr>
          </a:p>
        </p:txBody>
      </p:sp>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58</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Results</a:t>
            </a:r>
            <a:endParaRPr lang="en-US" dirty="0"/>
          </a:p>
        </p:txBody>
      </p:sp>
      <p:pic>
        <p:nvPicPr>
          <p:cNvPr id="8196" name="Picture 4">
            <a:extLst>
              <a:ext uri="{FF2B5EF4-FFF2-40B4-BE49-F238E27FC236}">
                <a16:creationId xmlns:a16="http://schemas.microsoft.com/office/drawing/2014/main" id="{E963F995-1007-4DC6-9021-BFC77458BC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0175" y="1023307"/>
            <a:ext cx="9391650"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821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6"/>
                                        </p:tgtEl>
                                        <p:attrNameLst>
                                          <p:attrName>style.visibility</p:attrName>
                                        </p:attrNameLst>
                                      </p:cBhvr>
                                      <p:to>
                                        <p:strVal val="visible"/>
                                      </p:to>
                                    </p:set>
                                    <p:animEffect transition="in" filter="fade">
                                      <p:cBhvr>
                                        <p:cTn id="7"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0"/>
          <p:cNvSpPr txBox="1">
            <a:spLocks noGrp="1"/>
          </p:cNvSpPr>
          <p:nvPr>
            <p:ph type="dt" idx="10"/>
          </p:nvPr>
        </p:nvSpPr>
        <p:spPr>
          <a:xfrm>
            <a:off x="609600" y="6356351"/>
            <a:ext cx="2844800" cy="365200"/>
          </a:xfrm>
          <a:prstGeom prst="rect">
            <a:avLst/>
          </a:prstGeom>
          <a:noFill/>
          <a:ln>
            <a:noFill/>
          </a:ln>
        </p:spPr>
        <p:txBody>
          <a:bodyPr spcFirstLastPara="1" vert="horz" wrap="square" lIns="91433" tIns="45700" rIns="91433" bIns="45700" rtlCol="0" anchor="ctr" anchorCtr="0">
            <a:noAutofit/>
          </a:bodyPr>
          <a:lstStyle/>
          <a:p>
            <a:r>
              <a:rPr lang="en-US" dirty="0"/>
              <a:t>January 22, 2025</a:t>
            </a:r>
            <a:endParaRPr dirty="0"/>
          </a:p>
        </p:txBody>
      </p:sp>
      <p:sp>
        <p:nvSpPr>
          <p:cNvPr id="266" name="Google Shape;266;p40"/>
          <p:cNvSpPr txBox="1">
            <a:spLocks noGrp="1"/>
          </p:cNvSpPr>
          <p:nvPr>
            <p:ph type="sldNum" idx="12"/>
          </p:nvPr>
        </p:nvSpPr>
        <p:spPr>
          <a:xfrm>
            <a:off x="4673600" y="6356351"/>
            <a:ext cx="2844800" cy="365200"/>
          </a:xfrm>
          <a:prstGeom prst="rect">
            <a:avLst/>
          </a:prstGeom>
          <a:noFill/>
          <a:ln>
            <a:noFill/>
          </a:ln>
        </p:spPr>
        <p:txBody>
          <a:bodyPr spcFirstLastPara="1" vert="horz" wrap="square" lIns="91433" tIns="45700" rIns="91433" bIns="45700" rtlCol="0" anchor="ctr" anchorCtr="0">
            <a:noAutofit/>
          </a:bodyPr>
          <a:lstStyle/>
          <a:p>
            <a:fld id="{00000000-1234-1234-1234-123412341234}" type="slidenum">
              <a:rPr lang="en"/>
              <a:pPr/>
              <a:t>59</a:t>
            </a:fld>
            <a:endParaRPr/>
          </a:p>
        </p:txBody>
      </p:sp>
      <p:sp>
        <p:nvSpPr>
          <p:cNvPr id="267" name="Google Shape;267;p40"/>
          <p:cNvSpPr txBox="1">
            <a:spLocks noGrp="1"/>
          </p:cNvSpPr>
          <p:nvPr>
            <p:ph type="ctrTitle"/>
          </p:nvPr>
        </p:nvSpPr>
        <p:spPr>
          <a:xfrm>
            <a:off x="886713" y="2140771"/>
            <a:ext cx="10363200" cy="3025200"/>
          </a:xfrm>
          <a:prstGeom prst="rect">
            <a:avLst/>
          </a:prstGeom>
          <a:noFill/>
          <a:ln>
            <a:noFill/>
          </a:ln>
        </p:spPr>
        <p:txBody>
          <a:bodyPr spcFirstLastPara="1" vert="horz" wrap="square" lIns="91433" tIns="45700" rIns="91433" bIns="45700" rtlCol="0" anchor="ctr" anchorCtr="0">
            <a:noAutofit/>
          </a:bodyPr>
          <a:lstStyle/>
          <a:p>
            <a:pPr>
              <a:lnSpc>
                <a:spcPct val="150000"/>
              </a:lnSpc>
            </a:pPr>
            <a:r>
              <a:rPr lang="en-US" sz="5400" b="1" dirty="0"/>
              <a:t>Multi Agent </a:t>
            </a:r>
            <a:br>
              <a:rPr lang="en-US" sz="5400" b="1" dirty="0"/>
            </a:br>
            <a:r>
              <a:rPr lang="en-US" sz="5400" b="1" dirty="0"/>
              <a:t>Systems</a:t>
            </a:r>
          </a:p>
        </p:txBody>
      </p:sp>
    </p:spTree>
    <p:extLst>
      <p:ext uri="{BB962C8B-B14F-4D97-AF65-F5344CB8AC3E}">
        <p14:creationId xmlns:p14="http://schemas.microsoft.com/office/powerpoint/2010/main" val="2514215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a:bodyPr>
          <a:lstStyle/>
          <a:p>
            <a:r>
              <a:rPr lang="en-US" dirty="0"/>
              <a:t>Develop deterministic agents using LangGraphs. </a:t>
            </a:r>
          </a:p>
          <a:p>
            <a:r>
              <a:rPr lang="en-US" dirty="0"/>
              <a:t>Agents in the MAS communicate in real time to identify potential alerts. </a:t>
            </a:r>
          </a:p>
          <a:p>
            <a:r>
              <a:rPr lang="en-US" dirty="0"/>
              <a:t>The MAS system integrates seamlessly with the web application. </a:t>
            </a:r>
          </a:p>
          <a:p>
            <a:r>
              <a:rPr lang="en-US" dirty="0"/>
              <a:t>The system includes: </a:t>
            </a:r>
          </a:p>
          <a:p>
            <a:pPr marL="0" indent="0">
              <a:buNone/>
            </a:pPr>
            <a:r>
              <a:rPr lang="en-US" dirty="0"/>
              <a:t>	- MonitoringAgent </a:t>
            </a:r>
          </a:p>
          <a:p>
            <a:pPr marL="0" indent="0">
              <a:buNone/>
            </a:pPr>
            <a:r>
              <a:rPr lang="en-US" dirty="0"/>
              <a:t>	-AlertingAgent</a:t>
            </a:r>
          </a:p>
        </p:txBody>
      </p:sp>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60</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Multi Agent System (MAS)</a:t>
            </a:r>
            <a:endParaRPr lang="en-US" dirty="0"/>
          </a:p>
        </p:txBody>
      </p:sp>
    </p:spTree>
    <p:extLst>
      <p:ext uri="{BB962C8B-B14F-4D97-AF65-F5344CB8AC3E}">
        <p14:creationId xmlns:p14="http://schemas.microsoft.com/office/powerpoint/2010/main" val="32539822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a:bodyPr>
          <a:lstStyle/>
          <a:p>
            <a:r>
              <a:rPr lang="en-US" dirty="0"/>
              <a:t>The Monitoring Agent continuously fetches predictions, including: </a:t>
            </a:r>
          </a:p>
          <a:p>
            <a:pPr marL="0" indent="0">
              <a:buNone/>
            </a:pPr>
            <a:r>
              <a:rPr lang="en-US" dirty="0"/>
              <a:t>	-Number of Encounters</a:t>
            </a:r>
          </a:p>
          <a:p>
            <a:pPr marL="0" indent="0">
              <a:buNone/>
            </a:pPr>
            <a:r>
              <a:rPr lang="en-US" dirty="0"/>
              <a:t>	-Risk Score</a:t>
            </a:r>
          </a:p>
          <a:p>
            <a:r>
              <a:rPr lang="en-US" dirty="0"/>
              <a:t>Based on the defined thresholds and the risk score, two conditions are identified: </a:t>
            </a:r>
          </a:p>
          <a:p>
            <a:r>
              <a:rPr lang="en-US" dirty="0"/>
              <a:t>Anomalies Handled by the AnomalyHandler. </a:t>
            </a:r>
          </a:p>
          <a:p>
            <a:r>
              <a:rPr lang="en-US" dirty="0"/>
              <a:t>Normal Cases Handled by the NormalHandler.</a:t>
            </a:r>
          </a:p>
        </p:txBody>
      </p:sp>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61</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MonitoringAgent</a:t>
            </a:r>
            <a:endParaRPr lang="en-US" dirty="0"/>
          </a:p>
        </p:txBody>
      </p:sp>
    </p:spTree>
    <p:extLst>
      <p:ext uri="{BB962C8B-B14F-4D97-AF65-F5344CB8AC3E}">
        <p14:creationId xmlns:p14="http://schemas.microsoft.com/office/powerpoint/2010/main" val="23696364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6A1136-ADF8-4041-90C3-99C5CDEBE274}"/>
              </a:ext>
            </a:extLst>
          </p:cNvPr>
          <p:cNvSpPr>
            <a:spLocks noGrp="1"/>
          </p:cNvSpPr>
          <p:nvPr>
            <p:ph idx="1"/>
          </p:nvPr>
        </p:nvSpPr>
        <p:spPr>
          <a:xfrm>
            <a:off x="609600" y="988383"/>
            <a:ext cx="10972800" cy="5367967"/>
          </a:xfrm>
        </p:spPr>
        <p:txBody>
          <a:bodyPr>
            <a:normAutofit/>
          </a:bodyPr>
          <a:lstStyle/>
          <a:p>
            <a:r>
              <a:rPr lang="en-US" dirty="0"/>
              <a:t>This agent is linked to the MonitoringAgent. </a:t>
            </a:r>
          </a:p>
          <a:p>
            <a:pPr marL="0" indent="0">
              <a:buNone/>
            </a:pPr>
            <a:endParaRPr lang="en-US" dirty="0"/>
          </a:p>
          <a:p>
            <a:r>
              <a:rPr lang="en-US" dirty="0"/>
              <a:t>It is triggered when flagged readings are recorded by the MonitoringAgent.</a:t>
            </a:r>
          </a:p>
          <a:p>
            <a:pPr marL="0" indent="0">
              <a:buNone/>
            </a:pPr>
            <a:r>
              <a:rPr lang="en-US" dirty="0"/>
              <a:t> </a:t>
            </a:r>
          </a:p>
          <a:p>
            <a:r>
              <a:rPr lang="en-US" dirty="0"/>
              <a:t>Sends alerts to the relevant authorities and suggests possible interventions. </a:t>
            </a:r>
          </a:p>
        </p:txBody>
      </p:sp>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62</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AlertingAgent</a:t>
            </a:r>
            <a:endParaRPr lang="en-US" dirty="0"/>
          </a:p>
        </p:txBody>
      </p:sp>
    </p:spTree>
    <p:extLst>
      <p:ext uri="{BB962C8B-B14F-4D97-AF65-F5344CB8AC3E}">
        <p14:creationId xmlns:p14="http://schemas.microsoft.com/office/powerpoint/2010/main" val="6844134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F022C5F-10D7-409E-90D1-62267402C810}"/>
              </a:ext>
            </a:extLst>
          </p:cNvPr>
          <p:cNvSpPr>
            <a:spLocks noGrp="1"/>
          </p:cNvSpPr>
          <p:nvPr>
            <p:ph type="dt" sz="half" idx="10"/>
          </p:nvPr>
        </p:nvSpPr>
        <p:spPr/>
        <p:txBody>
          <a:bodyPr/>
          <a:lstStyle/>
          <a:p>
            <a:r>
              <a:rPr lang="en-US" dirty="0"/>
              <a:t>January 22, 2025</a:t>
            </a:r>
          </a:p>
        </p:txBody>
      </p:sp>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63</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 sz="3600" b="1" dirty="0"/>
              <a:t>LangGraph</a:t>
            </a:r>
            <a:endParaRPr lang="en-US" dirty="0"/>
          </a:p>
        </p:txBody>
      </p:sp>
      <p:pic>
        <p:nvPicPr>
          <p:cNvPr id="7" name="Picture 2">
            <a:extLst>
              <a:ext uri="{FF2B5EF4-FFF2-40B4-BE49-F238E27FC236}">
                <a16:creationId xmlns:a16="http://schemas.microsoft.com/office/drawing/2014/main" id="{A7A90612-2C26-41FB-9529-7215E557BBA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4763" y="1170321"/>
            <a:ext cx="3343275"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66368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2BAB0-B6F3-42DD-BC2E-50A8C48C9D67}"/>
              </a:ext>
            </a:extLst>
          </p:cNvPr>
          <p:cNvSpPr>
            <a:spLocks noGrp="1"/>
          </p:cNvSpPr>
          <p:nvPr>
            <p:ph type="title"/>
          </p:nvPr>
        </p:nvSpPr>
        <p:spPr/>
        <p:txBody>
          <a:bodyPr/>
          <a:lstStyle/>
          <a:p>
            <a:r>
              <a:rPr lang="en-US" dirty="0"/>
              <a:t>Triple Extraction Evaluation</a:t>
            </a:r>
          </a:p>
        </p:txBody>
      </p:sp>
      <p:sp>
        <p:nvSpPr>
          <p:cNvPr id="3" name="Text Placeholder 2">
            <a:extLst>
              <a:ext uri="{FF2B5EF4-FFF2-40B4-BE49-F238E27FC236}">
                <a16:creationId xmlns:a16="http://schemas.microsoft.com/office/drawing/2014/main" id="{BF63E642-F4B4-42DE-A7EA-CF04A713322C}"/>
              </a:ext>
            </a:extLst>
          </p:cNvPr>
          <p:cNvSpPr>
            <a:spLocks noGrp="1"/>
          </p:cNvSpPr>
          <p:nvPr>
            <p:ph type="body" idx="1"/>
          </p:nvPr>
        </p:nvSpPr>
        <p:spPr>
          <a:xfrm>
            <a:off x="963084" y="2382931"/>
            <a:ext cx="10363200" cy="1500187"/>
          </a:xfrm>
        </p:spPr>
        <p:txBody>
          <a:bodyPr>
            <a:normAutofit/>
          </a:bodyPr>
          <a:lstStyle/>
          <a:p>
            <a:pPr algn="ctr"/>
            <a:r>
              <a:rPr lang="en-US" sz="5400" b="1" dirty="0">
                <a:solidFill>
                  <a:schemeClr val="tx1"/>
                </a:solidFill>
              </a:rPr>
              <a:t>Design</a:t>
            </a:r>
          </a:p>
        </p:txBody>
      </p:sp>
      <p:sp>
        <p:nvSpPr>
          <p:cNvPr id="5" name="Slide Number Placeholder 4">
            <a:extLst>
              <a:ext uri="{FF2B5EF4-FFF2-40B4-BE49-F238E27FC236}">
                <a16:creationId xmlns:a16="http://schemas.microsoft.com/office/drawing/2014/main" id="{81438893-CB0D-461E-9970-074B85BB3FBD}"/>
              </a:ext>
            </a:extLst>
          </p:cNvPr>
          <p:cNvSpPr>
            <a:spLocks noGrp="1"/>
          </p:cNvSpPr>
          <p:nvPr>
            <p:ph type="sldNum" sz="quarter" idx="12"/>
          </p:nvPr>
        </p:nvSpPr>
        <p:spPr/>
        <p:txBody>
          <a:bodyPr/>
          <a:lstStyle/>
          <a:p>
            <a:fld id="{F95058E6-B6E9-4B7D-9DDE-04196D2335F5}" type="slidenum">
              <a:rPr lang="en-US" smtClean="0"/>
              <a:t>64</a:t>
            </a:fld>
            <a:endParaRPr lang="en-US"/>
          </a:p>
        </p:txBody>
      </p:sp>
    </p:spTree>
    <p:extLst>
      <p:ext uri="{BB962C8B-B14F-4D97-AF65-F5344CB8AC3E}">
        <p14:creationId xmlns:p14="http://schemas.microsoft.com/office/powerpoint/2010/main" val="6997303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
            <a:ext cx="12192000" cy="862012"/>
          </a:xfrm>
          <a:custGeom>
            <a:avLst/>
            <a:gdLst/>
            <a:ahLst/>
            <a:cxnLst/>
            <a:rect l="l" t="t" r="r" b="b"/>
            <a:pathLst>
              <a:path w="18288000" h="1293018">
                <a:moveTo>
                  <a:pt x="0" y="0"/>
                </a:moveTo>
                <a:lnTo>
                  <a:pt x="18288000" y="0"/>
                </a:lnTo>
                <a:lnTo>
                  <a:pt x="18288000" y="1293018"/>
                </a:lnTo>
                <a:lnTo>
                  <a:pt x="0" y="1293018"/>
                </a:lnTo>
                <a:lnTo>
                  <a:pt x="0" y="0"/>
                </a:lnTo>
                <a:close/>
              </a:path>
            </a:pathLst>
          </a:custGeom>
          <a:blipFill>
            <a:blip r:embed="rId2"/>
            <a:stretch>
              <a:fillRect t="-161776" b="-161776"/>
            </a:stretch>
          </a:blipFill>
        </p:spPr>
      </p:sp>
      <p:sp>
        <p:nvSpPr>
          <p:cNvPr id="3" name="Freeform 3"/>
          <p:cNvSpPr/>
          <p:nvPr/>
        </p:nvSpPr>
        <p:spPr>
          <a:xfrm>
            <a:off x="10460442" y="6271874"/>
            <a:ext cx="1284797" cy="284345"/>
          </a:xfrm>
          <a:custGeom>
            <a:avLst/>
            <a:gdLst/>
            <a:ahLst/>
            <a:cxnLst/>
            <a:rect l="l" t="t" r="r" b="b"/>
            <a:pathLst>
              <a:path w="1927196" h="426517">
                <a:moveTo>
                  <a:pt x="0" y="0"/>
                </a:moveTo>
                <a:lnTo>
                  <a:pt x="1927195" y="0"/>
                </a:lnTo>
                <a:lnTo>
                  <a:pt x="1927195" y="426517"/>
                </a:lnTo>
                <a:lnTo>
                  <a:pt x="0" y="426517"/>
                </a:lnTo>
                <a:lnTo>
                  <a:pt x="0" y="0"/>
                </a:lnTo>
                <a:close/>
              </a:path>
            </a:pathLst>
          </a:custGeom>
          <a:blipFill>
            <a:blip r:embed="rId3"/>
            <a:stretch>
              <a:fillRect/>
            </a:stretch>
          </a:blipFill>
        </p:spPr>
      </p:sp>
      <p:sp>
        <p:nvSpPr>
          <p:cNvPr id="4" name="TextBox 4"/>
          <p:cNvSpPr txBox="1"/>
          <p:nvPr/>
        </p:nvSpPr>
        <p:spPr>
          <a:xfrm>
            <a:off x="655320" y="120650"/>
            <a:ext cx="10850880" cy="551433"/>
          </a:xfrm>
          <a:prstGeom prst="rect">
            <a:avLst/>
          </a:prstGeom>
        </p:spPr>
        <p:txBody>
          <a:bodyPr lIns="0" tIns="0" rIns="0" bIns="0" rtlCol="0" anchor="t">
            <a:spAutoFit/>
          </a:bodyPr>
          <a:lstStyle/>
          <a:p>
            <a:pPr algn="ctr">
              <a:lnSpc>
                <a:spcPts val="4320"/>
              </a:lnSpc>
            </a:pPr>
            <a:r>
              <a:rPr lang="en-US" sz="3600" dirty="0">
                <a:solidFill>
                  <a:srgbClr val="FFFFFF"/>
                </a:solidFill>
                <a:latin typeface="Arimo"/>
                <a:ea typeface="Arimo"/>
                <a:cs typeface="Arimo"/>
                <a:sym typeface="Arimo"/>
              </a:rPr>
              <a:t>Use Case Diagram</a:t>
            </a:r>
          </a:p>
        </p:txBody>
      </p:sp>
      <p:sp>
        <p:nvSpPr>
          <p:cNvPr id="6" name="Freeform 6"/>
          <p:cNvSpPr/>
          <p:nvPr/>
        </p:nvSpPr>
        <p:spPr>
          <a:xfrm>
            <a:off x="2814765" y="2463292"/>
            <a:ext cx="547324" cy="1013093"/>
          </a:xfrm>
          <a:custGeom>
            <a:avLst/>
            <a:gdLst/>
            <a:ahLst/>
            <a:cxnLst/>
            <a:rect l="l" t="t" r="r" b="b"/>
            <a:pathLst>
              <a:path w="820986" h="1519640">
                <a:moveTo>
                  <a:pt x="0" y="0"/>
                </a:moveTo>
                <a:lnTo>
                  <a:pt x="820986" y="0"/>
                </a:lnTo>
                <a:lnTo>
                  <a:pt x="820986" y="1519639"/>
                </a:lnTo>
                <a:lnTo>
                  <a:pt x="0" y="1519639"/>
                </a:lnTo>
                <a:lnTo>
                  <a:pt x="0" y="0"/>
                </a:lnTo>
                <a:close/>
              </a:path>
            </a:pathLst>
          </a:custGeom>
          <a:blipFill>
            <a:blip r:embed="rId4"/>
            <a:stretch>
              <a:fillRect/>
            </a:stretch>
          </a:blipFill>
        </p:spPr>
      </p:sp>
      <p:sp>
        <p:nvSpPr>
          <p:cNvPr id="7" name="Freeform 7"/>
          <p:cNvSpPr/>
          <p:nvPr/>
        </p:nvSpPr>
        <p:spPr>
          <a:xfrm>
            <a:off x="2997683" y="4417798"/>
            <a:ext cx="547324" cy="1013093"/>
          </a:xfrm>
          <a:custGeom>
            <a:avLst/>
            <a:gdLst/>
            <a:ahLst/>
            <a:cxnLst/>
            <a:rect l="l" t="t" r="r" b="b"/>
            <a:pathLst>
              <a:path w="820986" h="1519640">
                <a:moveTo>
                  <a:pt x="0" y="0"/>
                </a:moveTo>
                <a:lnTo>
                  <a:pt x="820986" y="0"/>
                </a:lnTo>
                <a:lnTo>
                  <a:pt x="820986" y="1519640"/>
                </a:lnTo>
                <a:lnTo>
                  <a:pt x="0" y="1519640"/>
                </a:lnTo>
                <a:lnTo>
                  <a:pt x="0" y="0"/>
                </a:lnTo>
                <a:close/>
              </a:path>
            </a:pathLst>
          </a:custGeom>
          <a:blipFill>
            <a:blip r:embed="rId4"/>
            <a:stretch>
              <a:fillRect/>
            </a:stretch>
          </a:blipFill>
        </p:spPr>
      </p:sp>
      <p:sp>
        <p:nvSpPr>
          <p:cNvPr id="8" name="Freeform 8"/>
          <p:cNvSpPr/>
          <p:nvPr/>
        </p:nvSpPr>
        <p:spPr>
          <a:xfrm>
            <a:off x="4419917" y="1145707"/>
            <a:ext cx="3212817" cy="5069535"/>
          </a:xfrm>
          <a:custGeom>
            <a:avLst/>
            <a:gdLst/>
            <a:ahLst/>
            <a:cxnLst/>
            <a:rect l="l" t="t" r="r" b="b"/>
            <a:pathLst>
              <a:path w="4819226" h="7604302">
                <a:moveTo>
                  <a:pt x="0" y="0"/>
                </a:moveTo>
                <a:lnTo>
                  <a:pt x="4819226" y="0"/>
                </a:lnTo>
                <a:lnTo>
                  <a:pt x="4819226" y="7604302"/>
                </a:lnTo>
                <a:lnTo>
                  <a:pt x="0" y="760430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5287757">
            <a:off x="5718038" y="1111966"/>
            <a:ext cx="1027234" cy="2314894"/>
          </a:xfrm>
          <a:custGeom>
            <a:avLst/>
            <a:gdLst/>
            <a:ahLst/>
            <a:cxnLst/>
            <a:rect l="l" t="t" r="r" b="b"/>
            <a:pathLst>
              <a:path w="1540851" h="3472341">
                <a:moveTo>
                  <a:pt x="0" y="0"/>
                </a:moveTo>
                <a:lnTo>
                  <a:pt x="1540851" y="0"/>
                </a:lnTo>
                <a:lnTo>
                  <a:pt x="1540851" y="3472341"/>
                </a:lnTo>
                <a:lnTo>
                  <a:pt x="0" y="347234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5007972" y="1804067"/>
            <a:ext cx="2239558" cy="895823"/>
          </a:xfrm>
          <a:custGeom>
            <a:avLst/>
            <a:gdLst/>
            <a:ahLst/>
            <a:cxnLst/>
            <a:rect l="l" t="t" r="r" b="b"/>
            <a:pathLst>
              <a:path w="3359337" h="1343735">
                <a:moveTo>
                  <a:pt x="0" y="0"/>
                </a:moveTo>
                <a:lnTo>
                  <a:pt x="3359336" y="0"/>
                </a:lnTo>
                <a:lnTo>
                  <a:pt x="3359336" y="1343735"/>
                </a:lnTo>
                <a:lnTo>
                  <a:pt x="0" y="134373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1" name="Freeform 11"/>
          <p:cNvSpPr/>
          <p:nvPr/>
        </p:nvSpPr>
        <p:spPr>
          <a:xfrm rot="5287757">
            <a:off x="5632867" y="2481662"/>
            <a:ext cx="1095184" cy="2468021"/>
          </a:xfrm>
          <a:custGeom>
            <a:avLst/>
            <a:gdLst/>
            <a:ahLst/>
            <a:cxnLst/>
            <a:rect l="l" t="t" r="r" b="b"/>
            <a:pathLst>
              <a:path w="1642776" h="3702031">
                <a:moveTo>
                  <a:pt x="0" y="0"/>
                </a:moveTo>
                <a:lnTo>
                  <a:pt x="1642776" y="0"/>
                </a:lnTo>
                <a:lnTo>
                  <a:pt x="1642776" y="3702032"/>
                </a:lnTo>
                <a:lnTo>
                  <a:pt x="0" y="37020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Freeform 12"/>
          <p:cNvSpPr/>
          <p:nvPr/>
        </p:nvSpPr>
        <p:spPr>
          <a:xfrm>
            <a:off x="4944472" y="3230631"/>
            <a:ext cx="2303058" cy="921223"/>
          </a:xfrm>
          <a:custGeom>
            <a:avLst/>
            <a:gdLst/>
            <a:ahLst/>
            <a:cxnLst/>
            <a:rect l="l" t="t" r="r" b="b"/>
            <a:pathLst>
              <a:path w="3454587" h="1381835">
                <a:moveTo>
                  <a:pt x="0" y="0"/>
                </a:moveTo>
                <a:lnTo>
                  <a:pt x="3454586" y="0"/>
                </a:lnTo>
                <a:lnTo>
                  <a:pt x="3454586" y="1381835"/>
                </a:lnTo>
                <a:lnTo>
                  <a:pt x="0" y="138183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Freeform 13"/>
          <p:cNvSpPr/>
          <p:nvPr/>
        </p:nvSpPr>
        <p:spPr>
          <a:xfrm rot="5287757">
            <a:off x="5483124" y="3756573"/>
            <a:ext cx="1195272" cy="2693571"/>
          </a:xfrm>
          <a:custGeom>
            <a:avLst/>
            <a:gdLst/>
            <a:ahLst/>
            <a:cxnLst/>
            <a:rect l="l" t="t" r="r" b="b"/>
            <a:pathLst>
              <a:path w="1792908" h="4040356">
                <a:moveTo>
                  <a:pt x="0" y="0"/>
                </a:moveTo>
                <a:lnTo>
                  <a:pt x="1792908" y="0"/>
                </a:lnTo>
                <a:lnTo>
                  <a:pt x="1792908" y="4040355"/>
                </a:lnTo>
                <a:lnTo>
                  <a:pt x="0" y="404035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4929232" y="4659854"/>
            <a:ext cx="2303058" cy="921223"/>
          </a:xfrm>
          <a:custGeom>
            <a:avLst/>
            <a:gdLst/>
            <a:ahLst/>
            <a:cxnLst/>
            <a:rect l="l" t="t" r="r" b="b"/>
            <a:pathLst>
              <a:path w="3454587" h="1381835">
                <a:moveTo>
                  <a:pt x="0" y="0"/>
                </a:moveTo>
                <a:lnTo>
                  <a:pt x="3454586" y="0"/>
                </a:lnTo>
                <a:lnTo>
                  <a:pt x="3454586" y="1381835"/>
                </a:lnTo>
                <a:lnTo>
                  <a:pt x="0" y="138183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5" name="Freeform 15"/>
          <p:cNvSpPr/>
          <p:nvPr/>
        </p:nvSpPr>
        <p:spPr>
          <a:xfrm>
            <a:off x="8525202" y="931847"/>
            <a:ext cx="1731451" cy="872219"/>
          </a:xfrm>
          <a:custGeom>
            <a:avLst/>
            <a:gdLst/>
            <a:ahLst/>
            <a:cxnLst/>
            <a:rect l="l" t="t" r="r" b="b"/>
            <a:pathLst>
              <a:path w="2597177" h="1308328">
                <a:moveTo>
                  <a:pt x="0" y="0"/>
                </a:moveTo>
                <a:lnTo>
                  <a:pt x="2597178" y="0"/>
                </a:lnTo>
                <a:lnTo>
                  <a:pt x="2597178" y="1308328"/>
                </a:lnTo>
                <a:lnTo>
                  <a:pt x="0" y="130832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6" name="Freeform 16"/>
          <p:cNvSpPr/>
          <p:nvPr/>
        </p:nvSpPr>
        <p:spPr>
          <a:xfrm>
            <a:off x="8525202" y="2051716"/>
            <a:ext cx="1731451" cy="872219"/>
          </a:xfrm>
          <a:custGeom>
            <a:avLst/>
            <a:gdLst/>
            <a:ahLst/>
            <a:cxnLst/>
            <a:rect l="l" t="t" r="r" b="b"/>
            <a:pathLst>
              <a:path w="2597177" h="1308328">
                <a:moveTo>
                  <a:pt x="0" y="0"/>
                </a:moveTo>
                <a:lnTo>
                  <a:pt x="2597178" y="0"/>
                </a:lnTo>
                <a:lnTo>
                  <a:pt x="2597178" y="1308328"/>
                </a:lnTo>
                <a:lnTo>
                  <a:pt x="0" y="130832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8494944" y="3171585"/>
            <a:ext cx="1791967" cy="902703"/>
          </a:xfrm>
          <a:custGeom>
            <a:avLst/>
            <a:gdLst/>
            <a:ahLst/>
            <a:cxnLst/>
            <a:rect l="l" t="t" r="r" b="b"/>
            <a:pathLst>
              <a:path w="2687950" h="1354055">
                <a:moveTo>
                  <a:pt x="0" y="0"/>
                </a:moveTo>
                <a:lnTo>
                  <a:pt x="2687950" y="0"/>
                </a:lnTo>
                <a:lnTo>
                  <a:pt x="2687950" y="1354055"/>
                </a:lnTo>
                <a:lnTo>
                  <a:pt x="0" y="135405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8" name="Freeform 18"/>
          <p:cNvSpPr/>
          <p:nvPr/>
        </p:nvSpPr>
        <p:spPr>
          <a:xfrm>
            <a:off x="8494944" y="5472292"/>
            <a:ext cx="1791967" cy="902703"/>
          </a:xfrm>
          <a:custGeom>
            <a:avLst/>
            <a:gdLst/>
            <a:ahLst/>
            <a:cxnLst/>
            <a:rect l="l" t="t" r="r" b="b"/>
            <a:pathLst>
              <a:path w="2687950" h="1354055">
                <a:moveTo>
                  <a:pt x="0" y="0"/>
                </a:moveTo>
                <a:lnTo>
                  <a:pt x="2687950" y="0"/>
                </a:lnTo>
                <a:lnTo>
                  <a:pt x="2687950" y="1354055"/>
                </a:lnTo>
                <a:lnTo>
                  <a:pt x="0" y="135405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9" name="Freeform 19"/>
          <p:cNvSpPr/>
          <p:nvPr/>
        </p:nvSpPr>
        <p:spPr>
          <a:xfrm>
            <a:off x="8525201" y="4321939"/>
            <a:ext cx="1791967" cy="902703"/>
          </a:xfrm>
          <a:custGeom>
            <a:avLst/>
            <a:gdLst/>
            <a:ahLst/>
            <a:cxnLst/>
            <a:rect l="l" t="t" r="r" b="b"/>
            <a:pathLst>
              <a:path w="2687950" h="1354055">
                <a:moveTo>
                  <a:pt x="0" y="0"/>
                </a:moveTo>
                <a:lnTo>
                  <a:pt x="2687950" y="0"/>
                </a:lnTo>
                <a:lnTo>
                  <a:pt x="2687950" y="1354055"/>
                </a:lnTo>
                <a:lnTo>
                  <a:pt x="0" y="135405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0" name="TextBox 20"/>
          <p:cNvSpPr txBox="1"/>
          <p:nvPr/>
        </p:nvSpPr>
        <p:spPr>
          <a:xfrm>
            <a:off x="8494945" y="1139357"/>
            <a:ext cx="1731451" cy="215957"/>
          </a:xfrm>
          <a:prstGeom prst="rect">
            <a:avLst/>
          </a:prstGeom>
        </p:spPr>
        <p:txBody>
          <a:bodyPr lIns="0" tIns="0" rIns="0" bIns="0" rtlCol="0" anchor="t">
            <a:spAutoFit/>
          </a:bodyPr>
          <a:lstStyle/>
          <a:p>
            <a:pPr algn="ctr">
              <a:lnSpc>
                <a:spcPts val="1759"/>
              </a:lnSpc>
              <a:spcBef>
                <a:spcPct val="0"/>
              </a:spcBef>
            </a:pPr>
            <a:r>
              <a:rPr lang="en-US" sz="1466" spc="13">
                <a:solidFill>
                  <a:srgbClr val="000000"/>
                </a:solidFill>
                <a:latin typeface="TT Rounds Condensed"/>
                <a:ea typeface="TT Rounds Condensed"/>
                <a:cs typeface="TT Rounds Condensed"/>
                <a:sym typeface="TT Rounds Condensed"/>
              </a:rPr>
              <a:t>«actor»</a:t>
            </a:r>
          </a:p>
        </p:txBody>
      </p:sp>
      <p:sp>
        <p:nvSpPr>
          <p:cNvPr id="21" name="TextBox 21"/>
          <p:cNvSpPr txBox="1"/>
          <p:nvPr/>
        </p:nvSpPr>
        <p:spPr>
          <a:xfrm>
            <a:off x="8525202" y="2207361"/>
            <a:ext cx="1731451" cy="215957"/>
          </a:xfrm>
          <a:prstGeom prst="rect">
            <a:avLst/>
          </a:prstGeom>
        </p:spPr>
        <p:txBody>
          <a:bodyPr lIns="0" tIns="0" rIns="0" bIns="0" rtlCol="0" anchor="t">
            <a:spAutoFit/>
          </a:bodyPr>
          <a:lstStyle/>
          <a:p>
            <a:pPr algn="ctr">
              <a:lnSpc>
                <a:spcPts val="1759"/>
              </a:lnSpc>
              <a:spcBef>
                <a:spcPct val="0"/>
              </a:spcBef>
            </a:pPr>
            <a:r>
              <a:rPr lang="en-US" sz="1466" spc="13" dirty="0">
                <a:solidFill>
                  <a:srgbClr val="000000"/>
                </a:solidFill>
                <a:latin typeface="TT Rounds Condensed"/>
                <a:ea typeface="TT Rounds Condensed"/>
                <a:cs typeface="TT Rounds Condensed"/>
                <a:sym typeface="TT Rounds Condensed"/>
              </a:rPr>
              <a:t>«actor»</a:t>
            </a:r>
          </a:p>
        </p:txBody>
      </p:sp>
      <p:sp>
        <p:nvSpPr>
          <p:cNvPr id="22" name="TextBox 22"/>
          <p:cNvSpPr txBox="1"/>
          <p:nvPr/>
        </p:nvSpPr>
        <p:spPr>
          <a:xfrm>
            <a:off x="8571087" y="4391105"/>
            <a:ext cx="1731451" cy="215957"/>
          </a:xfrm>
          <a:prstGeom prst="rect">
            <a:avLst/>
          </a:prstGeom>
        </p:spPr>
        <p:txBody>
          <a:bodyPr lIns="0" tIns="0" rIns="0" bIns="0" rtlCol="0" anchor="t">
            <a:spAutoFit/>
          </a:bodyPr>
          <a:lstStyle/>
          <a:p>
            <a:pPr algn="ctr">
              <a:lnSpc>
                <a:spcPts val="1759"/>
              </a:lnSpc>
              <a:spcBef>
                <a:spcPct val="0"/>
              </a:spcBef>
            </a:pPr>
            <a:r>
              <a:rPr lang="en-US" sz="1466" spc="13" dirty="0">
                <a:solidFill>
                  <a:srgbClr val="000000"/>
                </a:solidFill>
                <a:latin typeface="TT Rounds Condensed"/>
                <a:ea typeface="TT Rounds Condensed"/>
                <a:cs typeface="TT Rounds Condensed"/>
                <a:sym typeface="TT Rounds Condensed"/>
              </a:rPr>
              <a:t>«actor»</a:t>
            </a:r>
          </a:p>
        </p:txBody>
      </p:sp>
      <p:sp>
        <p:nvSpPr>
          <p:cNvPr id="23" name="AutoShape 23"/>
          <p:cNvSpPr/>
          <p:nvPr/>
        </p:nvSpPr>
        <p:spPr>
          <a:xfrm flipV="1">
            <a:off x="7247529" y="1367957"/>
            <a:ext cx="1277673" cy="884021"/>
          </a:xfrm>
          <a:prstGeom prst="line">
            <a:avLst/>
          </a:prstGeom>
          <a:ln w="38100" cap="flat">
            <a:solidFill>
              <a:srgbClr val="000000"/>
            </a:solidFill>
            <a:prstDash val="solid"/>
            <a:headEnd type="none" w="sm" len="sm"/>
            <a:tailEnd type="none" w="sm" len="sm"/>
          </a:ln>
        </p:spPr>
      </p:sp>
      <p:sp>
        <p:nvSpPr>
          <p:cNvPr id="24" name="AutoShape 24"/>
          <p:cNvSpPr/>
          <p:nvPr/>
        </p:nvSpPr>
        <p:spPr>
          <a:xfrm>
            <a:off x="7247529" y="2251978"/>
            <a:ext cx="1277673" cy="216137"/>
          </a:xfrm>
          <a:prstGeom prst="line">
            <a:avLst/>
          </a:prstGeom>
          <a:ln w="38100" cap="flat">
            <a:solidFill>
              <a:srgbClr val="000000"/>
            </a:solidFill>
            <a:prstDash val="solid"/>
            <a:headEnd type="none" w="sm" len="sm"/>
            <a:tailEnd type="none" w="sm" len="sm"/>
          </a:ln>
        </p:spPr>
      </p:sp>
      <p:sp>
        <p:nvSpPr>
          <p:cNvPr id="25" name="AutoShape 25"/>
          <p:cNvSpPr/>
          <p:nvPr/>
        </p:nvSpPr>
        <p:spPr>
          <a:xfrm flipV="1">
            <a:off x="7249648" y="3622937"/>
            <a:ext cx="1245297" cy="80827"/>
          </a:xfrm>
          <a:prstGeom prst="line">
            <a:avLst/>
          </a:prstGeom>
          <a:ln w="38100" cap="flat">
            <a:solidFill>
              <a:srgbClr val="000000"/>
            </a:solidFill>
            <a:prstDash val="solid"/>
            <a:headEnd type="none" w="sm" len="sm"/>
            <a:tailEnd type="none" w="sm" len="sm"/>
          </a:ln>
        </p:spPr>
      </p:sp>
      <p:sp>
        <p:nvSpPr>
          <p:cNvPr id="26" name="AutoShape 26"/>
          <p:cNvSpPr/>
          <p:nvPr/>
        </p:nvSpPr>
        <p:spPr>
          <a:xfrm>
            <a:off x="7254755" y="3715004"/>
            <a:ext cx="1316332" cy="978409"/>
          </a:xfrm>
          <a:prstGeom prst="line">
            <a:avLst/>
          </a:prstGeom>
          <a:ln w="38100" cap="flat">
            <a:solidFill>
              <a:srgbClr val="000000"/>
            </a:solidFill>
            <a:prstDash val="solid"/>
            <a:headEnd type="none" w="sm" len="sm"/>
            <a:tailEnd type="none" w="sm" len="sm"/>
          </a:ln>
        </p:spPr>
      </p:sp>
      <p:sp>
        <p:nvSpPr>
          <p:cNvPr id="27" name="AutoShape 27"/>
          <p:cNvSpPr/>
          <p:nvPr/>
        </p:nvSpPr>
        <p:spPr>
          <a:xfrm>
            <a:off x="7261981" y="3715004"/>
            <a:ext cx="1232963" cy="2208639"/>
          </a:xfrm>
          <a:prstGeom prst="line">
            <a:avLst/>
          </a:prstGeom>
          <a:ln w="38100" cap="flat">
            <a:solidFill>
              <a:srgbClr val="000000"/>
            </a:solidFill>
            <a:prstDash val="solid"/>
            <a:headEnd type="none" w="sm" len="sm"/>
            <a:tailEnd type="none" w="sm" len="sm"/>
          </a:ln>
        </p:spPr>
      </p:sp>
      <p:sp>
        <p:nvSpPr>
          <p:cNvPr id="28" name="AutoShape 28"/>
          <p:cNvSpPr/>
          <p:nvPr/>
        </p:nvSpPr>
        <p:spPr>
          <a:xfrm>
            <a:off x="3704175" y="5077588"/>
            <a:ext cx="1225056" cy="42877"/>
          </a:xfrm>
          <a:prstGeom prst="line">
            <a:avLst/>
          </a:prstGeom>
          <a:ln w="38100" cap="flat">
            <a:solidFill>
              <a:srgbClr val="000000"/>
            </a:solidFill>
            <a:prstDash val="solid"/>
            <a:headEnd type="none" w="sm" len="sm"/>
            <a:tailEnd type="none" w="sm" len="sm"/>
          </a:ln>
        </p:spPr>
      </p:sp>
      <p:sp>
        <p:nvSpPr>
          <p:cNvPr id="29" name="TextBox 29"/>
          <p:cNvSpPr txBox="1"/>
          <p:nvPr/>
        </p:nvSpPr>
        <p:spPr>
          <a:xfrm>
            <a:off x="4734560" y="6450013"/>
            <a:ext cx="2722880" cy="179536"/>
          </a:xfrm>
          <a:prstGeom prst="rect">
            <a:avLst/>
          </a:prstGeom>
        </p:spPr>
        <p:txBody>
          <a:bodyPr lIns="0" tIns="0" rIns="0" bIns="0" rtlCol="0" anchor="t">
            <a:spAutoFit/>
          </a:bodyPr>
          <a:lstStyle/>
          <a:p>
            <a:pPr algn="ctr">
              <a:lnSpc>
                <a:spcPts val="1440"/>
              </a:lnSpc>
            </a:pPr>
            <a:r>
              <a:rPr lang="en-US" sz="1200" spc="11">
                <a:solidFill>
                  <a:srgbClr val="898989"/>
                </a:solidFill>
                <a:latin typeface="TT Rounds Condensed"/>
                <a:ea typeface="TT Rounds Condensed"/>
                <a:cs typeface="TT Rounds Condensed"/>
                <a:sym typeface="TT Rounds Condensed"/>
              </a:rPr>
              <a:t>25</a:t>
            </a:r>
          </a:p>
        </p:txBody>
      </p:sp>
      <p:sp>
        <p:nvSpPr>
          <p:cNvPr id="30" name="TextBox 30"/>
          <p:cNvSpPr txBox="1"/>
          <p:nvPr/>
        </p:nvSpPr>
        <p:spPr>
          <a:xfrm>
            <a:off x="670560" y="6450013"/>
            <a:ext cx="2722880" cy="179536"/>
          </a:xfrm>
          <a:prstGeom prst="rect">
            <a:avLst/>
          </a:prstGeom>
        </p:spPr>
        <p:txBody>
          <a:bodyPr lIns="0" tIns="0" rIns="0" bIns="0" rtlCol="0" anchor="t">
            <a:spAutoFit/>
          </a:bodyPr>
          <a:lstStyle/>
          <a:p>
            <a:pPr>
              <a:lnSpc>
                <a:spcPts val="1440"/>
              </a:lnSpc>
            </a:pPr>
            <a:r>
              <a:rPr lang="en-US" sz="1200" spc="11" dirty="0">
                <a:solidFill>
                  <a:srgbClr val="898989"/>
                </a:solidFill>
                <a:latin typeface="TT Rounds Condensed"/>
                <a:ea typeface="TT Rounds Condensed"/>
                <a:cs typeface="TT Rounds Condensed"/>
                <a:sym typeface="TT Rounds Condensed"/>
              </a:rPr>
              <a:t>January 22, 2025</a:t>
            </a:r>
          </a:p>
        </p:txBody>
      </p:sp>
      <p:sp>
        <p:nvSpPr>
          <p:cNvPr id="31" name="TextBox 31"/>
          <p:cNvSpPr txBox="1"/>
          <p:nvPr/>
        </p:nvSpPr>
        <p:spPr>
          <a:xfrm>
            <a:off x="5245378" y="2140853"/>
            <a:ext cx="1701245" cy="497508"/>
          </a:xfrm>
          <a:prstGeom prst="rect">
            <a:avLst/>
          </a:prstGeom>
        </p:spPr>
        <p:txBody>
          <a:bodyPr lIns="0" tIns="0" rIns="0" bIns="0" rtlCol="0" anchor="t">
            <a:spAutoFit/>
          </a:bodyPr>
          <a:lstStyle/>
          <a:p>
            <a:pPr>
              <a:lnSpc>
                <a:spcPts val="1999"/>
              </a:lnSpc>
              <a:spcBef>
                <a:spcPct val="0"/>
              </a:spcBef>
            </a:pPr>
            <a:r>
              <a:rPr lang="en-US" sz="1666" spc="15">
                <a:solidFill>
                  <a:srgbClr val="000000"/>
                </a:solidFill>
                <a:latin typeface="TT Rounds Condensed"/>
                <a:ea typeface="TT Rounds Condensed"/>
                <a:cs typeface="TT Rounds Condensed"/>
                <a:sym typeface="TT Rounds Condensed"/>
              </a:rPr>
              <a:t>Outbreak Predictor</a:t>
            </a:r>
          </a:p>
        </p:txBody>
      </p:sp>
      <p:sp>
        <p:nvSpPr>
          <p:cNvPr id="32" name="TextBox 32"/>
          <p:cNvSpPr txBox="1"/>
          <p:nvPr/>
        </p:nvSpPr>
        <p:spPr>
          <a:xfrm>
            <a:off x="5230138" y="3567417"/>
            <a:ext cx="1692831" cy="497508"/>
          </a:xfrm>
          <a:prstGeom prst="rect">
            <a:avLst/>
          </a:prstGeom>
        </p:spPr>
        <p:txBody>
          <a:bodyPr lIns="0" tIns="0" rIns="0" bIns="0" rtlCol="0" anchor="t">
            <a:spAutoFit/>
          </a:bodyPr>
          <a:lstStyle/>
          <a:p>
            <a:pPr>
              <a:lnSpc>
                <a:spcPts val="1999"/>
              </a:lnSpc>
              <a:spcBef>
                <a:spcPct val="0"/>
              </a:spcBef>
            </a:pPr>
            <a:r>
              <a:rPr lang="en-US" sz="1666" spc="15">
                <a:solidFill>
                  <a:srgbClr val="000000"/>
                </a:solidFill>
                <a:latin typeface="TT Rounds Condensed"/>
                <a:ea typeface="TT Rounds Condensed"/>
                <a:cs typeface="TT Rounds Condensed"/>
                <a:sym typeface="TT Rounds Condensed"/>
              </a:rPr>
              <a:t>Outbreak  Detector</a:t>
            </a:r>
          </a:p>
        </p:txBody>
      </p:sp>
      <p:sp>
        <p:nvSpPr>
          <p:cNvPr id="33" name="TextBox 33"/>
          <p:cNvSpPr txBox="1"/>
          <p:nvPr/>
        </p:nvSpPr>
        <p:spPr>
          <a:xfrm>
            <a:off x="5289590" y="5008715"/>
            <a:ext cx="1615837" cy="497508"/>
          </a:xfrm>
          <a:prstGeom prst="rect">
            <a:avLst/>
          </a:prstGeom>
        </p:spPr>
        <p:txBody>
          <a:bodyPr lIns="0" tIns="0" rIns="0" bIns="0" rtlCol="0" anchor="t">
            <a:spAutoFit/>
          </a:bodyPr>
          <a:lstStyle/>
          <a:p>
            <a:pPr>
              <a:lnSpc>
                <a:spcPts val="1999"/>
              </a:lnSpc>
              <a:spcBef>
                <a:spcPct val="0"/>
              </a:spcBef>
            </a:pPr>
            <a:r>
              <a:rPr lang="en-US" sz="1666" spc="15">
                <a:solidFill>
                  <a:srgbClr val="000000"/>
                </a:solidFill>
                <a:latin typeface="TT Rounds Condensed"/>
                <a:ea typeface="TT Rounds Condensed"/>
                <a:cs typeface="TT Rounds Condensed"/>
                <a:sym typeface="TT Rounds Condensed"/>
              </a:rPr>
              <a:t>Manage Database </a:t>
            </a:r>
          </a:p>
        </p:txBody>
      </p:sp>
      <p:sp>
        <p:nvSpPr>
          <p:cNvPr id="34" name="TextBox 34"/>
          <p:cNvSpPr txBox="1"/>
          <p:nvPr/>
        </p:nvSpPr>
        <p:spPr>
          <a:xfrm>
            <a:off x="8639445" y="1361615"/>
            <a:ext cx="1502965" cy="461665"/>
          </a:xfrm>
          <a:prstGeom prst="rect">
            <a:avLst/>
          </a:prstGeom>
        </p:spPr>
        <p:txBody>
          <a:bodyPr lIns="0" tIns="0" rIns="0" bIns="0" rtlCol="0" anchor="t">
            <a:spAutoFit/>
          </a:bodyPr>
          <a:lstStyle/>
          <a:p>
            <a:pPr algn="ctr">
              <a:lnSpc>
                <a:spcPts val="1839"/>
              </a:lnSpc>
              <a:spcBef>
                <a:spcPct val="0"/>
              </a:spcBef>
            </a:pPr>
            <a:r>
              <a:rPr lang="en-US" sz="1533" spc="14">
                <a:solidFill>
                  <a:srgbClr val="000000"/>
                </a:solidFill>
                <a:latin typeface="TT Rounds Condensed"/>
                <a:ea typeface="TT Rounds Condensed"/>
                <a:cs typeface="TT Rounds Condensed"/>
                <a:sym typeface="TT Rounds Condensed"/>
              </a:rPr>
              <a:t>State Data fetcher</a:t>
            </a:r>
          </a:p>
        </p:txBody>
      </p:sp>
      <p:sp>
        <p:nvSpPr>
          <p:cNvPr id="35" name="TextBox 35"/>
          <p:cNvSpPr txBox="1"/>
          <p:nvPr/>
        </p:nvSpPr>
        <p:spPr>
          <a:xfrm>
            <a:off x="8922542" y="2429611"/>
            <a:ext cx="1028541" cy="487313"/>
          </a:xfrm>
          <a:prstGeom prst="rect">
            <a:avLst/>
          </a:prstGeom>
        </p:spPr>
        <p:txBody>
          <a:bodyPr lIns="0" tIns="0" rIns="0" bIns="0" rtlCol="0" anchor="t">
            <a:spAutoFit/>
          </a:bodyPr>
          <a:lstStyle/>
          <a:p>
            <a:pPr algn="ctr">
              <a:lnSpc>
                <a:spcPts val="1919"/>
              </a:lnSpc>
              <a:spcBef>
                <a:spcPct val="0"/>
              </a:spcBef>
            </a:pPr>
            <a:r>
              <a:rPr lang="en-US" sz="1599" spc="15" dirty="0">
                <a:solidFill>
                  <a:srgbClr val="000000"/>
                </a:solidFill>
                <a:latin typeface="TT Rounds Condensed"/>
                <a:ea typeface="TT Rounds Condensed"/>
                <a:cs typeface="TT Rounds Condensed"/>
                <a:sym typeface="TT Rounds Condensed"/>
              </a:rPr>
              <a:t>Agents Log  </a:t>
            </a:r>
          </a:p>
        </p:txBody>
      </p:sp>
      <p:sp>
        <p:nvSpPr>
          <p:cNvPr id="36" name="TextBox 36"/>
          <p:cNvSpPr txBox="1"/>
          <p:nvPr/>
        </p:nvSpPr>
        <p:spPr>
          <a:xfrm>
            <a:off x="8728345" y="3541960"/>
            <a:ext cx="1325165" cy="461665"/>
          </a:xfrm>
          <a:prstGeom prst="rect">
            <a:avLst/>
          </a:prstGeom>
        </p:spPr>
        <p:txBody>
          <a:bodyPr lIns="0" tIns="0" rIns="0" bIns="0" rtlCol="0" anchor="t">
            <a:spAutoFit/>
          </a:bodyPr>
          <a:lstStyle/>
          <a:p>
            <a:pPr algn="ctr">
              <a:lnSpc>
                <a:spcPts val="1839"/>
              </a:lnSpc>
              <a:spcBef>
                <a:spcPct val="0"/>
              </a:spcBef>
            </a:pPr>
            <a:r>
              <a:rPr lang="en-US" sz="1533" spc="14" dirty="0">
                <a:solidFill>
                  <a:srgbClr val="000000"/>
                </a:solidFill>
                <a:latin typeface="TT Rounds Condensed"/>
                <a:ea typeface="TT Rounds Condensed"/>
                <a:cs typeface="TT Rounds Condensed"/>
                <a:sym typeface="TT Rounds Condensed"/>
              </a:rPr>
              <a:t>Anomaly fetcher</a:t>
            </a:r>
          </a:p>
        </p:txBody>
      </p:sp>
      <p:sp>
        <p:nvSpPr>
          <p:cNvPr id="37" name="TextBox 37"/>
          <p:cNvSpPr txBox="1"/>
          <p:nvPr/>
        </p:nvSpPr>
        <p:spPr>
          <a:xfrm>
            <a:off x="8710842" y="4657804"/>
            <a:ext cx="1360170" cy="461665"/>
          </a:xfrm>
          <a:prstGeom prst="rect">
            <a:avLst/>
          </a:prstGeom>
        </p:spPr>
        <p:txBody>
          <a:bodyPr lIns="0" tIns="0" rIns="0" bIns="0" rtlCol="0" anchor="t">
            <a:spAutoFit/>
          </a:bodyPr>
          <a:lstStyle/>
          <a:p>
            <a:pPr algn="ctr">
              <a:lnSpc>
                <a:spcPts val="1839"/>
              </a:lnSpc>
              <a:spcBef>
                <a:spcPct val="0"/>
              </a:spcBef>
            </a:pPr>
            <a:r>
              <a:rPr lang="en-US" sz="1533" spc="14">
                <a:solidFill>
                  <a:srgbClr val="000000"/>
                </a:solidFill>
                <a:latin typeface="TT Rounds Condensed"/>
                <a:ea typeface="TT Rounds Condensed"/>
                <a:cs typeface="TT Rounds Condensed"/>
                <a:sym typeface="TT Rounds Condensed"/>
              </a:rPr>
              <a:t>Graph Generator</a:t>
            </a:r>
          </a:p>
        </p:txBody>
      </p:sp>
      <p:sp>
        <p:nvSpPr>
          <p:cNvPr id="38" name="TextBox 38"/>
          <p:cNvSpPr txBox="1"/>
          <p:nvPr/>
        </p:nvSpPr>
        <p:spPr>
          <a:xfrm>
            <a:off x="8621942" y="5980291"/>
            <a:ext cx="1537970" cy="461665"/>
          </a:xfrm>
          <a:prstGeom prst="rect">
            <a:avLst/>
          </a:prstGeom>
        </p:spPr>
        <p:txBody>
          <a:bodyPr lIns="0" tIns="0" rIns="0" bIns="0" rtlCol="0" anchor="t">
            <a:spAutoFit/>
          </a:bodyPr>
          <a:lstStyle/>
          <a:p>
            <a:pPr algn="ctr">
              <a:lnSpc>
                <a:spcPts val="1839"/>
              </a:lnSpc>
              <a:spcBef>
                <a:spcPct val="0"/>
              </a:spcBef>
            </a:pPr>
            <a:r>
              <a:rPr lang="en-US" sz="1533" spc="14">
                <a:solidFill>
                  <a:srgbClr val="000000"/>
                </a:solidFill>
                <a:latin typeface="TT Rounds Condensed"/>
                <a:ea typeface="TT Rounds Condensed"/>
                <a:cs typeface="TT Rounds Condensed"/>
                <a:sym typeface="TT Rounds Condensed"/>
              </a:rPr>
              <a:t>Table Data Fetcher</a:t>
            </a:r>
          </a:p>
        </p:txBody>
      </p:sp>
      <p:sp>
        <p:nvSpPr>
          <p:cNvPr id="39" name="TextBox 39"/>
          <p:cNvSpPr txBox="1"/>
          <p:nvPr/>
        </p:nvSpPr>
        <p:spPr>
          <a:xfrm>
            <a:off x="8525202" y="3327103"/>
            <a:ext cx="1731451" cy="215957"/>
          </a:xfrm>
          <a:prstGeom prst="rect">
            <a:avLst/>
          </a:prstGeom>
        </p:spPr>
        <p:txBody>
          <a:bodyPr lIns="0" tIns="0" rIns="0" bIns="0" rtlCol="0" anchor="t">
            <a:spAutoFit/>
          </a:bodyPr>
          <a:lstStyle/>
          <a:p>
            <a:pPr algn="ctr">
              <a:lnSpc>
                <a:spcPts val="1759"/>
              </a:lnSpc>
              <a:spcBef>
                <a:spcPct val="0"/>
              </a:spcBef>
            </a:pPr>
            <a:r>
              <a:rPr lang="en-US" sz="1466" spc="13" dirty="0">
                <a:solidFill>
                  <a:srgbClr val="000000"/>
                </a:solidFill>
                <a:latin typeface="TT Rounds Condensed"/>
                <a:ea typeface="TT Rounds Condensed"/>
                <a:cs typeface="TT Rounds Condensed"/>
                <a:sym typeface="TT Rounds Condensed"/>
              </a:rPr>
              <a:t>«actor»</a:t>
            </a:r>
          </a:p>
        </p:txBody>
      </p:sp>
      <p:sp>
        <p:nvSpPr>
          <p:cNvPr id="40" name="TextBox 40"/>
          <p:cNvSpPr txBox="1"/>
          <p:nvPr/>
        </p:nvSpPr>
        <p:spPr>
          <a:xfrm>
            <a:off x="8555460" y="5675492"/>
            <a:ext cx="1731451" cy="215957"/>
          </a:xfrm>
          <a:prstGeom prst="rect">
            <a:avLst/>
          </a:prstGeom>
        </p:spPr>
        <p:txBody>
          <a:bodyPr lIns="0" tIns="0" rIns="0" bIns="0" rtlCol="0" anchor="t">
            <a:spAutoFit/>
          </a:bodyPr>
          <a:lstStyle/>
          <a:p>
            <a:pPr algn="ctr">
              <a:lnSpc>
                <a:spcPts val="1759"/>
              </a:lnSpc>
              <a:spcBef>
                <a:spcPct val="0"/>
              </a:spcBef>
            </a:pPr>
            <a:r>
              <a:rPr lang="en-US" sz="1466" spc="13">
                <a:solidFill>
                  <a:srgbClr val="000000"/>
                </a:solidFill>
                <a:latin typeface="TT Rounds Condensed"/>
                <a:ea typeface="TT Rounds Condensed"/>
                <a:cs typeface="TT Rounds Condensed"/>
                <a:sym typeface="TT Rounds Condensed"/>
              </a:rPr>
              <a:t>«actor»</a:t>
            </a:r>
          </a:p>
        </p:txBody>
      </p:sp>
      <p:sp>
        <p:nvSpPr>
          <p:cNvPr id="41" name="AutoShape 41"/>
          <p:cNvSpPr/>
          <p:nvPr/>
        </p:nvSpPr>
        <p:spPr>
          <a:xfrm flipV="1">
            <a:off x="3431603" y="2262421"/>
            <a:ext cx="1569143" cy="686664"/>
          </a:xfrm>
          <a:prstGeom prst="line">
            <a:avLst/>
          </a:prstGeom>
          <a:ln w="38100" cap="flat">
            <a:solidFill>
              <a:srgbClr val="000000"/>
            </a:solidFill>
            <a:prstDash val="solid"/>
            <a:headEnd type="none" w="sm" len="sm"/>
            <a:tailEnd type="none" w="sm" len="sm"/>
          </a:ln>
        </p:spPr>
      </p:sp>
      <p:sp>
        <p:nvSpPr>
          <p:cNvPr id="42" name="AutoShape 42"/>
          <p:cNvSpPr/>
          <p:nvPr/>
        </p:nvSpPr>
        <p:spPr>
          <a:xfrm>
            <a:off x="3362090" y="2969839"/>
            <a:ext cx="1582381" cy="721403"/>
          </a:xfrm>
          <a:prstGeom prst="line">
            <a:avLst/>
          </a:prstGeom>
          <a:ln w="38100" cap="flat">
            <a:solidFill>
              <a:srgbClr val="000000"/>
            </a:solidFill>
            <a:prstDash val="solid"/>
            <a:headEnd type="none" w="sm" len="sm"/>
            <a:tailEnd type="none" w="sm" len="sm"/>
          </a:ln>
        </p:spPr>
      </p:sp>
      <p:sp>
        <p:nvSpPr>
          <p:cNvPr id="43" name="TextBox 43"/>
          <p:cNvSpPr txBox="1"/>
          <p:nvPr/>
        </p:nvSpPr>
        <p:spPr>
          <a:xfrm>
            <a:off x="2745251" y="3445137"/>
            <a:ext cx="723179" cy="359073"/>
          </a:xfrm>
          <a:prstGeom prst="rect">
            <a:avLst/>
          </a:prstGeom>
        </p:spPr>
        <p:txBody>
          <a:bodyPr wrap="square" lIns="0" tIns="0" rIns="0" bIns="0" rtlCol="0" anchor="t">
            <a:spAutoFit/>
          </a:bodyPr>
          <a:lstStyle/>
          <a:p>
            <a:pPr algn="ctr">
              <a:lnSpc>
                <a:spcPts val="1440"/>
              </a:lnSpc>
              <a:spcBef>
                <a:spcPct val="0"/>
              </a:spcBef>
            </a:pPr>
            <a:r>
              <a:rPr lang="en-US" sz="1200" b="1" spc="11" dirty="0">
                <a:solidFill>
                  <a:srgbClr val="000000"/>
                </a:solidFill>
                <a:latin typeface="TT Rounds Condensed Bold"/>
                <a:ea typeface="TT Rounds Condensed Bold"/>
                <a:cs typeface="TT Rounds Condensed Bold"/>
                <a:sym typeface="TT Rounds Condensed Bold"/>
              </a:rPr>
              <a:t>Supervisor</a:t>
            </a:r>
          </a:p>
        </p:txBody>
      </p:sp>
      <p:sp>
        <p:nvSpPr>
          <p:cNvPr id="44" name="TextBox 44"/>
          <p:cNvSpPr txBox="1"/>
          <p:nvPr/>
        </p:nvSpPr>
        <p:spPr>
          <a:xfrm>
            <a:off x="2951742" y="5383391"/>
            <a:ext cx="723179" cy="179536"/>
          </a:xfrm>
          <a:prstGeom prst="rect">
            <a:avLst/>
          </a:prstGeom>
        </p:spPr>
        <p:txBody>
          <a:bodyPr wrap="square" lIns="0" tIns="0" rIns="0" bIns="0" rtlCol="0" anchor="t">
            <a:spAutoFit/>
          </a:bodyPr>
          <a:lstStyle/>
          <a:p>
            <a:pPr algn="ctr">
              <a:lnSpc>
                <a:spcPts val="1440"/>
              </a:lnSpc>
              <a:spcBef>
                <a:spcPct val="0"/>
              </a:spcBef>
            </a:pPr>
            <a:r>
              <a:rPr lang="en-US" sz="1200" b="1" spc="11" dirty="0">
                <a:solidFill>
                  <a:srgbClr val="000000"/>
                </a:solidFill>
                <a:latin typeface="TT Rounds Condensed Bold"/>
                <a:ea typeface="TT Rounds Condensed Bold"/>
                <a:cs typeface="TT Rounds Condensed Bold"/>
                <a:sym typeface="TT Rounds Condensed Bold"/>
              </a:rPr>
              <a:t>Developer</a:t>
            </a:r>
          </a:p>
        </p:txBody>
      </p:sp>
      <p:sp>
        <p:nvSpPr>
          <p:cNvPr id="45" name="TextBox 45"/>
          <p:cNvSpPr txBox="1"/>
          <p:nvPr/>
        </p:nvSpPr>
        <p:spPr>
          <a:xfrm>
            <a:off x="5141491" y="1331633"/>
            <a:ext cx="1769670" cy="522259"/>
          </a:xfrm>
          <a:prstGeom prst="rect">
            <a:avLst/>
          </a:prstGeom>
        </p:spPr>
        <p:txBody>
          <a:bodyPr lIns="0" tIns="0" rIns="0" bIns="0" rtlCol="0" anchor="t">
            <a:spAutoFit/>
          </a:bodyPr>
          <a:lstStyle/>
          <a:p>
            <a:pPr algn="ctr">
              <a:lnSpc>
                <a:spcPts val="2094"/>
              </a:lnSpc>
              <a:spcBef>
                <a:spcPct val="0"/>
              </a:spcBef>
            </a:pPr>
            <a:r>
              <a:rPr lang="en-US" sz="1745" spc="16">
                <a:solidFill>
                  <a:srgbClr val="000000"/>
                </a:solidFill>
                <a:latin typeface="TT Rounds Condensed"/>
                <a:ea typeface="TT Rounds Condensed"/>
                <a:cs typeface="TT Rounds Condensed"/>
                <a:sym typeface="TT Rounds Condensed"/>
              </a:rPr>
              <a:t>OutbreakNavigator</a:t>
            </a:r>
          </a:p>
        </p:txBody>
      </p:sp>
      <p:sp>
        <p:nvSpPr>
          <p:cNvPr id="46" name="AutoShape 46"/>
          <p:cNvSpPr/>
          <p:nvPr/>
        </p:nvSpPr>
        <p:spPr>
          <a:xfrm flipV="1">
            <a:off x="7247530" y="2487825"/>
            <a:ext cx="1277673" cy="1215939"/>
          </a:xfrm>
          <a:prstGeom prst="line">
            <a:avLst/>
          </a:prstGeom>
          <a:ln w="38100" cap="flat">
            <a:solidFill>
              <a:srgbClr val="000000"/>
            </a:solidFill>
            <a:prstDash val="solid"/>
            <a:headEnd type="none" w="sm" len="sm"/>
            <a:tailEnd type="none" w="sm" len="sm"/>
          </a:ln>
        </p:spPr>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2BAB0-B6F3-42DD-BC2E-50A8C48C9D67}"/>
              </a:ext>
            </a:extLst>
          </p:cNvPr>
          <p:cNvSpPr>
            <a:spLocks noGrp="1"/>
          </p:cNvSpPr>
          <p:nvPr>
            <p:ph type="title"/>
          </p:nvPr>
        </p:nvSpPr>
        <p:spPr/>
        <p:txBody>
          <a:bodyPr/>
          <a:lstStyle/>
          <a:p>
            <a:r>
              <a:rPr lang="en-US" dirty="0"/>
              <a:t>Triple Extraction Evaluation</a:t>
            </a:r>
          </a:p>
        </p:txBody>
      </p:sp>
      <p:sp>
        <p:nvSpPr>
          <p:cNvPr id="5" name="Slide Number Placeholder 4">
            <a:extLst>
              <a:ext uri="{FF2B5EF4-FFF2-40B4-BE49-F238E27FC236}">
                <a16:creationId xmlns:a16="http://schemas.microsoft.com/office/drawing/2014/main" id="{81438893-CB0D-461E-9970-074B85BB3FBD}"/>
              </a:ext>
            </a:extLst>
          </p:cNvPr>
          <p:cNvSpPr>
            <a:spLocks noGrp="1"/>
          </p:cNvSpPr>
          <p:nvPr>
            <p:ph type="sldNum" sz="quarter" idx="12"/>
          </p:nvPr>
        </p:nvSpPr>
        <p:spPr/>
        <p:txBody>
          <a:bodyPr/>
          <a:lstStyle/>
          <a:p>
            <a:fld id="{F95058E6-B6E9-4B7D-9DDE-04196D2335F5}" type="slidenum">
              <a:rPr lang="en-US" smtClean="0"/>
              <a:t>66</a:t>
            </a:fld>
            <a:endParaRPr lang="en-US"/>
          </a:p>
        </p:txBody>
      </p:sp>
      <p:sp>
        <p:nvSpPr>
          <p:cNvPr id="7" name="Title 4">
            <a:extLst>
              <a:ext uri="{FF2B5EF4-FFF2-40B4-BE49-F238E27FC236}">
                <a16:creationId xmlns:a16="http://schemas.microsoft.com/office/drawing/2014/main" id="{98D23ED8-CED6-4B04-A77F-7A3097021CD3}"/>
              </a:ext>
            </a:extLst>
          </p:cNvPr>
          <p:cNvSpPr txBox="1">
            <a:spLocks/>
          </p:cNvSpPr>
          <p:nvPr/>
        </p:nvSpPr>
        <p:spPr>
          <a:xfrm>
            <a:off x="643467" y="126371"/>
            <a:ext cx="10972800" cy="607722"/>
          </a:xfrm>
          <a:prstGeom prst="rect">
            <a:avLst/>
          </a:prstGeom>
        </p:spPr>
        <p:txBody>
          <a:bodyPr vert="horz" lIns="91440" tIns="45720" rIns="91440" bIns="45720" rtlCol="0" anchor="t">
            <a:noAutofit/>
          </a:bodyPr>
          <a:lstStyle>
            <a:lvl1pPr algn="l" defTabSz="457200" rtl="0" eaLnBrk="1" latinLnBrk="0" hangingPunct="1">
              <a:spcBef>
                <a:spcPct val="0"/>
              </a:spcBef>
              <a:buNone/>
              <a:defRPr sz="4000" b="1" kern="1200" cap="all">
                <a:solidFill>
                  <a:schemeClr val="bg1"/>
                </a:solidFill>
                <a:latin typeface="Microsoft PhagsPa" panose="020B0502040204020203" pitchFamily="34" charset="0"/>
                <a:ea typeface="+mj-ea"/>
                <a:cs typeface="+mj-cs"/>
              </a:defRPr>
            </a:lvl1pPr>
          </a:lstStyle>
          <a:p>
            <a:pPr algn="ctr"/>
            <a:r>
              <a:rPr lang="en-US" cap="none">
                <a:latin typeface="Calibri" panose="020F0502020204030204"/>
              </a:rPr>
              <a:t>Class Diagram</a:t>
            </a:r>
            <a:endParaRPr lang="en-US" cap="none" dirty="0"/>
          </a:p>
        </p:txBody>
      </p:sp>
      <p:pic>
        <p:nvPicPr>
          <p:cNvPr id="4" name="Picture 3">
            <a:extLst>
              <a:ext uri="{FF2B5EF4-FFF2-40B4-BE49-F238E27FC236}">
                <a16:creationId xmlns:a16="http://schemas.microsoft.com/office/drawing/2014/main" id="{C56F0C12-DF3C-4FDA-801A-39289055F1E6}"/>
              </a:ext>
            </a:extLst>
          </p:cNvPr>
          <p:cNvPicPr>
            <a:picLocks noChangeAspect="1"/>
          </p:cNvPicPr>
          <p:nvPr/>
        </p:nvPicPr>
        <p:blipFill>
          <a:blip r:embed="rId2"/>
          <a:stretch>
            <a:fillRect/>
          </a:stretch>
        </p:blipFill>
        <p:spPr>
          <a:xfrm>
            <a:off x="135467" y="905932"/>
            <a:ext cx="11657045" cy="5288845"/>
          </a:xfrm>
          <a:prstGeom prst="rect">
            <a:avLst/>
          </a:prstGeom>
        </p:spPr>
      </p:pic>
    </p:spTree>
    <p:extLst>
      <p:ext uri="{BB962C8B-B14F-4D97-AF65-F5344CB8AC3E}">
        <p14:creationId xmlns:p14="http://schemas.microsoft.com/office/powerpoint/2010/main" val="9389781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6C4F381-D118-4761-A0ED-1970F495F8EA}"/>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January 22, 2025</a:t>
            </a:r>
          </a:p>
        </p:txBody>
      </p:sp>
      <p:sp>
        <p:nvSpPr>
          <p:cNvPr id="4" name="Slide Number Placeholder 3">
            <a:extLst>
              <a:ext uri="{FF2B5EF4-FFF2-40B4-BE49-F238E27FC236}">
                <a16:creationId xmlns:a16="http://schemas.microsoft.com/office/drawing/2014/main" id="{980D807B-845B-4712-9A45-9C7932579E3A}"/>
              </a:ext>
            </a:extLst>
          </p:cNvPr>
          <p:cNvSpPr>
            <a:spLocks noGrp="1"/>
          </p:cNvSpPr>
          <p:nvPr>
            <p:ph type="sldNum" sz="quarter" idx="12"/>
          </p:nvPr>
        </p:nvSpPr>
        <p:spPr>
          <a:xfrm>
            <a:off x="4844220" y="6538913"/>
            <a:ext cx="2791910" cy="32316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88279435-30EF-C241-87D1-8D13B984C0E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D3999E01-8306-4C21-8854-F55E1545B5D9}"/>
              </a:ext>
            </a:extLst>
          </p:cNvPr>
          <p:cNvSpPr>
            <a:spLocks noGrp="1"/>
          </p:cNvSpPr>
          <p:nvPr>
            <p:ph type="title"/>
          </p:nvPr>
        </p:nvSpPr>
        <p:spPr/>
        <p:txBody>
          <a:bodyPr/>
          <a:lstStyle/>
          <a:p>
            <a:r>
              <a:rPr lang="en-US" dirty="0"/>
              <a:t>System Architecture </a:t>
            </a:r>
          </a:p>
        </p:txBody>
      </p:sp>
      <p:sp>
        <p:nvSpPr>
          <p:cNvPr id="8" name="Rectangle 1">
            <a:extLst>
              <a:ext uri="{FF2B5EF4-FFF2-40B4-BE49-F238E27FC236}">
                <a16:creationId xmlns:a16="http://schemas.microsoft.com/office/drawing/2014/main" id="{568A795D-4D9A-4CDE-AE5A-3A7E01CED8A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051" name="Picture 27" descr="Database icon from icons8.com">
            <a:extLst>
              <a:ext uri="{FF2B5EF4-FFF2-40B4-BE49-F238E27FC236}">
                <a16:creationId xmlns:a16="http://schemas.microsoft.com/office/drawing/2014/main" id="{0C010A1C-0C5C-4C71-912B-D3262CC7C0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933" y="1251013"/>
            <a:ext cx="1244098" cy="1368574"/>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460CE19E-4E85-4A85-AD47-A3D2E8C6235F}"/>
              </a:ext>
            </a:extLst>
          </p:cNvPr>
          <p:cNvSpPr txBox="1"/>
          <p:nvPr/>
        </p:nvSpPr>
        <p:spPr>
          <a:xfrm>
            <a:off x="413817" y="2565930"/>
            <a:ext cx="1244098"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Delta Table</a:t>
            </a:r>
          </a:p>
        </p:txBody>
      </p:sp>
      <p:cxnSp>
        <p:nvCxnSpPr>
          <p:cNvPr id="41" name="Straight Arrow Connector 40">
            <a:extLst>
              <a:ext uri="{FF2B5EF4-FFF2-40B4-BE49-F238E27FC236}">
                <a16:creationId xmlns:a16="http://schemas.microsoft.com/office/drawing/2014/main" id="{5ED7A04A-5C68-4CB6-A252-B51D7273CB51}"/>
              </a:ext>
            </a:extLst>
          </p:cNvPr>
          <p:cNvCxnSpPr>
            <a:cxnSpLocks/>
          </p:cNvCxnSpPr>
          <p:nvPr/>
        </p:nvCxnSpPr>
        <p:spPr>
          <a:xfrm flipV="1">
            <a:off x="1625405" y="2091283"/>
            <a:ext cx="478548" cy="79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0" name="Straight Arrow Connector 69">
            <a:extLst>
              <a:ext uri="{FF2B5EF4-FFF2-40B4-BE49-F238E27FC236}">
                <a16:creationId xmlns:a16="http://schemas.microsoft.com/office/drawing/2014/main" id="{5E2849C3-9D88-4A43-84AE-470ABE453126}"/>
              </a:ext>
            </a:extLst>
          </p:cNvPr>
          <p:cNvCxnSpPr>
            <a:cxnSpLocks/>
          </p:cNvCxnSpPr>
          <p:nvPr/>
        </p:nvCxnSpPr>
        <p:spPr>
          <a:xfrm>
            <a:off x="5655415" y="2283050"/>
            <a:ext cx="68604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71" name="Group 70">
            <a:extLst>
              <a:ext uri="{FF2B5EF4-FFF2-40B4-BE49-F238E27FC236}">
                <a16:creationId xmlns:a16="http://schemas.microsoft.com/office/drawing/2014/main" id="{E3F7E562-F91A-4D59-A4B4-0E82A69C4AEB}"/>
              </a:ext>
            </a:extLst>
          </p:cNvPr>
          <p:cNvGrpSpPr/>
          <p:nvPr/>
        </p:nvGrpSpPr>
        <p:grpSpPr>
          <a:xfrm>
            <a:off x="6348175" y="1277103"/>
            <a:ext cx="3453018" cy="1948386"/>
            <a:chOff x="2251268" y="3563688"/>
            <a:chExt cx="3453018" cy="1948386"/>
          </a:xfrm>
        </p:grpSpPr>
        <p:pic>
          <p:nvPicPr>
            <p:cNvPr id="1037" name="Picture 13" descr="Data driven - Free marketing icons">
              <a:extLst>
                <a:ext uri="{FF2B5EF4-FFF2-40B4-BE49-F238E27FC236}">
                  <a16:creationId xmlns:a16="http://schemas.microsoft.com/office/drawing/2014/main" id="{845D3F9D-052A-4BD3-9445-30001808BB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1675" y="3752190"/>
              <a:ext cx="943111" cy="94311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B3B8ACBA-4440-4024-8C4D-F8AB118490F2}"/>
                </a:ext>
              </a:extLst>
            </p:cNvPr>
            <p:cNvSpPr txBox="1"/>
            <p:nvPr/>
          </p:nvSpPr>
          <p:spPr>
            <a:xfrm>
              <a:off x="2439663" y="4705582"/>
              <a:ext cx="1335483"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Data Driven Model</a:t>
              </a:r>
            </a:p>
          </p:txBody>
        </p:sp>
        <p:pic>
          <p:nvPicPr>
            <p:cNvPr id="1041" name="Picture 17" descr="Data Review Icon Royalty-Free Images, Stock Photos ...">
              <a:extLst>
                <a:ext uri="{FF2B5EF4-FFF2-40B4-BE49-F238E27FC236}">
                  <a16:creationId xmlns:a16="http://schemas.microsoft.com/office/drawing/2014/main" id="{56D16631-6E6C-47C9-B66B-E5574CA0CE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8737" y="3649139"/>
              <a:ext cx="1409701" cy="1103893"/>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826B4877-E8CD-43ED-BE68-6D61FC02B22B}"/>
                </a:ext>
              </a:extLst>
            </p:cNvPr>
            <p:cNvSpPr txBox="1"/>
            <p:nvPr/>
          </p:nvSpPr>
          <p:spPr>
            <a:xfrm>
              <a:off x="4189810" y="4650029"/>
              <a:ext cx="1231744"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Model Evaluation</a:t>
              </a:r>
            </a:p>
          </p:txBody>
        </p:sp>
        <p:cxnSp>
          <p:nvCxnSpPr>
            <p:cNvPr id="46" name="Straight Arrow Connector 45">
              <a:extLst>
                <a:ext uri="{FF2B5EF4-FFF2-40B4-BE49-F238E27FC236}">
                  <a16:creationId xmlns:a16="http://schemas.microsoft.com/office/drawing/2014/main" id="{A457996E-3ECA-4397-A319-E68F5F58273F}"/>
                </a:ext>
              </a:extLst>
            </p:cNvPr>
            <p:cNvCxnSpPr>
              <a:cxnSpLocks/>
            </p:cNvCxnSpPr>
            <p:nvPr/>
          </p:nvCxnSpPr>
          <p:spPr>
            <a:xfrm>
              <a:off x="3717928" y="4223746"/>
              <a:ext cx="67073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8" name="Rectangle: Rounded Corners 57">
              <a:extLst>
                <a:ext uri="{FF2B5EF4-FFF2-40B4-BE49-F238E27FC236}">
                  <a16:creationId xmlns:a16="http://schemas.microsoft.com/office/drawing/2014/main" id="{8A112E27-F282-426C-BD1E-85AD7CF111F5}"/>
                </a:ext>
              </a:extLst>
            </p:cNvPr>
            <p:cNvSpPr/>
            <p:nvPr/>
          </p:nvSpPr>
          <p:spPr>
            <a:xfrm>
              <a:off x="2251268" y="3563688"/>
              <a:ext cx="3453018" cy="1948386"/>
            </a:xfrm>
            <a:prstGeom prst="roundRect">
              <a:avLst/>
            </a:prstGeom>
            <a:noFill/>
            <a:ln w="28575">
              <a:solidFill>
                <a:schemeClr val="tx1"/>
              </a:solidFill>
            </a:ln>
          </p:spPr>
          <p:style>
            <a:lnRef idx="1">
              <a:schemeClr val="dk1"/>
            </a:lnRef>
            <a:fillRef idx="3">
              <a:schemeClr val="dk1"/>
            </a:fillRef>
            <a:effectRef idx="2">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93" name="Group 92">
            <a:extLst>
              <a:ext uri="{FF2B5EF4-FFF2-40B4-BE49-F238E27FC236}">
                <a16:creationId xmlns:a16="http://schemas.microsoft.com/office/drawing/2014/main" id="{50589192-4E55-4CCC-BB12-E2ECCA4EF99C}"/>
              </a:ext>
            </a:extLst>
          </p:cNvPr>
          <p:cNvGrpSpPr/>
          <p:nvPr/>
        </p:nvGrpSpPr>
        <p:grpSpPr>
          <a:xfrm>
            <a:off x="2200469" y="1385476"/>
            <a:ext cx="3432083" cy="1697701"/>
            <a:chOff x="2242229" y="1408110"/>
            <a:chExt cx="3432083" cy="1697701"/>
          </a:xfrm>
        </p:grpSpPr>
        <p:pic>
          <p:nvPicPr>
            <p:cNvPr id="94" name="Picture 3" descr="Data Preprocessing Icons - Free SVG &amp; PNG Data Preprocessing ...">
              <a:extLst>
                <a:ext uri="{FF2B5EF4-FFF2-40B4-BE49-F238E27FC236}">
                  <a16:creationId xmlns:a16="http://schemas.microsoft.com/office/drawing/2014/main" id="{8CB0B82C-41DF-43F5-9EAB-862F88338D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3274" y="1561704"/>
              <a:ext cx="828262" cy="854766"/>
            </a:xfrm>
            <a:prstGeom prst="rect">
              <a:avLst/>
            </a:prstGeom>
            <a:noFill/>
            <a:extLst>
              <a:ext uri="{909E8E84-426E-40DD-AFC4-6F175D3DCCD1}">
                <a14:hiddenFill xmlns:a14="http://schemas.microsoft.com/office/drawing/2010/main">
                  <a:solidFill>
                    <a:srgbClr val="FFFFFF"/>
                  </a:solidFill>
                </a14:hiddenFill>
              </a:ext>
            </a:extLst>
          </p:spPr>
        </p:pic>
        <p:sp>
          <p:nvSpPr>
            <p:cNvPr id="95" name="TextBox 94">
              <a:extLst>
                <a:ext uri="{FF2B5EF4-FFF2-40B4-BE49-F238E27FC236}">
                  <a16:creationId xmlns:a16="http://schemas.microsoft.com/office/drawing/2014/main" id="{012744E3-5FD3-43E4-A318-24342E4C2DFD}"/>
                </a:ext>
              </a:extLst>
            </p:cNvPr>
            <p:cNvSpPr txBox="1"/>
            <p:nvPr/>
          </p:nvSpPr>
          <p:spPr>
            <a:xfrm>
              <a:off x="2374545" y="2410535"/>
              <a:ext cx="1583726"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Data Preprocessing</a:t>
              </a:r>
            </a:p>
          </p:txBody>
        </p:sp>
        <p:pic>
          <p:nvPicPr>
            <p:cNvPr id="96" name="Picture 5" descr="Engineering - Free education icons">
              <a:extLst>
                <a:ext uri="{FF2B5EF4-FFF2-40B4-BE49-F238E27FC236}">
                  <a16:creationId xmlns:a16="http://schemas.microsoft.com/office/drawing/2014/main" id="{522BE416-88C9-48AB-B20B-BDD6BE2C33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7971" y="1472731"/>
              <a:ext cx="1129122" cy="1032712"/>
            </a:xfrm>
            <a:prstGeom prst="rect">
              <a:avLst/>
            </a:prstGeom>
            <a:noFill/>
            <a:extLst>
              <a:ext uri="{909E8E84-426E-40DD-AFC4-6F175D3DCCD1}">
                <a14:hiddenFill xmlns:a14="http://schemas.microsoft.com/office/drawing/2010/main">
                  <a:solidFill>
                    <a:srgbClr val="FFFFFF"/>
                  </a:solidFill>
                </a14:hiddenFill>
              </a:ext>
            </a:extLst>
          </p:spPr>
        </p:pic>
        <p:sp>
          <p:nvSpPr>
            <p:cNvPr id="97" name="TextBox 96">
              <a:extLst>
                <a:ext uri="{FF2B5EF4-FFF2-40B4-BE49-F238E27FC236}">
                  <a16:creationId xmlns:a16="http://schemas.microsoft.com/office/drawing/2014/main" id="{90412D6E-AC67-406D-8878-D4AEF6DE3A72}"/>
                </a:ext>
              </a:extLst>
            </p:cNvPr>
            <p:cNvSpPr txBox="1"/>
            <p:nvPr/>
          </p:nvSpPr>
          <p:spPr>
            <a:xfrm>
              <a:off x="3977777" y="2459480"/>
              <a:ext cx="1467821"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Feature Engineering</a:t>
              </a:r>
            </a:p>
          </p:txBody>
        </p:sp>
        <p:cxnSp>
          <p:nvCxnSpPr>
            <p:cNvPr id="98" name="Straight Arrow Connector 97">
              <a:extLst>
                <a:ext uri="{FF2B5EF4-FFF2-40B4-BE49-F238E27FC236}">
                  <a16:creationId xmlns:a16="http://schemas.microsoft.com/office/drawing/2014/main" id="{7779760E-7324-4DC2-BC1A-34A5304F5EFB}"/>
                </a:ext>
              </a:extLst>
            </p:cNvPr>
            <p:cNvCxnSpPr/>
            <p:nvPr/>
          </p:nvCxnSpPr>
          <p:spPr>
            <a:xfrm>
              <a:off x="3609663" y="2214570"/>
              <a:ext cx="58726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9" name="Rectangle: Rounded Corners 98">
              <a:extLst>
                <a:ext uri="{FF2B5EF4-FFF2-40B4-BE49-F238E27FC236}">
                  <a16:creationId xmlns:a16="http://schemas.microsoft.com/office/drawing/2014/main" id="{627063C8-CF23-426B-86E4-2A09D812E9D5}"/>
                </a:ext>
              </a:extLst>
            </p:cNvPr>
            <p:cNvSpPr/>
            <p:nvPr/>
          </p:nvSpPr>
          <p:spPr>
            <a:xfrm>
              <a:off x="2242229" y="1408110"/>
              <a:ext cx="3432083" cy="1697701"/>
            </a:xfrm>
            <a:prstGeom prst="roundRect">
              <a:avLst/>
            </a:prstGeom>
            <a:noFill/>
            <a:ln w="28575"/>
          </p:spPr>
          <p:style>
            <a:lnRef idx="1">
              <a:schemeClr val="dk1"/>
            </a:lnRef>
            <a:fillRef idx="3">
              <a:schemeClr val="dk1"/>
            </a:fillRef>
            <a:effectRef idx="2">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cxnSp>
        <p:nvCxnSpPr>
          <p:cNvPr id="105" name="Straight Arrow Connector 104">
            <a:extLst>
              <a:ext uri="{FF2B5EF4-FFF2-40B4-BE49-F238E27FC236}">
                <a16:creationId xmlns:a16="http://schemas.microsoft.com/office/drawing/2014/main" id="{E5EA2344-689A-4AB4-A5D5-E341BCF530C0}"/>
              </a:ext>
            </a:extLst>
          </p:cNvPr>
          <p:cNvCxnSpPr>
            <a:cxnSpLocks/>
            <a:stCxn id="61" idx="1"/>
            <a:endCxn id="78" idx="3"/>
          </p:cNvCxnSpPr>
          <p:nvPr/>
        </p:nvCxnSpPr>
        <p:spPr>
          <a:xfrm flipH="1" flipV="1">
            <a:off x="5378706" y="4775346"/>
            <a:ext cx="1265984" cy="20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2" name="TextBox 111">
            <a:extLst>
              <a:ext uri="{FF2B5EF4-FFF2-40B4-BE49-F238E27FC236}">
                <a16:creationId xmlns:a16="http://schemas.microsoft.com/office/drawing/2014/main" id="{EB8D3F24-CC6C-4FC7-848E-87B145BD26EF}"/>
              </a:ext>
            </a:extLst>
          </p:cNvPr>
          <p:cNvSpPr txBox="1"/>
          <p:nvPr/>
        </p:nvSpPr>
        <p:spPr>
          <a:xfrm>
            <a:off x="2200469" y="1047284"/>
            <a:ext cx="220147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Data Transformation</a:t>
            </a:r>
          </a:p>
        </p:txBody>
      </p:sp>
      <p:grpSp>
        <p:nvGrpSpPr>
          <p:cNvPr id="66" name="Group 65">
            <a:extLst>
              <a:ext uri="{FF2B5EF4-FFF2-40B4-BE49-F238E27FC236}">
                <a16:creationId xmlns:a16="http://schemas.microsoft.com/office/drawing/2014/main" id="{099593D2-4377-4E93-93B2-841241494DE7}"/>
              </a:ext>
            </a:extLst>
          </p:cNvPr>
          <p:cNvGrpSpPr/>
          <p:nvPr/>
        </p:nvGrpSpPr>
        <p:grpSpPr>
          <a:xfrm>
            <a:off x="6644690" y="3951795"/>
            <a:ext cx="3098842" cy="1651245"/>
            <a:chOff x="8450233" y="3878317"/>
            <a:chExt cx="3453018" cy="1742988"/>
          </a:xfrm>
        </p:grpSpPr>
        <p:grpSp>
          <p:nvGrpSpPr>
            <p:cNvPr id="60" name="Group 59">
              <a:extLst>
                <a:ext uri="{FF2B5EF4-FFF2-40B4-BE49-F238E27FC236}">
                  <a16:creationId xmlns:a16="http://schemas.microsoft.com/office/drawing/2014/main" id="{E4D6BA03-2CDE-4A13-AC99-5B1E537882C1}"/>
                </a:ext>
              </a:extLst>
            </p:cNvPr>
            <p:cNvGrpSpPr/>
            <p:nvPr/>
          </p:nvGrpSpPr>
          <p:grpSpPr>
            <a:xfrm>
              <a:off x="8450233" y="4075985"/>
              <a:ext cx="3372191" cy="1220375"/>
              <a:chOff x="7659983" y="3989407"/>
              <a:chExt cx="3372191" cy="1220375"/>
            </a:xfrm>
          </p:grpSpPr>
          <p:grpSp>
            <p:nvGrpSpPr>
              <p:cNvPr id="56" name="Group 55">
                <a:extLst>
                  <a:ext uri="{FF2B5EF4-FFF2-40B4-BE49-F238E27FC236}">
                    <a16:creationId xmlns:a16="http://schemas.microsoft.com/office/drawing/2014/main" id="{A3645F6C-A913-4C7E-B703-6702A187E3EA}"/>
                  </a:ext>
                </a:extLst>
              </p:cNvPr>
              <p:cNvGrpSpPr/>
              <p:nvPr/>
            </p:nvGrpSpPr>
            <p:grpSpPr>
              <a:xfrm>
                <a:off x="7659983" y="4090275"/>
                <a:ext cx="1846180" cy="1119507"/>
                <a:chOff x="6460234" y="5363867"/>
                <a:chExt cx="1846180" cy="1119507"/>
              </a:xfrm>
            </p:grpSpPr>
            <p:pic>
              <p:nvPicPr>
                <p:cNvPr id="21" name="Picture 20">
                  <a:extLst>
                    <a:ext uri="{FF2B5EF4-FFF2-40B4-BE49-F238E27FC236}">
                      <a16:creationId xmlns:a16="http://schemas.microsoft.com/office/drawing/2014/main" id="{CD090320-D947-4BE6-89DB-8FDE00C4CB64}"/>
                    </a:ext>
                  </a:extLst>
                </p:cNvPr>
                <p:cNvPicPr>
                  <a:picLocks noChangeAspect="1"/>
                </p:cNvPicPr>
                <p:nvPr/>
              </p:nvPicPr>
              <p:blipFill>
                <a:blip r:embed="rId7"/>
                <a:stretch>
                  <a:fillRect/>
                </a:stretch>
              </p:blipFill>
              <p:spPr>
                <a:xfrm>
                  <a:off x="6934524" y="5363867"/>
                  <a:ext cx="897600" cy="897600"/>
                </a:xfrm>
                <a:prstGeom prst="rect">
                  <a:avLst/>
                </a:prstGeom>
              </p:spPr>
            </p:pic>
            <p:sp>
              <p:nvSpPr>
                <p:cNvPr id="22" name="TextBox 21">
                  <a:extLst>
                    <a:ext uri="{FF2B5EF4-FFF2-40B4-BE49-F238E27FC236}">
                      <a16:creationId xmlns:a16="http://schemas.microsoft.com/office/drawing/2014/main" id="{124EC0F5-FB56-4A08-9F53-568174EF9F75}"/>
                    </a:ext>
                  </a:extLst>
                </p:cNvPr>
                <p:cNvSpPr txBox="1"/>
                <p:nvPr/>
              </p:nvSpPr>
              <p:spPr>
                <a:xfrm>
                  <a:off x="6460234" y="6160209"/>
                  <a:ext cx="1846180" cy="3231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Monitoring Agent</a:t>
                  </a:r>
                </a:p>
              </p:txBody>
            </p:sp>
          </p:grpSp>
          <p:grpSp>
            <p:nvGrpSpPr>
              <p:cNvPr id="57" name="Group 56">
                <a:extLst>
                  <a:ext uri="{FF2B5EF4-FFF2-40B4-BE49-F238E27FC236}">
                    <a16:creationId xmlns:a16="http://schemas.microsoft.com/office/drawing/2014/main" id="{371AC227-17A0-4294-8E2F-C053191BC4F1}"/>
                  </a:ext>
                </a:extLst>
              </p:cNvPr>
              <p:cNvGrpSpPr/>
              <p:nvPr/>
            </p:nvGrpSpPr>
            <p:grpSpPr>
              <a:xfrm>
                <a:off x="9240483" y="3989407"/>
                <a:ext cx="1791691" cy="1220375"/>
                <a:chOff x="9326769" y="4614004"/>
                <a:chExt cx="1791691" cy="1220375"/>
              </a:xfrm>
            </p:grpSpPr>
            <p:sp>
              <p:nvSpPr>
                <p:cNvPr id="33" name="TextBox 32">
                  <a:extLst>
                    <a:ext uri="{FF2B5EF4-FFF2-40B4-BE49-F238E27FC236}">
                      <a16:creationId xmlns:a16="http://schemas.microsoft.com/office/drawing/2014/main" id="{014DFEA3-D601-4D44-9F65-B20D5EEE2D3A}"/>
                    </a:ext>
                  </a:extLst>
                </p:cNvPr>
                <p:cNvSpPr txBox="1"/>
                <p:nvPr/>
              </p:nvSpPr>
              <p:spPr>
                <a:xfrm>
                  <a:off x="9326769" y="5511214"/>
                  <a:ext cx="1791691" cy="3231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Alerting Agent</a:t>
                  </a:r>
                </a:p>
              </p:txBody>
            </p:sp>
            <p:pic>
              <p:nvPicPr>
                <p:cNvPr id="72" name="Picture 71">
                  <a:extLst>
                    <a:ext uri="{FF2B5EF4-FFF2-40B4-BE49-F238E27FC236}">
                      <a16:creationId xmlns:a16="http://schemas.microsoft.com/office/drawing/2014/main" id="{28514620-F43B-4A61-B7C1-A550AC86FB05}"/>
                    </a:ext>
                  </a:extLst>
                </p:cNvPr>
                <p:cNvPicPr>
                  <a:picLocks noChangeAspect="1"/>
                </p:cNvPicPr>
                <p:nvPr/>
              </p:nvPicPr>
              <p:blipFill>
                <a:blip r:embed="rId7"/>
                <a:stretch>
                  <a:fillRect/>
                </a:stretch>
              </p:blipFill>
              <p:spPr>
                <a:xfrm>
                  <a:off x="9773815" y="4614004"/>
                  <a:ext cx="897600" cy="897600"/>
                </a:xfrm>
                <a:prstGeom prst="rect">
                  <a:avLst/>
                </a:prstGeom>
              </p:spPr>
            </p:pic>
          </p:grpSp>
        </p:grpSp>
        <p:sp>
          <p:nvSpPr>
            <p:cNvPr id="61" name="Rectangle: Rounded Corners 60">
              <a:extLst>
                <a:ext uri="{FF2B5EF4-FFF2-40B4-BE49-F238E27FC236}">
                  <a16:creationId xmlns:a16="http://schemas.microsoft.com/office/drawing/2014/main" id="{39AF3B76-65DF-47A9-B9E8-6F0145592EF7}"/>
                </a:ext>
              </a:extLst>
            </p:cNvPr>
            <p:cNvSpPr/>
            <p:nvPr/>
          </p:nvSpPr>
          <p:spPr>
            <a:xfrm>
              <a:off x="8450233" y="3878317"/>
              <a:ext cx="3453018" cy="1742988"/>
            </a:xfrm>
            <a:prstGeom prst="roundRect">
              <a:avLst/>
            </a:prstGeom>
            <a:noFill/>
            <a:ln w="28575"/>
          </p:spPr>
          <p:style>
            <a:lnRef idx="1">
              <a:schemeClr val="dk1"/>
            </a:lnRef>
            <a:fillRef idx="3">
              <a:schemeClr val="dk1"/>
            </a:fillRef>
            <a:effectRef idx="2">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76" name="TextBox 175">
            <a:extLst>
              <a:ext uri="{FF2B5EF4-FFF2-40B4-BE49-F238E27FC236}">
                <a16:creationId xmlns:a16="http://schemas.microsoft.com/office/drawing/2014/main" id="{1453EDCF-F7AC-468E-89EC-0A5E4D549367}"/>
              </a:ext>
            </a:extLst>
          </p:cNvPr>
          <p:cNvSpPr txBox="1"/>
          <p:nvPr/>
        </p:nvSpPr>
        <p:spPr>
          <a:xfrm>
            <a:off x="6720767" y="3620052"/>
            <a:ext cx="220147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Multi Agent Systems</a:t>
            </a:r>
          </a:p>
        </p:txBody>
      </p:sp>
      <p:grpSp>
        <p:nvGrpSpPr>
          <p:cNvPr id="7" name="Group 6">
            <a:extLst>
              <a:ext uri="{FF2B5EF4-FFF2-40B4-BE49-F238E27FC236}">
                <a16:creationId xmlns:a16="http://schemas.microsoft.com/office/drawing/2014/main" id="{5F034DD1-49E8-42E1-A8B2-3A62982AF04D}"/>
              </a:ext>
            </a:extLst>
          </p:cNvPr>
          <p:cNvGrpSpPr/>
          <p:nvPr/>
        </p:nvGrpSpPr>
        <p:grpSpPr>
          <a:xfrm>
            <a:off x="2271440" y="3868700"/>
            <a:ext cx="3107266" cy="1515719"/>
            <a:chOff x="5653487" y="5342281"/>
            <a:chExt cx="3107266" cy="1515719"/>
          </a:xfrm>
        </p:grpSpPr>
        <p:grpSp>
          <p:nvGrpSpPr>
            <p:cNvPr id="79" name="Group 78">
              <a:extLst>
                <a:ext uri="{FF2B5EF4-FFF2-40B4-BE49-F238E27FC236}">
                  <a16:creationId xmlns:a16="http://schemas.microsoft.com/office/drawing/2014/main" id="{C2D77445-4398-4563-9827-4D2FA3ABCD48}"/>
                </a:ext>
              </a:extLst>
            </p:cNvPr>
            <p:cNvGrpSpPr/>
            <p:nvPr/>
          </p:nvGrpSpPr>
          <p:grpSpPr>
            <a:xfrm>
              <a:off x="5653487" y="5681630"/>
              <a:ext cx="3107266" cy="1176370"/>
              <a:chOff x="5082019" y="5611922"/>
              <a:chExt cx="3107266" cy="1176370"/>
            </a:xfrm>
          </p:grpSpPr>
          <p:sp>
            <p:nvSpPr>
              <p:cNvPr id="78" name="Rectangle: Rounded Corners 77">
                <a:extLst>
                  <a:ext uri="{FF2B5EF4-FFF2-40B4-BE49-F238E27FC236}">
                    <a16:creationId xmlns:a16="http://schemas.microsoft.com/office/drawing/2014/main" id="{8742FACC-2AAE-4784-BE5F-27A36275D423}"/>
                  </a:ext>
                </a:extLst>
              </p:cNvPr>
              <p:cNvSpPr/>
              <p:nvPr/>
            </p:nvSpPr>
            <p:spPr>
              <a:xfrm>
                <a:off x="5082019" y="5611922"/>
                <a:ext cx="3107266" cy="1134593"/>
              </a:xfrm>
              <a:prstGeom prst="roundRect">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73" name="Group 72">
                <a:extLst>
                  <a:ext uri="{FF2B5EF4-FFF2-40B4-BE49-F238E27FC236}">
                    <a16:creationId xmlns:a16="http://schemas.microsoft.com/office/drawing/2014/main" id="{DB4E7B98-9040-453E-AA3C-8A7C1DA2AD77}"/>
                  </a:ext>
                </a:extLst>
              </p:cNvPr>
              <p:cNvGrpSpPr/>
              <p:nvPr/>
            </p:nvGrpSpPr>
            <p:grpSpPr>
              <a:xfrm>
                <a:off x="5135739" y="5647595"/>
                <a:ext cx="2932212" cy="1140697"/>
                <a:chOff x="3925787" y="5777694"/>
                <a:chExt cx="2932212" cy="1140697"/>
              </a:xfrm>
            </p:grpSpPr>
            <p:pic>
              <p:nvPicPr>
                <p:cNvPr id="1043" name="Picture 19" descr="Web interface - Free interface icons">
                  <a:extLst>
                    <a:ext uri="{FF2B5EF4-FFF2-40B4-BE49-F238E27FC236}">
                      <a16:creationId xmlns:a16="http://schemas.microsoft.com/office/drawing/2014/main" id="{596A2719-795D-44D4-A892-570B96E860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69049" y="5777694"/>
                  <a:ext cx="921636" cy="858559"/>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D63E696C-EC89-4CF0-81FF-447F55C16C28}"/>
                    </a:ext>
                  </a:extLst>
                </p:cNvPr>
                <p:cNvSpPr txBox="1"/>
                <p:nvPr/>
              </p:nvSpPr>
              <p:spPr>
                <a:xfrm>
                  <a:off x="5620072" y="6610614"/>
                  <a:ext cx="1237927"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Web Interface</a:t>
                  </a:r>
                </a:p>
              </p:txBody>
            </p:sp>
            <p:pic>
              <p:nvPicPr>
                <p:cNvPr id="1047" name="Picture 23" descr="User - Free interface icons">
                  <a:extLst>
                    <a:ext uri="{FF2B5EF4-FFF2-40B4-BE49-F238E27FC236}">
                      <a16:creationId xmlns:a16="http://schemas.microsoft.com/office/drawing/2014/main" id="{6EFAF424-547D-403A-9115-0DD3BF289DB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25787" y="5898151"/>
                  <a:ext cx="617646" cy="617646"/>
                </a:xfrm>
                <a:prstGeom prst="rect">
                  <a:avLst/>
                </a:prstGeom>
                <a:noFill/>
                <a:extLst>
                  <a:ext uri="{909E8E84-426E-40DD-AFC4-6F175D3DCCD1}">
                    <a14:hiddenFill xmlns:a14="http://schemas.microsoft.com/office/drawing/2010/main">
                      <a:solidFill>
                        <a:srgbClr val="FFFFFF"/>
                      </a:solidFill>
                    </a14:hiddenFill>
                  </a:ext>
                </a:extLst>
              </p:spPr>
            </p:pic>
            <p:cxnSp>
              <p:nvCxnSpPr>
                <p:cNvPr id="81" name="Straight Arrow Connector 80">
                  <a:extLst>
                    <a:ext uri="{FF2B5EF4-FFF2-40B4-BE49-F238E27FC236}">
                      <a16:creationId xmlns:a16="http://schemas.microsoft.com/office/drawing/2014/main" id="{6DFE5E66-D0E0-4D23-9467-694182FD2AA5}"/>
                    </a:ext>
                  </a:extLst>
                </p:cNvPr>
                <p:cNvCxnSpPr>
                  <a:cxnSpLocks/>
                </p:cNvCxnSpPr>
                <p:nvPr/>
              </p:nvCxnSpPr>
              <p:spPr>
                <a:xfrm>
                  <a:off x="4645564" y="6206974"/>
                  <a:ext cx="78013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sp>
          <p:nvSpPr>
            <p:cNvPr id="178" name="TextBox 177">
              <a:extLst>
                <a:ext uri="{FF2B5EF4-FFF2-40B4-BE49-F238E27FC236}">
                  <a16:creationId xmlns:a16="http://schemas.microsoft.com/office/drawing/2014/main" id="{1D0B3BD7-0CFF-4373-B212-C29F7DE8AA44}"/>
                </a:ext>
              </a:extLst>
            </p:cNvPr>
            <p:cNvSpPr txBox="1"/>
            <p:nvPr/>
          </p:nvSpPr>
          <p:spPr>
            <a:xfrm>
              <a:off x="5732229" y="5342281"/>
              <a:ext cx="140189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Dashboard</a:t>
              </a:r>
            </a:p>
          </p:txBody>
        </p:sp>
      </p:grpSp>
      <p:sp>
        <p:nvSpPr>
          <p:cNvPr id="77" name="TextBox 76">
            <a:extLst>
              <a:ext uri="{FF2B5EF4-FFF2-40B4-BE49-F238E27FC236}">
                <a16:creationId xmlns:a16="http://schemas.microsoft.com/office/drawing/2014/main" id="{793C328E-6E55-4AC1-AD4E-32A4A07BC6B7}"/>
              </a:ext>
            </a:extLst>
          </p:cNvPr>
          <p:cNvSpPr txBox="1"/>
          <p:nvPr/>
        </p:nvSpPr>
        <p:spPr>
          <a:xfrm>
            <a:off x="6481613" y="1007333"/>
            <a:ext cx="1704031"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Data Driven Model</a:t>
            </a:r>
          </a:p>
        </p:txBody>
      </p:sp>
      <p:cxnSp>
        <p:nvCxnSpPr>
          <p:cNvPr id="82" name="Straight Arrow Connector 81">
            <a:extLst>
              <a:ext uri="{FF2B5EF4-FFF2-40B4-BE49-F238E27FC236}">
                <a16:creationId xmlns:a16="http://schemas.microsoft.com/office/drawing/2014/main" id="{725A785F-1D4E-4205-8B80-5A243B5511CA}"/>
              </a:ext>
            </a:extLst>
          </p:cNvPr>
          <p:cNvCxnSpPr>
            <a:cxnSpLocks/>
          </p:cNvCxnSpPr>
          <p:nvPr/>
        </p:nvCxnSpPr>
        <p:spPr>
          <a:xfrm>
            <a:off x="8862085" y="3225489"/>
            <a:ext cx="0" cy="7263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2376212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0EAD84-B152-449F-BA53-6B528E366454}"/>
              </a:ext>
            </a:extLst>
          </p:cNvPr>
          <p:cNvSpPr>
            <a:spLocks noGrp="1"/>
          </p:cNvSpPr>
          <p:nvPr>
            <p:ph type="sldNum" sz="quarter" idx="12"/>
          </p:nvPr>
        </p:nvSpPr>
        <p:spPr/>
        <p:txBody>
          <a:bodyPr/>
          <a:lstStyle/>
          <a:p>
            <a:fld id="{88279435-30EF-C241-87D1-8D13B984C0EB}" type="slidenum">
              <a:rPr lang="en-US" smtClean="0"/>
              <a:pPr/>
              <a:t>68</a:t>
            </a:fld>
            <a:endParaRPr lang="en-US"/>
          </a:p>
        </p:txBody>
      </p:sp>
      <p:sp>
        <p:nvSpPr>
          <p:cNvPr id="5" name="Title 4">
            <a:extLst>
              <a:ext uri="{FF2B5EF4-FFF2-40B4-BE49-F238E27FC236}">
                <a16:creationId xmlns:a16="http://schemas.microsoft.com/office/drawing/2014/main" id="{9CB40143-9840-47DC-80ED-EC27FB4A3B8A}"/>
              </a:ext>
            </a:extLst>
          </p:cNvPr>
          <p:cNvSpPr>
            <a:spLocks noGrp="1"/>
          </p:cNvSpPr>
          <p:nvPr>
            <p:ph type="title"/>
          </p:nvPr>
        </p:nvSpPr>
        <p:spPr/>
        <p:txBody>
          <a:bodyPr/>
          <a:lstStyle/>
          <a:p>
            <a:r>
              <a:rPr lang="en-US" b="1" dirty="0">
                <a:latin typeface="Calibri" panose="020F0502020204030204"/>
              </a:rPr>
              <a:t>Sequence Diagram</a:t>
            </a:r>
            <a:endParaRPr lang="en-US" dirty="0"/>
          </a:p>
        </p:txBody>
      </p:sp>
      <p:pic>
        <p:nvPicPr>
          <p:cNvPr id="7" name="Picture 6">
            <a:extLst>
              <a:ext uri="{FF2B5EF4-FFF2-40B4-BE49-F238E27FC236}">
                <a16:creationId xmlns:a16="http://schemas.microsoft.com/office/drawing/2014/main" id="{63D617DF-7D86-4CC0-8B07-A0B4D0731DA7}"/>
              </a:ext>
            </a:extLst>
          </p:cNvPr>
          <p:cNvPicPr>
            <a:picLocks noChangeAspect="1"/>
          </p:cNvPicPr>
          <p:nvPr/>
        </p:nvPicPr>
        <p:blipFill>
          <a:blip r:embed="rId2"/>
          <a:stretch>
            <a:fillRect/>
          </a:stretch>
        </p:blipFill>
        <p:spPr>
          <a:xfrm>
            <a:off x="3406972" y="868645"/>
            <a:ext cx="5445789" cy="5766934"/>
          </a:xfrm>
          <a:prstGeom prst="rect">
            <a:avLst/>
          </a:prstGeom>
        </p:spPr>
      </p:pic>
    </p:spTree>
    <p:extLst>
      <p:ext uri="{BB962C8B-B14F-4D97-AF65-F5344CB8AC3E}">
        <p14:creationId xmlns:p14="http://schemas.microsoft.com/office/powerpoint/2010/main" val="363455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2BAB0-B6F3-42DD-BC2E-50A8C48C9D67}"/>
              </a:ext>
            </a:extLst>
          </p:cNvPr>
          <p:cNvSpPr>
            <a:spLocks noGrp="1"/>
          </p:cNvSpPr>
          <p:nvPr>
            <p:ph type="title"/>
          </p:nvPr>
        </p:nvSpPr>
        <p:spPr/>
        <p:txBody>
          <a:bodyPr/>
          <a:lstStyle/>
          <a:p>
            <a:r>
              <a:rPr lang="en-US" dirty="0"/>
              <a:t>Triple Extraction Evaluation</a:t>
            </a:r>
          </a:p>
        </p:txBody>
      </p:sp>
      <p:sp>
        <p:nvSpPr>
          <p:cNvPr id="3" name="Text Placeholder 2">
            <a:extLst>
              <a:ext uri="{FF2B5EF4-FFF2-40B4-BE49-F238E27FC236}">
                <a16:creationId xmlns:a16="http://schemas.microsoft.com/office/drawing/2014/main" id="{BF63E642-F4B4-42DE-A7EA-CF04A713322C}"/>
              </a:ext>
            </a:extLst>
          </p:cNvPr>
          <p:cNvSpPr>
            <a:spLocks noGrp="1"/>
          </p:cNvSpPr>
          <p:nvPr>
            <p:ph type="body" idx="1"/>
          </p:nvPr>
        </p:nvSpPr>
        <p:spPr>
          <a:xfrm>
            <a:off x="963084" y="2382931"/>
            <a:ext cx="10363200" cy="1500187"/>
          </a:xfrm>
        </p:spPr>
        <p:txBody>
          <a:bodyPr>
            <a:normAutofit/>
          </a:bodyPr>
          <a:lstStyle/>
          <a:p>
            <a:pPr algn="ctr"/>
            <a:r>
              <a:rPr lang="en-US" sz="5400" b="1" dirty="0">
                <a:solidFill>
                  <a:schemeClr val="tx1"/>
                </a:solidFill>
              </a:rPr>
              <a:t>Demo</a:t>
            </a:r>
          </a:p>
        </p:txBody>
      </p:sp>
      <p:sp>
        <p:nvSpPr>
          <p:cNvPr id="5" name="Slide Number Placeholder 4">
            <a:extLst>
              <a:ext uri="{FF2B5EF4-FFF2-40B4-BE49-F238E27FC236}">
                <a16:creationId xmlns:a16="http://schemas.microsoft.com/office/drawing/2014/main" id="{81438893-CB0D-461E-9970-074B85BB3FBD}"/>
              </a:ext>
            </a:extLst>
          </p:cNvPr>
          <p:cNvSpPr>
            <a:spLocks noGrp="1"/>
          </p:cNvSpPr>
          <p:nvPr>
            <p:ph type="sldNum" sz="quarter" idx="12"/>
          </p:nvPr>
        </p:nvSpPr>
        <p:spPr/>
        <p:txBody>
          <a:bodyPr/>
          <a:lstStyle/>
          <a:p>
            <a:fld id="{F95058E6-B6E9-4B7D-9DDE-04196D2335F5}" type="slidenum">
              <a:rPr lang="en-US" smtClean="0"/>
              <a:t>69</a:t>
            </a:fld>
            <a:endParaRPr lang="en-US"/>
          </a:p>
        </p:txBody>
      </p:sp>
    </p:spTree>
    <p:extLst>
      <p:ext uri="{BB962C8B-B14F-4D97-AF65-F5344CB8AC3E}">
        <p14:creationId xmlns:p14="http://schemas.microsoft.com/office/powerpoint/2010/main" val="29915740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2BAB0-B6F3-42DD-BC2E-50A8C48C9D67}"/>
              </a:ext>
            </a:extLst>
          </p:cNvPr>
          <p:cNvSpPr>
            <a:spLocks noGrp="1"/>
          </p:cNvSpPr>
          <p:nvPr>
            <p:ph type="title"/>
          </p:nvPr>
        </p:nvSpPr>
        <p:spPr/>
        <p:txBody>
          <a:bodyPr/>
          <a:lstStyle/>
          <a:p>
            <a:r>
              <a:rPr lang="en-US" dirty="0"/>
              <a:t>Triple Extraction Evaluation</a:t>
            </a:r>
          </a:p>
        </p:txBody>
      </p:sp>
      <p:sp>
        <p:nvSpPr>
          <p:cNvPr id="3" name="Text Placeholder 2">
            <a:extLst>
              <a:ext uri="{FF2B5EF4-FFF2-40B4-BE49-F238E27FC236}">
                <a16:creationId xmlns:a16="http://schemas.microsoft.com/office/drawing/2014/main" id="{BF63E642-F4B4-42DE-A7EA-CF04A713322C}"/>
              </a:ext>
            </a:extLst>
          </p:cNvPr>
          <p:cNvSpPr>
            <a:spLocks noGrp="1"/>
          </p:cNvSpPr>
          <p:nvPr>
            <p:ph type="body" idx="1"/>
          </p:nvPr>
        </p:nvSpPr>
        <p:spPr>
          <a:xfrm>
            <a:off x="963084" y="2382931"/>
            <a:ext cx="10363200" cy="1500187"/>
          </a:xfrm>
        </p:spPr>
        <p:txBody>
          <a:bodyPr>
            <a:normAutofit/>
          </a:bodyPr>
          <a:lstStyle/>
          <a:p>
            <a:pPr algn="ctr"/>
            <a:r>
              <a:rPr lang="en-US" sz="5400" b="1" dirty="0">
                <a:solidFill>
                  <a:schemeClr val="tx1"/>
                </a:solidFill>
              </a:rPr>
              <a:t>Future Work</a:t>
            </a:r>
          </a:p>
        </p:txBody>
      </p:sp>
      <p:sp>
        <p:nvSpPr>
          <p:cNvPr id="5" name="Slide Number Placeholder 4">
            <a:extLst>
              <a:ext uri="{FF2B5EF4-FFF2-40B4-BE49-F238E27FC236}">
                <a16:creationId xmlns:a16="http://schemas.microsoft.com/office/drawing/2014/main" id="{81438893-CB0D-461E-9970-074B85BB3FBD}"/>
              </a:ext>
            </a:extLst>
          </p:cNvPr>
          <p:cNvSpPr>
            <a:spLocks noGrp="1"/>
          </p:cNvSpPr>
          <p:nvPr>
            <p:ph type="sldNum" sz="quarter" idx="12"/>
          </p:nvPr>
        </p:nvSpPr>
        <p:spPr/>
        <p:txBody>
          <a:bodyPr/>
          <a:lstStyle/>
          <a:p>
            <a:fld id="{F95058E6-B6E9-4B7D-9DDE-04196D2335F5}" type="slidenum">
              <a:rPr lang="en-US" smtClean="0"/>
              <a:t>70</a:t>
            </a:fld>
            <a:endParaRPr lang="en-US"/>
          </a:p>
        </p:txBody>
      </p:sp>
    </p:spTree>
    <p:extLst>
      <p:ext uri="{BB962C8B-B14F-4D97-AF65-F5344CB8AC3E}">
        <p14:creationId xmlns:p14="http://schemas.microsoft.com/office/powerpoint/2010/main" val="12428884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55"/>
          <p:cNvSpPr txBox="1">
            <a:spLocks noGrp="1"/>
          </p:cNvSpPr>
          <p:nvPr>
            <p:ph type="body" idx="1"/>
          </p:nvPr>
        </p:nvSpPr>
        <p:spPr>
          <a:xfrm>
            <a:off x="609600" y="988384"/>
            <a:ext cx="10972800" cy="4986353"/>
          </a:xfrm>
          <a:prstGeom prst="rect">
            <a:avLst/>
          </a:prstGeom>
          <a:noFill/>
          <a:ln>
            <a:noFill/>
          </a:ln>
        </p:spPr>
        <p:txBody>
          <a:bodyPr spcFirstLastPara="1" vert="horz" wrap="square" lIns="91433" tIns="45700" rIns="91433" bIns="45700" rtlCol="0" anchor="t" anchorCtr="0">
            <a:normAutofit/>
          </a:bodyPr>
          <a:lstStyle/>
          <a:p>
            <a:pPr marL="660395" indent="-457200">
              <a:spcBef>
                <a:spcPts val="0"/>
              </a:spcBef>
              <a:buSzPts val="2400"/>
            </a:pPr>
            <a:r>
              <a:rPr lang="en-US" dirty="0"/>
              <a:t>Try and add more granular data and verify if it improves the prediction model results</a:t>
            </a:r>
          </a:p>
          <a:p>
            <a:pPr marL="660395" indent="-457200">
              <a:spcBef>
                <a:spcPts val="0"/>
              </a:spcBef>
              <a:buSzPts val="2400"/>
            </a:pPr>
            <a:r>
              <a:rPr lang="en-US" dirty="0"/>
              <a:t>Get data like percentage of persons enrolled per 100000 people to try and model the imitate outbreaks using models similar to SIR/ SIRD</a:t>
            </a:r>
          </a:p>
          <a:p>
            <a:pPr marL="660395" indent="-457200">
              <a:spcBef>
                <a:spcPts val="0"/>
              </a:spcBef>
              <a:buSzPts val="2400"/>
            </a:pPr>
            <a:endParaRPr dirty="0"/>
          </a:p>
          <a:p>
            <a:pPr marL="338658" indent="-135463">
              <a:spcBef>
                <a:spcPts val="667"/>
              </a:spcBef>
              <a:buSzPts val="2400"/>
              <a:buNone/>
            </a:pPr>
            <a:endParaRPr dirty="0"/>
          </a:p>
          <a:p>
            <a:pPr marL="338658" indent="-135463">
              <a:spcBef>
                <a:spcPts val="667"/>
              </a:spcBef>
              <a:buSzPts val="2400"/>
              <a:buNone/>
            </a:pPr>
            <a:endParaRPr dirty="0"/>
          </a:p>
        </p:txBody>
      </p:sp>
      <p:sp>
        <p:nvSpPr>
          <p:cNvPr id="388" name="Google Shape;388;p55"/>
          <p:cNvSpPr txBox="1">
            <a:spLocks noGrp="1"/>
          </p:cNvSpPr>
          <p:nvPr>
            <p:ph type="dt" idx="10"/>
          </p:nvPr>
        </p:nvSpPr>
        <p:spPr>
          <a:xfrm>
            <a:off x="609600" y="6356351"/>
            <a:ext cx="2844800" cy="365125"/>
          </a:xfrm>
          <a:prstGeom prst="rect">
            <a:avLst/>
          </a:prstGeom>
          <a:noFill/>
          <a:ln>
            <a:noFill/>
          </a:ln>
        </p:spPr>
        <p:txBody>
          <a:bodyPr spcFirstLastPara="1" vert="horz" wrap="square" lIns="91433" tIns="45700" rIns="91433" bIns="45700" rtlCol="0" anchor="ctr" anchorCtr="0">
            <a:noAutofit/>
          </a:bodyPr>
          <a:lstStyle/>
          <a:p>
            <a:r>
              <a:rPr lang="en-US" dirty="0"/>
              <a:t>January 22, 2025</a:t>
            </a:r>
            <a:endParaRPr dirty="0"/>
          </a:p>
        </p:txBody>
      </p:sp>
      <p:sp>
        <p:nvSpPr>
          <p:cNvPr id="389" name="Google Shape;389;p55"/>
          <p:cNvSpPr txBox="1">
            <a:spLocks noGrp="1"/>
          </p:cNvSpPr>
          <p:nvPr>
            <p:ph type="sldNum" idx="12"/>
          </p:nvPr>
        </p:nvSpPr>
        <p:spPr>
          <a:xfrm>
            <a:off x="4673600" y="6356351"/>
            <a:ext cx="2844800" cy="365125"/>
          </a:xfrm>
          <a:prstGeom prst="rect">
            <a:avLst/>
          </a:prstGeom>
          <a:noFill/>
          <a:ln>
            <a:noFill/>
          </a:ln>
        </p:spPr>
        <p:txBody>
          <a:bodyPr spcFirstLastPara="1" vert="horz" wrap="square" lIns="91433" tIns="45700" rIns="91433" bIns="45700" rtlCol="0" anchor="ctr" anchorCtr="0">
            <a:noAutofit/>
          </a:bodyPr>
          <a:lstStyle/>
          <a:p>
            <a:fld id="{00000000-1234-1234-1234-123412341234}" type="slidenum">
              <a:rPr lang="en"/>
              <a:pPr/>
              <a:t>71</a:t>
            </a:fld>
            <a:endParaRPr/>
          </a:p>
        </p:txBody>
      </p:sp>
      <p:sp>
        <p:nvSpPr>
          <p:cNvPr id="390" name="Google Shape;390;p55"/>
          <p:cNvSpPr txBox="1">
            <a:spLocks noGrp="1"/>
          </p:cNvSpPr>
          <p:nvPr>
            <p:ph type="title"/>
          </p:nvPr>
        </p:nvSpPr>
        <p:spPr>
          <a:xfrm>
            <a:off x="643467" y="126371"/>
            <a:ext cx="10972800" cy="607723"/>
          </a:xfrm>
          <a:prstGeom prst="rect">
            <a:avLst/>
          </a:prstGeom>
          <a:noFill/>
          <a:ln>
            <a:noFill/>
          </a:ln>
        </p:spPr>
        <p:txBody>
          <a:bodyPr spcFirstLastPara="1" vert="horz" wrap="square" lIns="91433" tIns="45700" rIns="91433" bIns="45700" rtlCol="0" anchor="ctr" anchorCtr="0">
            <a:noAutofit/>
          </a:bodyPr>
          <a:lstStyle/>
          <a:p>
            <a:pPr>
              <a:buSzPts val="2400"/>
            </a:pPr>
            <a:r>
              <a:rPr lang="en" sz="3200" b="1" dirty="0"/>
              <a:t>Future Work</a:t>
            </a:r>
            <a:endParaRPr dirty="0"/>
          </a:p>
        </p:txBody>
      </p:sp>
    </p:spTree>
    <p:extLst>
      <p:ext uri="{BB962C8B-B14F-4D97-AF65-F5344CB8AC3E}">
        <p14:creationId xmlns:p14="http://schemas.microsoft.com/office/powerpoint/2010/main" val="19241471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D708B58-3516-4517-9A11-1FCF253E8833}"/>
              </a:ext>
            </a:extLst>
          </p:cNvPr>
          <p:cNvSpPr>
            <a:spLocks noGrp="1"/>
          </p:cNvSpPr>
          <p:nvPr>
            <p:ph type="sldNum" sz="quarter" idx="12"/>
          </p:nvPr>
        </p:nvSpPr>
        <p:spPr/>
        <p:txBody>
          <a:bodyPr/>
          <a:lstStyle/>
          <a:p>
            <a:fld id="{88279435-30EF-C241-87D1-8D13B984C0EB}" type="slidenum">
              <a:rPr lang="en-US" smtClean="0"/>
              <a:t>72</a:t>
            </a:fld>
            <a:endParaRPr lang="en-US"/>
          </a:p>
        </p:txBody>
      </p:sp>
      <p:sp>
        <p:nvSpPr>
          <p:cNvPr id="4" name="Title 3">
            <a:extLst>
              <a:ext uri="{FF2B5EF4-FFF2-40B4-BE49-F238E27FC236}">
                <a16:creationId xmlns:a16="http://schemas.microsoft.com/office/drawing/2014/main" id="{4D30F449-2998-43EC-B116-C0A8882A621B}"/>
              </a:ext>
            </a:extLst>
          </p:cNvPr>
          <p:cNvSpPr>
            <a:spLocks noGrp="1"/>
          </p:cNvSpPr>
          <p:nvPr>
            <p:ph type="ctrTitle"/>
          </p:nvPr>
        </p:nvSpPr>
        <p:spPr>
          <a:xfrm>
            <a:off x="886714" y="2140770"/>
            <a:ext cx="10363200" cy="2798875"/>
          </a:xfrm>
        </p:spPr>
        <p:txBody>
          <a:bodyPr/>
          <a:lstStyle/>
          <a:p>
            <a:r>
              <a:rPr lang="en-US" sz="5400" b="1" dirty="0"/>
              <a:t>Thank You</a:t>
            </a:r>
          </a:p>
        </p:txBody>
      </p:sp>
    </p:spTree>
    <p:extLst>
      <p:ext uri="{BB962C8B-B14F-4D97-AF65-F5344CB8AC3E}">
        <p14:creationId xmlns:p14="http://schemas.microsoft.com/office/powerpoint/2010/main" val="223176108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45525</TotalTime>
  <Words>2692</Words>
  <Application>Microsoft Office PowerPoint</Application>
  <PresentationFormat>Widescreen</PresentationFormat>
  <Paragraphs>521</Paragraphs>
  <Slides>72</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72</vt:i4>
      </vt:variant>
    </vt:vector>
  </HeadingPairs>
  <TitlesOfParts>
    <vt:vector size="80" baseType="lpstr">
      <vt:lpstr>Arial</vt:lpstr>
      <vt:lpstr>Arimo</vt:lpstr>
      <vt:lpstr>Calibri</vt:lpstr>
      <vt:lpstr>Cambria Math</vt:lpstr>
      <vt:lpstr>Microsoft PhagsPa</vt:lpstr>
      <vt:lpstr>TT Rounds Condensed</vt:lpstr>
      <vt:lpstr>TT Rounds Condensed Bold</vt:lpstr>
      <vt:lpstr>1_Office Theme</vt:lpstr>
      <vt:lpstr>Disease Outbreak Prediction and Management System</vt:lpstr>
      <vt:lpstr>Overview</vt:lpstr>
      <vt:lpstr>Problem Statement</vt:lpstr>
      <vt:lpstr>Introduction</vt:lpstr>
      <vt:lpstr>Introduction</vt:lpstr>
      <vt:lpstr>Key Ideas from Literature</vt:lpstr>
      <vt:lpstr>Literature Review</vt:lpstr>
      <vt:lpstr>EPIRISK</vt:lpstr>
      <vt:lpstr>Data Acquisition</vt:lpstr>
      <vt:lpstr>Data Acquisition</vt:lpstr>
      <vt:lpstr>Data Acquisition : Disease Specific Traits </vt:lpstr>
      <vt:lpstr>EDA</vt:lpstr>
      <vt:lpstr>EDA : A lot of Zeroes</vt:lpstr>
      <vt:lpstr>EDA</vt:lpstr>
      <vt:lpstr>EDA</vt:lpstr>
      <vt:lpstr>Feature Engineering</vt:lpstr>
      <vt:lpstr>Feature Engineering</vt:lpstr>
      <vt:lpstr>Outbreak Prediction Methodologies</vt:lpstr>
      <vt:lpstr>Classification of Outbreak</vt:lpstr>
      <vt:lpstr>Classification of Outbreak</vt:lpstr>
      <vt:lpstr>Classification of Outbreak</vt:lpstr>
      <vt:lpstr>Direction Trend  Classification</vt:lpstr>
      <vt:lpstr>Classifying Trajectory of the Patient Encounters</vt:lpstr>
      <vt:lpstr>Direction as a Feature</vt:lpstr>
      <vt:lpstr>Feature Importance</vt:lpstr>
      <vt:lpstr>Data Driven Risk Score Calculator</vt:lpstr>
      <vt:lpstr>Risk Score Calculator</vt:lpstr>
      <vt:lpstr>Mathematical Modeling</vt:lpstr>
      <vt:lpstr>Risk Score Calculator</vt:lpstr>
      <vt:lpstr>Two Staged Outbreak Prediction</vt:lpstr>
      <vt:lpstr>Two Staged Outbreak Prediction</vt:lpstr>
      <vt:lpstr>Results</vt:lpstr>
      <vt:lpstr>RESULTS CLASSIFICATION</vt:lpstr>
      <vt:lpstr>RESULTS CLASSIFICATION COVID</vt:lpstr>
      <vt:lpstr>RESULTS CLASSIFICATION COVID</vt:lpstr>
      <vt:lpstr>RESULTS REGRESSION</vt:lpstr>
      <vt:lpstr>RESULTS REGRESSION COVID-19</vt:lpstr>
      <vt:lpstr>RESULTS REGRESSION COVID-19</vt:lpstr>
      <vt:lpstr>Reuslts Discussion</vt:lpstr>
      <vt:lpstr>Data Driven Approach (Anomaly Detector)</vt:lpstr>
      <vt:lpstr>Anomaly Detection</vt:lpstr>
      <vt:lpstr>Anomaly Detection</vt:lpstr>
      <vt:lpstr>Isolation Forest</vt:lpstr>
      <vt:lpstr>Regression-Based Residual Analysis</vt:lpstr>
      <vt:lpstr>Regression Line </vt:lpstr>
      <vt:lpstr>Short-Term Anomaly Indicators</vt:lpstr>
      <vt:lpstr>Short-Term Anomaly Indicators</vt:lpstr>
      <vt:lpstr>Long-Term Anomaly Indicators</vt:lpstr>
      <vt:lpstr>Long-Term Anomaly Indicators</vt:lpstr>
      <vt:lpstr>Year over Year change</vt:lpstr>
      <vt:lpstr>Year over Year change</vt:lpstr>
      <vt:lpstr>Correlation of the metrics</vt:lpstr>
      <vt:lpstr>Correlation of the metrics</vt:lpstr>
      <vt:lpstr>Anomaly Detection</vt:lpstr>
      <vt:lpstr>Results</vt:lpstr>
      <vt:lpstr>Results</vt:lpstr>
      <vt:lpstr>Results</vt:lpstr>
      <vt:lpstr>Results</vt:lpstr>
      <vt:lpstr>Multi Agent  Systems</vt:lpstr>
      <vt:lpstr>Multi Agent System (MAS)</vt:lpstr>
      <vt:lpstr>MonitoringAgent</vt:lpstr>
      <vt:lpstr>AlertingAgent</vt:lpstr>
      <vt:lpstr>LangGraph</vt:lpstr>
      <vt:lpstr>Triple Extraction Evaluation</vt:lpstr>
      <vt:lpstr>PowerPoint Presentation</vt:lpstr>
      <vt:lpstr>Triple Extraction Evaluation</vt:lpstr>
      <vt:lpstr>System Architecture </vt:lpstr>
      <vt:lpstr>Sequence Diagram</vt:lpstr>
      <vt:lpstr>Triple Extraction Evaluation</vt:lpstr>
      <vt:lpstr>Triple Extraction Evaluation</vt:lpstr>
      <vt:lpstr>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Mudassar Farooq</dc:creator>
  <cp:lastModifiedBy>Hadi Khadim</cp:lastModifiedBy>
  <cp:revision>1320</cp:revision>
  <cp:lastPrinted>2015-08-28T08:18:18Z</cp:lastPrinted>
  <dcterms:created xsi:type="dcterms:W3CDTF">2014-08-11T07:21:43Z</dcterms:created>
  <dcterms:modified xsi:type="dcterms:W3CDTF">2025-01-31T17:32:32Z</dcterms:modified>
</cp:coreProperties>
</file>